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4"/>
  </p:notesMasterIdLst>
  <p:sldIdLst>
    <p:sldId id="256" r:id="rId2"/>
    <p:sldId id="257" r:id="rId3"/>
    <p:sldId id="471" r:id="rId4"/>
    <p:sldId id="473" r:id="rId5"/>
    <p:sldId id="474" r:id="rId6"/>
    <p:sldId id="475" r:id="rId7"/>
    <p:sldId id="476" r:id="rId8"/>
    <p:sldId id="477" r:id="rId9"/>
    <p:sldId id="478" r:id="rId10"/>
    <p:sldId id="479" r:id="rId11"/>
    <p:sldId id="496" r:id="rId12"/>
    <p:sldId id="493" r:id="rId13"/>
    <p:sldId id="480" r:id="rId14"/>
    <p:sldId id="481" r:id="rId15"/>
    <p:sldId id="482" r:id="rId16"/>
    <p:sldId id="483" r:id="rId17"/>
    <p:sldId id="484" r:id="rId18"/>
    <p:sldId id="497" r:id="rId19"/>
    <p:sldId id="498" r:id="rId20"/>
    <p:sldId id="494" r:id="rId21"/>
    <p:sldId id="485" r:id="rId22"/>
    <p:sldId id="486" r:id="rId23"/>
    <p:sldId id="487" r:id="rId24"/>
    <p:sldId id="488" r:id="rId25"/>
    <p:sldId id="489" r:id="rId26"/>
    <p:sldId id="490" r:id="rId27"/>
    <p:sldId id="499" r:id="rId28"/>
    <p:sldId id="500" r:id="rId29"/>
    <p:sldId id="501" r:id="rId30"/>
    <p:sldId id="491" r:id="rId31"/>
    <p:sldId id="472" r:id="rId32"/>
    <p:sldId id="419" r:id="rId33"/>
    <p:sldId id="314" r:id="rId34"/>
    <p:sldId id="332" r:id="rId35"/>
    <p:sldId id="428" r:id="rId36"/>
    <p:sldId id="291" r:id="rId37"/>
    <p:sldId id="261" r:id="rId38"/>
    <p:sldId id="409" r:id="rId39"/>
    <p:sldId id="394" r:id="rId40"/>
    <p:sldId id="415" r:id="rId41"/>
    <p:sldId id="397" r:id="rId42"/>
    <p:sldId id="467" r:id="rId4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8880"/>
    <p:restoredTop sz="94658"/>
  </p:normalViewPr>
  <p:slideViewPr>
    <p:cSldViewPr snapToGrid="0" showGuides="1">
      <p:cViewPr varScale="1">
        <p:scale>
          <a:sx n="98" d="100"/>
          <a:sy n="98" d="100"/>
        </p:scale>
        <p:origin x="208" y="56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CB5296-7E33-5C47-B673-048D955D45B2}" type="datetimeFigureOut">
              <a:rPr lang="en-US" smtClean="0"/>
              <a:t>6/26/26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271BB7C-C147-7D4C-984C-FF89F0196791}" type="slidenum">
              <a:rPr lang="en-US" smtClean="0"/>
              <a:t>‹#›</a:t>
            </a:fld>
            <a:endParaRPr lang="en-US"/>
          </a:p>
        </p:txBody>
      </p:sp>
    </p:spTree>
    <p:extLst>
      <p:ext uri="{BB962C8B-B14F-4D97-AF65-F5344CB8AC3E}">
        <p14:creationId xmlns:p14="http://schemas.microsoft.com/office/powerpoint/2010/main" val="28471635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705FAE-331D-E807-8DB6-04D25679A2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2B9ECB-061B-DCBE-499F-F401F65C6E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F6633E-6513-1D86-3101-78E3CF40364A}"/>
              </a:ext>
            </a:extLst>
          </p:cNvPr>
          <p:cNvSpPr>
            <a:spLocks noGrp="1"/>
          </p:cNvSpPr>
          <p:nvPr>
            <p:ph type="body" idx="1"/>
          </p:nvPr>
        </p:nvSpPr>
        <p:spPr/>
        <p:txBody>
          <a:bodyPr/>
          <a:lstStyle/>
          <a:p>
            <a:r>
              <a:rPr lang="en-US" dirty="0"/>
              <a:t>If that’s the way no behaves in the child’s lexicon, and if those early concepts, which are more perceptual and affective, are easier, then a child might end up with a meaning space for “no” that looks something like this</a:t>
            </a:r>
          </a:p>
          <a:p>
            <a:endParaRPr lang="en-US" dirty="0"/>
          </a:p>
          <a:p>
            <a:r>
              <a:rPr lang="en-US" dirty="0"/>
              <a:t>And this is what they would have to then add logical negation to</a:t>
            </a:r>
          </a:p>
          <a:p>
            <a:endParaRPr lang="en-US" dirty="0"/>
          </a:p>
          <a:p>
            <a:r>
              <a:rPr lang="en-US" dirty="0"/>
              <a:t>Compare this to a language like </a:t>
            </a:r>
            <a:r>
              <a:rPr lang="en-US" dirty="0" err="1"/>
              <a:t>tagalog</a:t>
            </a:r>
            <a:r>
              <a:rPr lang="en-US" dirty="0"/>
              <a:t>, where each of these communicative functions is expressed by a separate word</a:t>
            </a:r>
          </a:p>
        </p:txBody>
      </p:sp>
      <p:sp>
        <p:nvSpPr>
          <p:cNvPr id="4" name="Slide Number Placeholder 3">
            <a:extLst>
              <a:ext uri="{FF2B5EF4-FFF2-40B4-BE49-F238E27FC236}">
                <a16:creationId xmlns:a16="http://schemas.microsoft.com/office/drawing/2014/main" id="{B6F14495-6678-925A-CD81-C66A7E60FC1B}"/>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9302342-D82F-B746-8A55-FE9F04EC56A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8085268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8AE580-60FD-FC83-02AF-6B4400223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077B49-FB12-6CC0-208A-33CFCE40D6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F102DC-1DF1-E50A-DA44-43C467CC7E4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2F3DB66-E084-547B-9039-9A077AE8C1D7}"/>
              </a:ext>
            </a:extLst>
          </p:cNvPr>
          <p:cNvSpPr>
            <a:spLocks noGrp="1"/>
          </p:cNvSpPr>
          <p:nvPr>
            <p:ph type="sldNum" sz="quarter" idx="5"/>
          </p:nvPr>
        </p:nvSpPr>
        <p:spPr/>
        <p:txBody>
          <a:bodyPr/>
          <a:lstStyle/>
          <a:p>
            <a:fld id="{0271BB7C-C147-7D4C-984C-FF89F0196791}" type="slidenum">
              <a:rPr lang="en-US" smtClean="0"/>
              <a:t>12</a:t>
            </a:fld>
            <a:endParaRPr lang="en-US"/>
          </a:p>
        </p:txBody>
      </p:sp>
    </p:spTree>
    <p:extLst>
      <p:ext uri="{BB962C8B-B14F-4D97-AF65-F5344CB8AC3E}">
        <p14:creationId xmlns:p14="http://schemas.microsoft.com/office/powerpoint/2010/main" val="770326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ACB84B-22B2-85E0-0481-2FDC2BD8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7AB18E-3825-6C29-D5F0-7611459693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A6A0FF-F600-D0C1-DBC6-4CD34D2E286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7CC6290-CFA1-6E90-1CBB-9453C54D4E3C}"/>
              </a:ext>
            </a:extLst>
          </p:cNvPr>
          <p:cNvSpPr>
            <a:spLocks noGrp="1"/>
          </p:cNvSpPr>
          <p:nvPr>
            <p:ph type="sldNum" sz="quarter" idx="5"/>
          </p:nvPr>
        </p:nvSpPr>
        <p:spPr/>
        <p:txBody>
          <a:bodyPr/>
          <a:lstStyle/>
          <a:p>
            <a:fld id="{0271BB7C-C147-7D4C-984C-FF89F0196791}" type="slidenum">
              <a:rPr lang="en-US" smtClean="0"/>
              <a:t>20</a:t>
            </a:fld>
            <a:endParaRPr lang="en-US"/>
          </a:p>
        </p:txBody>
      </p:sp>
    </p:spTree>
    <p:extLst>
      <p:ext uri="{BB962C8B-B14F-4D97-AF65-F5344CB8AC3E}">
        <p14:creationId xmlns:p14="http://schemas.microsoft.com/office/powerpoint/2010/main" val="30910730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271BB7C-C147-7D4C-984C-FF89F0196791}" type="slidenum">
              <a:rPr lang="en-US" smtClean="0"/>
              <a:t>30</a:t>
            </a:fld>
            <a:endParaRPr lang="en-US"/>
          </a:p>
        </p:txBody>
      </p:sp>
    </p:spTree>
    <p:extLst>
      <p:ext uri="{BB962C8B-B14F-4D97-AF65-F5344CB8AC3E}">
        <p14:creationId xmlns:p14="http://schemas.microsoft.com/office/powerpoint/2010/main" val="40986092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Negation as a test case</a:t>
            </a:r>
          </a:p>
          <a:p>
            <a:endParaRPr lang="en-US" dirty="0"/>
          </a:p>
          <a:p>
            <a:pPr>
              <a:buFont typeface="Wingdings" pitchFamily="2" charset="2"/>
              <a:buChar char="Ø"/>
            </a:pPr>
            <a:r>
              <a:rPr lang="en-US" sz="1200" dirty="0"/>
              <a:t>Logical content</a:t>
            </a:r>
          </a:p>
          <a:p>
            <a:pPr>
              <a:buFont typeface="Wingdings" pitchFamily="2" charset="2"/>
              <a:buChar char="Ø"/>
            </a:pPr>
            <a:r>
              <a:rPr lang="en-US" sz="1200" dirty="0"/>
              <a:t>Abstract, compositional meaning</a:t>
            </a:r>
          </a:p>
          <a:p>
            <a:pPr>
              <a:buFont typeface="Wingdings" pitchFamily="2" charset="2"/>
              <a:buChar char="Ø"/>
            </a:pPr>
            <a:r>
              <a:rPr lang="en-US" sz="1200" dirty="0"/>
              <a:t>Empirically, it seems hard to learn!</a:t>
            </a:r>
          </a:p>
          <a:p>
            <a:endParaRPr lang="en-US" dirty="0"/>
          </a:p>
        </p:txBody>
      </p:sp>
      <p:sp>
        <p:nvSpPr>
          <p:cNvPr id="4" name="Slide Number Placeholder 3"/>
          <p:cNvSpPr>
            <a:spLocks noGrp="1"/>
          </p:cNvSpPr>
          <p:nvPr>
            <p:ph type="sldNum" sz="quarter" idx="5"/>
          </p:nvPr>
        </p:nvSpPr>
        <p:spPr/>
        <p:txBody>
          <a:bodyPr/>
          <a:lstStyle/>
          <a:p>
            <a:fld id="{19302342-D82F-B746-8A55-FE9F04EC56A1}" type="slidenum">
              <a:rPr lang="en-US" smtClean="0"/>
              <a:t>32</a:t>
            </a:fld>
            <a:endParaRPr lang="en-US"/>
          </a:p>
        </p:txBody>
      </p:sp>
    </p:spTree>
    <p:extLst>
      <p:ext uri="{BB962C8B-B14F-4D97-AF65-F5344CB8AC3E}">
        <p14:creationId xmlns:p14="http://schemas.microsoft.com/office/powerpoint/2010/main" val="11244471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Another reason that negation is a good case study is that it seems to be hard– children don’t produce “no” to mean denial, nor understand “no” or “not” to mean denial, until after their second birthday (according to much of the existing body of work)</a:t>
            </a:r>
          </a:p>
          <a:p>
            <a:endParaRPr lang="en-US" dirty="0"/>
          </a:p>
          <a:p>
            <a:endParaRPr lang="en-US" dirty="0"/>
          </a:p>
          <a:p>
            <a:r>
              <a:rPr lang="en-US" dirty="0"/>
              <a:t>One reason to think these are separate concepts is that kids express them long before denial; another reason is that they’re separate words in </a:t>
            </a:r>
            <a:r>
              <a:rPr lang="en-US" dirty="0" err="1"/>
              <a:t>tagalog</a:t>
            </a:r>
            <a:endParaRPr lang="en-US" dirty="0"/>
          </a:p>
          <a:p>
            <a:endParaRPr lang="en-US" dirty="0"/>
          </a:p>
          <a:p>
            <a:endParaRPr lang="en-US" dirty="0"/>
          </a:p>
          <a:p>
            <a:r>
              <a:rPr lang="en-US" dirty="0"/>
              <a:t>Reasons to think early negation might be function-specific</a:t>
            </a:r>
          </a:p>
          <a:p>
            <a:pPr marL="171450" indent="-171450">
              <a:buFontTx/>
              <a:buChar char="-"/>
            </a:pPr>
            <a:r>
              <a:rPr lang="en-US" dirty="0"/>
              <a:t>They use it specifically, according to some accounts</a:t>
            </a:r>
          </a:p>
          <a:p>
            <a:pPr marL="171450" indent="-171450">
              <a:buFontTx/>
              <a:buChar char="-"/>
            </a:pPr>
            <a:r>
              <a:rPr lang="en-US" dirty="0"/>
              <a:t>They fail comprehension tasks until later</a:t>
            </a:r>
          </a:p>
          <a:p>
            <a:pPr marL="171450" indent="-171450">
              <a:buFontTx/>
              <a:buChar char="-"/>
            </a:pPr>
            <a:r>
              <a:rPr lang="en-US" dirty="0"/>
              <a:t>They hear no as a one-word rejection/prohibition, and it’s easier to identify in those contexts (</a:t>
            </a:r>
            <a:r>
              <a:rPr lang="en-US" dirty="0" err="1"/>
              <a:t>hsp</a:t>
            </a:r>
            <a:r>
              <a:rPr lang="en-US" dirty="0"/>
              <a:t>)</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9302342-D82F-B746-8A55-FE9F04EC56A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9146722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argument is not ‘no must have the meaning rejection’, it’s ‘children likely hypothesize that no means rejection’</a:t>
            </a:r>
          </a:p>
          <a:p>
            <a:r>
              <a:rPr lang="en-US" dirty="0"/>
              <a:t>And further, that this hypothesis is likely in English, but not Tagalog</a:t>
            </a:r>
          </a:p>
        </p:txBody>
      </p:sp>
      <p:sp>
        <p:nvSpPr>
          <p:cNvPr id="4" name="Slide Number Placeholder 3"/>
          <p:cNvSpPr>
            <a:spLocks noGrp="1"/>
          </p:cNvSpPr>
          <p:nvPr>
            <p:ph type="sldNum" sz="quarter" idx="5"/>
          </p:nvPr>
        </p:nvSpPr>
        <p:spPr/>
        <p:txBody>
          <a:bodyPr/>
          <a:lstStyle/>
          <a:p>
            <a:fld id="{19302342-D82F-B746-8A55-FE9F04EC56A1}" type="slidenum">
              <a:rPr lang="en-US" smtClean="0"/>
              <a:t>34</a:t>
            </a:fld>
            <a:endParaRPr lang="en-US"/>
          </a:p>
        </p:txBody>
      </p:sp>
    </p:spTree>
    <p:extLst>
      <p:ext uri="{BB962C8B-B14F-4D97-AF65-F5344CB8AC3E}">
        <p14:creationId xmlns:p14="http://schemas.microsoft.com/office/powerpoint/2010/main" val="10214650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8D6295-9B90-E254-F2B0-07CFF934D3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6B9503-5840-0667-B126-1F2899CFC9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AD3A57-3EF5-6297-4749-312F7823A219}"/>
              </a:ext>
            </a:extLst>
          </p:cNvPr>
          <p:cNvSpPr>
            <a:spLocks noGrp="1"/>
          </p:cNvSpPr>
          <p:nvPr>
            <p:ph type="body" idx="1"/>
          </p:nvPr>
        </p:nvSpPr>
        <p:spPr/>
        <p:txBody>
          <a:bodyPr/>
          <a:lstStyle/>
          <a:p>
            <a:r>
              <a:rPr lang="en-US" dirty="0"/>
              <a:t>Does the concept </a:t>
            </a:r>
            <a:r>
              <a:rPr lang="en-US" dirty="0" err="1"/>
              <a:t>preced</a:t>
            </a:r>
            <a:r>
              <a:rPr lang="en-US" dirty="0"/>
              <a:t> the language, or does the language precede the concept?</a:t>
            </a:r>
          </a:p>
        </p:txBody>
      </p:sp>
      <p:sp>
        <p:nvSpPr>
          <p:cNvPr id="4" name="Slide Number Placeholder 3">
            <a:extLst>
              <a:ext uri="{FF2B5EF4-FFF2-40B4-BE49-F238E27FC236}">
                <a16:creationId xmlns:a16="http://schemas.microsoft.com/office/drawing/2014/main" id="{060C5A8F-F6CA-AC0E-D13A-EC199FAA4959}"/>
              </a:ext>
            </a:extLst>
          </p:cNvPr>
          <p:cNvSpPr>
            <a:spLocks noGrp="1"/>
          </p:cNvSpPr>
          <p:nvPr>
            <p:ph type="sldNum" sz="quarter" idx="5"/>
          </p:nvPr>
        </p:nvSpPr>
        <p:spPr/>
        <p:txBody>
          <a:bodyPr/>
          <a:lstStyle/>
          <a:p>
            <a:fld id="{19302342-D82F-B746-8A55-FE9F04EC56A1}" type="slidenum">
              <a:rPr lang="en-US" smtClean="0"/>
              <a:t>35</a:t>
            </a:fld>
            <a:endParaRPr lang="en-US"/>
          </a:p>
        </p:txBody>
      </p:sp>
    </p:spTree>
    <p:extLst>
      <p:ext uri="{BB962C8B-B14F-4D97-AF65-F5344CB8AC3E}">
        <p14:creationId xmlns:p14="http://schemas.microsoft.com/office/powerpoint/2010/main" val="4571473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a:t>
            </a:r>
          </a:p>
          <a:p>
            <a:r>
              <a:rPr lang="en-US" dirty="0"/>
              <a:t>Our argument is that this clustering of meanings might scaffold the process of concept acquisition, if that is what’s happening</a:t>
            </a:r>
          </a:p>
          <a:p>
            <a:endParaRPr lang="en-US" dirty="0"/>
          </a:p>
          <a:p>
            <a:r>
              <a:rPr lang="en-US" dirty="0"/>
              <a:t>So that could look something like a child noticing a sort of analogy: want has the same relationship to reject as allowed has to prohibited, and as exists has to nonexistence; then, they might abstract away from those specific concepts to discover that any proposition P and it’s negation are also in that same relation. To be very clear, this is not a mechanistically spelled out story, this is merely a way to give you an intuition for what this hypothesis might look like. This proposal has been made several times in the literature, and nobody has given a mechanistic account of how it might happen</a:t>
            </a:r>
          </a:p>
          <a:p>
            <a:endParaRPr lang="en-US" dirty="0"/>
          </a:p>
          <a:p>
            <a:r>
              <a:rPr lang="en-US" dirty="0"/>
              <a:t>The point is though that even without a mechanistic account, this class of proposals makes specific empirical predictions that we can test. In particular, it makes the following prediction:</a:t>
            </a:r>
          </a:p>
        </p:txBody>
      </p:sp>
      <p:sp>
        <p:nvSpPr>
          <p:cNvPr id="4" name="Slide Number Placeholder 3"/>
          <p:cNvSpPr>
            <a:spLocks noGrp="1"/>
          </p:cNvSpPr>
          <p:nvPr>
            <p:ph type="sldNum" sz="quarter" idx="5"/>
          </p:nvPr>
        </p:nvSpPr>
        <p:spPr/>
        <p:txBody>
          <a:bodyPr/>
          <a:lstStyle/>
          <a:p>
            <a:fld id="{19302342-D82F-B746-8A55-FE9F04EC56A1}" type="slidenum">
              <a:rPr lang="en-US" smtClean="0"/>
              <a:t>36</a:t>
            </a:fld>
            <a:endParaRPr lang="en-US"/>
          </a:p>
        </p:txBody>
      </p:sp>
    </p:spTree>
    <p:extLst>
      <p:ext uri="{BB962C8B-B14F-4D97-AF65-F5344CB8AC3E}">
        <p14:creationId xmlns:p14="http://schemas.microsoft.com/office/powerpoint/2010/main" val="20927668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a:t>
            </a:r>
          </a:p>
          <a:p>
            <a:r>
              <a:rPr lang="en-US" dirty="0"/>
              <a:t>In English, all of these specific negative concepts are expressed by a single word, “no”, and so the word ”no” offers a child a convenient pointer to just the concepts they need to be paying attention to in the process of learning negation. In contrast, in Tagalog each of these meanings is expressed by a different word, and so children learning Tagalog don’t get the same leg up in learning the concept negation</a:t>
            </a:r>
          </a:p>
        </p:txBody>
      </p:sp>
      <p:sp>
        <p:nvSpPr>
          <p:cNvPr id="4" name="Slide Number Placeholder 3"/>
          <p:cNvSpPr>
            <a:spLocks noGrp="1"/>
          </p:cNvSpPr>
          <p:nvPr>
            <p:ph type="sldNum" sz="quarter" idx="5"/>
          </p:nvPr>
        </p:nvSpPr>
        <p:spPr/>
        <p:txBody>
          <a:bodyPr/>
          <a:lstStyle/>
          <a:p>
            <a:fld id="{19302342-D82F-B746-8A55-FE9F04EC56A1}" type="slidenum">
              <a:rPr lang="en-US" smtClean="0"/>
              <a:t>37</a:t>
            </a:fld>
            <a:endParaRPr lang="en-US"/>
          </a:p>
        </p:txBody>
      </p:sp>
    </p:spTree>
    <p:extLst>
      <p:ext uri="{BB962C8B-B14F-4D97-AF65-F5344CB8AC3E}">
        <p14:creationId xmlns:p14="http://schemas.microsoft.com/office/powerpoint/2010/main" val="9819021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0BEEC4-04C7-5A54-504C-0B586B6BC2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9AF2D9-B2BE-82D7-9854-0679AC57B1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723E74-0D42-1B0F-77B7-899537975D04}"/>
              </a:ext>
            </a:extLst>
          </p:cNvPr>
          <p:cNvSpPr>
            <a:spLocks noGrp="1"/>
          </p:cNvSpPr>
          <p:nvPr>
            <p:ph type="body" idx="1"/>
          </p:nvPr>
        </p:nvSpPr>
        <p:spPr/>
        <p:txBody>
          <a:bodyPr/>
          <a:lstStyle/>
          <a:p>
            <a:pPr marL="342900" marR="0" lvl="0" indent="-342900">
              <a:spcBef>
                <a:spcPts val="0"/>
              </a:spcBef>
              <a:spcAft>
                <a:spcPts val="0"/>
              </a:spcAft>
              <a:buFont typeface="Times New Roman" panose="02020603050405020304" pitchFamily="18" charset="0"/>
              <a:buChar char="-"/>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In a perfect world we would have multiple languages in each category, so this is a starting point and we will want to eventually add to it</a:t>
            </a:r>
          </a:p>
          <a:p>
            <a:pPr marL="342900" marR="0" lvl="0" indent="-342900">
              <a:spcBef>
                <a:spcPts val="0"/>
              </a:spcBef>
              <a:spcAft>
                <a:spcPts val="0"/>
              </a:spcAft>
              <a:buFont typeface="Times New Roman" panose="02020603050405020304" pitchFamily="18" charset="0"/>
              <a:buChar char="-"/>
            </a:pPr>
            <a:r>
              <a:rPr lang="en-US" sz="1200" b="0" i="0" kern="1200" dirty="0">
                <a:solidFill>
                  <a:schemeClr val="tx1"/>
                </a:solidFill>
                <a:effectLst/>
                <a:latin typeface="+mn-lt"/>
                <a:ea typeface="+mn-ea"/>
                <a:cs typeface="+mn-cs"/>
              </a:rPr>
              <a:t>not can be used to express r, p, </a:t>
            </a:r>
            <a:r>
              <a:rPr lang="en-US" sz="1200" b="0" i="0" kern="1200" dirty="0" err="1">
                <a:solidFill>
                  <a:schemeClr val="tx1"/>
                </a:solidFill>
                <a:effectLst/>
                <a:latin typeface="+mn-lt"/>
                <a:ea typeface="+mn-ea"/>
                <a:cs typeface="+mn-cs"/>
              </a:rPr>
              <a:t>etc</a:t>
            </a:r>
            <a:r>
              <a:rPr lang="en-US" sz="1200" b="0" i="0" kern="1200" dirty="0">
                <a:solidFill>
                  <a:schemeClr val="tx1"/>
                </a:solidFill>
                <a:effectLst/>
                <a:latin typeface="+mn-lt"/>
                <a:ea typeface="+mn-ea"/>
                <a:cs typeface="+mn-cs"/>
              </a:rPr>
              <a:t>, but it must do so compositionally--</a:t>
            </a:r>
            <a:r>
              <a:rPr lang="en-US" sz="1200" b="0" i="0" kern="1200" dirty="0" err="1">
                <a:solidFill>
                  <a:schemeClr val="tx1"/>
                </a:solidFill>
                <a:effectLst/>
                <a:latin typeface="+mn-lt"/>
                <a:ea typeface="+mn-ea"/>
                <a:cs typeface="+mn-cs"/>
              </a:rPr>
              <a:t>ie</a:t>
            </a:r>
            <a:r>
              <a:rPr lang="en-US" sz="1200" b="0" i="0" kern="1200" dirty="0">
                <a:solidFill>
                  <a:schemeClr val="tx1"/>
                </a:solidFill>
                <a:effectLst/>
                <a:latin typeface="+mn-lt"/>
                <a:ea typeface="+mn-ea"/>
                <a:cs typeface="+mn-cs"/>
              </a:rPr>
              <a:t> by composing with want to express rejections-- this makes it less likely that not is mapped to a specific concept of rejection, etc.</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spcBef>
                <a:spcPts val="0"/>
              </a:spcBef>
              <a:spcAft>
                <a:spcPts val="0"/>
              </a:spcAft>
              <a:buFont typeface="Times New Roman" panose="02020603050405020304" pitchFamily="18" charset="0"/>
              <a:buChar char="-"/>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We included both English and Spanish because we were additionally interested in the presence of a denial-only negator in a language with another multi-function negator, but with our current data it’s hard to get much foothold on that, so I’ll focus on the shared meanings for now, and I’ll briefly discuss the one-to-one negator question at the end/I’d be happy to talk more about that offline</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id="{041F286E-E8E2-8EA2-268A-F257AC7D58BD}"/>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9302342-D82F-B746-8A55-FE9F04EC56A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7625660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302342-D82F-B746-8A55-FE9F04EC56A1}" type="slidenum">
              <a:rPr lang="en-US" smtClean="0"/>
              <a:t>39</a:t>
            </a:fld>
            <a:endParaRPr lang="en-US"/>
          </a:p>
        </p:txBody>
      </p:sp>
    </p:spTree>
    <p:extLst>
      <p:ext uri="{BB962C8B-B14F-4D97-AF65-F5344CB8AC3E}">
        <p14:creationId xmlns:p14="http://schemas.microsoft.com/office/powerpoint/2010/main" val="23297576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7442F-CBC2-D131-510B-D93CEDB5B3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083119-8147-4A4A-D63B-FDEB25F201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0ADC49-8D23-D49D-B37D-B33C98E9314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BF0602B-15FF-2880-8FE7-92D1D70D8148}"/>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9302342-D82F-B746-8A55-FE9F04EC56A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999888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3AA8AD-1E50-E3BE-D764-604495C61F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2BB1BB-084F-955E-550F-EB1897583F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A8AAFC-1564-3730-82CB-452B60CAE0F3}"/>
              </a:ext>
            </a:extLst>
          </p:cNvPr>
          <p:cNvSpPr>
            <a:spLocks noGrp="1"/>
          </p:cNvSpPr>
          <p:nvPr>
            <p:ph type="body" idx="1"/>
          </p:nvPr>
        </p:nvSpPr>
        <p:spPr/>
        <p:txBody>
          <a:bodyPr/>
          <a:lstStyle/>
          <a:p>
            <a:pPr marL="342900" marR="0" lvl="0" indent="-342900">
              <a:spcBef>
                <a:spcPts val="0"/>
              </a:spcBef>
              <a:spcAft>
                <a:spcPts val="0"/>
              </a:spcAft>
              <a:buFont typeface="Times New Roman" panose="02020603050405020304" pitchFamily="18" charset="0"/>
              <a:buChar char="-"/>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In a perfect world we would have multiple languages in each category, so this is a starting point and we will want to eventually add to it</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spcBef>
                <a:spcPts val="0"/>
              </a:spcBef>
              <a:spcAft>
                <a:spcPts val="0"/>
              </a:spcAft>
              <a:buFont typeface="Times New Roman" panose="02020603050405020304" pitchFamily="18" charset="0"/>
              <a:buChar char="-"/>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We included both English and Spanish because we were additionally interested in the presence of a denial-only negator in a language with another multi-function negator, but with our current data it’s hard to get much foothold on that, so I’ll focus on the shared meanings for now, and I’ll briefly discuss the one-to-one negator question at the end/I’d be happy to talk more about that offline</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id="{B070D4A4-8F89-0484-ADD6-D17F9DEABF0A}"/>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9302342-D82F-B746-8A55-FE9F04EC56A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5444863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2B27FF-5A4E-4554-9647-F9B92212C6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2C80A4-B47E-1313-0AD5-86855E769F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E1129A-6AC7-26D7-D230-F4D90FA17F27}"/>
              </a:ext>
            </a:extLst>
          </p:cNvPr>
          <p:cNvSpPr>
            <a:spLocks noGrp="1"/>
          </p:cNvSpPr>
          <p:nvPr>
            <p:ph type="body" idx="1"/>
          </p:nvPr>
        </p:nvSpPr>
        <p:spPr/>
        <p:txBody>
          <a:bodyPr/>
          <a:lstStyle/>
          <a:p>
            <a:pPr marL="342900" marR="0" lvl="0" indent="-342900">
              <a:spcBef>
                <a:spcPts val="0"/>
              </a:spcBef>
              <a:spcAft>
                <a:spcPts val="0"/>
              </a:spcAft>
              <a:buFont typeface="Times New Roman" panose="02020603050405020304" pitchFamily="18" charset="0"/>
              <a:buChar char="-"/>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In a perfect world we would have multiple languages in each category, so this is a starting point and we will want to eventually add to it</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spcBef>
                <a:spcPts val="0"/>
              </a:spcBef>
              <a:spcAft>
                <a:spcPts val="0"/>
              </a:spcAft>
              <a:buFont typeface="Times New Roman" panose="02020603050405020304" pitchFamily="18" charset="0"/>
              <a:buChar char="-"/>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We included both English and Spanish because we were additionally interested in the presence of a denial-only negator in a language with another multi-function negator, but with our current data it’s hard to get much foothold on that, so I’ll focus on the shared meanings for now, and I’ll briefly discuss the one-to-one negator question at the end/I’d be happy to talk more about that offline</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id="{6085C9D2-EC3F-BAF8-49D4-EFBEA207310A}"/>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9302342-D82F-B746-8A55-FE9F04EC56A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689784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B96ED-0547-1397-D65A-76E1F4A5504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2801D02-2D54-898A-A063-74AB57CA374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4A042A1-EE54-E327-8D7E-63C56055AAA3}"/>
              </a:ext>
            </a:extLst>
          </p:cNvPr>
          <p:cNvSpPr>
            <a:spLocks noGrp="1"/>
          </p:cNvSpPr>
          <p:nvPr>
            <p:ph type="dt" sz="half" idx="10"/>
          </p:nvPr>
        </p:nvSpPr>
        <p:spPr/>
        <p:txBody>
          <a:bodyPr/>
          <a:lstStyle/>
          <a:p>
            <a:fld id="{3DE51D5E-D8B5-794A-B1D0-EF01185CB4A7}" type="datetimeFigureOut">
              <a:rPr lang="en-US" smtClean="0"/>
              <a:t>6/26/26</a:t>
            </a:fld>
            <a:endParaRPr lang="en-US"/>
          </a:p>
        </p:txBody>
      </p:sp>
      <p:sp>
        <p:nvSpPr>
          <p:cNvPr id="5" name="Footer Placeholder 4">
            <a:extLst>
              <a:ext uri="{FF2B5EF4-FFF2-40B4-BE49-F238E27FC236}">
                <a16:creationId xmlns:a16="http://schemas.microsoft.com/office/drawing/2014/main" id="{3958B081-3050-58F8-AFA5-6129CB79AF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C825E87-857C-1FFA-E99E-2A24E54F1750}"/>
              </a:ext>
            </a:extLst>
          </p:cNvPr>
          <p:cNvSpPr>
            <a:spLocks noGrp="1"/>
          </p:cNvSpPr>
          <p:nvPr>
            <p:ph type="sldNum" sz="quarter" idx="12"/>
          </p:nvPr>
        </p:nvSpPr>
        <p:spPr/>
        <p:txBody>
          <a:bodyPr/>
          <a:lstStyle/>
          <a:p>
            <a:fld id="{C2572DB2-6813-A349-9FBC-83F6FB486039}" type="slidenum">
              <a:rPr lang="en-US" smtClean="0"/>
              <a:t>‹#›</a:t>
            </a:fld>
            <a:endParaRPr lang="en-US"/>
          </a:p>
        </p:txBody>
      </p:sp>
    </p:spTree>
    <p:extLst>
      <p:ext uri="{BB962C8B-B14F-4D97-AF65-F5344CB8AC3E}">
        <p14:creationId xmlns:p14="http://schemas.microsoft.com/office/powerpoint/2010/main" val="21436563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CF356C-EE7C-68A6-6C66-FB28B61B4D2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9EA0325-EA19-53A0-CAF6-BDF150640EE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5DA1AB6-C988-FE77-03E2-E41D0EF0E351}"/>
              </a:ext>
            </a:extLst>
          </p:cNvPr>
          <p:cNvSpPr>
            <a:spLocks noGrp="1"/>
          </p:cNvSpPr>
          <p:nvPr>
            <p:ph type="dt" sz="half" idx="10"/>
          </p:nvPr>
        </p:nvSpPr>
        <p:spPr/>
        <p:txBody>
          <a:bodyPr/>
          <a:lstStyle/>
          <a:p>
            <a:fld id="{3DE51D5E-D8B5-794A-B1D0-EF01185CB4A7}" type="datetimeFigureOut">
              <a:rPr lang="en-US" smtClean="0"/>
              <a:t>6/26/26</a:t>
            </a:fld>
            <a:endParaRPr lang="en-US"/>
          </a:p>
        </p:txBody>
      </p:sp>
      <p:sp>
        <p:nvSpPr>
          <p:cNvPr id="5" name="Footer Placeholder 4">
            <a:extLst>
              <a:ext uri="{FF2B5EF4-FFF2-40B4-BE49-F238E27FC236}">
                <a16:creationId xmlns:a16="http://schemas.microsoft.com/office/drawing/2014/main" id="{AE0887B7-276A-08A3-3F61-B4A8DBEED0B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4F24C2-48D4-51CD-C06A-01AD78A840FB}"/>
              </a:ext>
            </a:extLst>
          </p:cNvPr>
          <p:cNvSpPr>
            <a:spLocks noGrp="1"/>
          </p:cNvSpPr>
          <p:nvPr>
            <p:ph type="sldNum" sz="quarter" idx="12"/>
          </p:nvPr>
        </p:nvSpPr>
        <p:spPr/>
        <p:txBody>
          <a:bodyPr/>
          <a:lstStyle/>
          <a:p>
            <a:fld id="{C2572DB2-6813-A349-9FBC-83F6FB486039}" type="slidenum">
              <a:rPr lang="en-US" smtClean="0"/>
              <a:t>‹#›</a:t>
            </a:fld>
            <a:endParaRPr lang="en-US"/>
          </a:p>
        </p:txBody>
      </p:sp>
    </p:spTree>
    <p:extLst>
      <p:ext uri="{BB962C8B-B14F-4D97-AF65-F5344CB8AC3E}">
        <p14:creationId xmlns:p14="http://schemas.microsoft.com/office/powerpoint/2010/main" val="27110783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B6651A-673A-74CC-BD60-96BDFDCE313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BA723C4-BFF2-5B2C-927A-4A306EABFE2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BA623CC-79C8-2A1A-9E62-24079CFD34AE}"/>
              </a:ext>
            </a:extLst>
          </p:cNvPr>
          <p:cNvSpPr>
            <a:spLocks noGrp="1"/>
          </p:cNvSpPr>
          <p:nvPr>
            <p:ph type="dt" sz="half" idx="10"/>
          </p:nvPr>
        </p:nvSpPr>
        <p:spPr/>
        <p:txBody>
          <a:bodyPr/>
          <a:lstStyle/>
          <a:p>
            <a:fld id="{3DE51D5E-D8B5-794A-B1D0-EF01185CB4A7}" type="datetimeFigureOut">
              <a:rPr lang="en-US" smtClean="0"/>
              <a:t>6/26/26</a:t>
            </a:fld>
            <a:endParaRPr lang="en-US"/>
          </a:p>
        </p:txBody>
      </p:sp>
      <p:sp>
        <p:nvSpPr>
          <p:cNvPr id="5" name="Footer Placeholder 4">
            <a:extLst>
              <a:ext uri="{FF2B5EF4-FFF2-40B4-BE49-F238E27FC236}">
                <a16:creationId xmlns:a16="http://schemas.microsoft.com/office/drawing/2014/main" id="{071C572E-FDA0-0AF8-E9D6-7404223C241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CF05DDC-EB5E-6D1D-4864-B69789A9BF6D}"/>
              </a:ext>
            </a:extLst>
          </p:cNvPr>
          <p:cNvSpPr>
            <a:spLocks noGrp="1"/>
          </p:cNvSpPr>
          <p:nvPr>
            <p:ph type="sldNum" sz="quarter" idx="12"/>
          </p:nvPr>
        </p:nvSpPr>
        <p:spPr/>
        <p:txBody>
          <a:bodyPr/>
          <a:lstStyle/>
          <a:p>
            <a:fld id="{C2572DB2-6813-A349-9FBC-83F6FB486039}" type="slidenum">
              <a:rPr lang="en-US" smtClean="0"/>
              <a:t>‹#›</a:t>
            </a:fld>
            <a:endParaRPr lang="en-US"/>
          </a:p>
        </p:txBody>
      </p:sp>
    </p:spTree>
    <p:extLst>
      <p:ext uri="{BB962C8B-B14F-4D97-AF65-F5344CB8AC3E}">
        <p14:creationId xmlns:p14="http://schemas.microsoft.com/office/powerpoint/2010/main" val="23833105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7691F8-CC60-5E0E-1A9A-71397F0F8D4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937D252-AB5D-68E0-C6B6-6425A665624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8B87E39-E4B9-C5CD-72F9-97FE599153F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A154F3B-BE38-DDA4-9241-8E5ED60E2F06}"/>
              </a:ext>
            </a:extLst>
          </p:cNvPr>
          <p:cNvSpPr>
            <a:spLocks noGrp="1"/>
          </p:cNvSpPr>
          <p:nvPr>
            <p:ph type="dt" sz="half" idx="10"/>
          </p:nvPr>
        </p:nvSpPr>
        <p:spPr/>
        <p:txBody>
          <a:bodyPr/>
          <a:lstStyle/>
          <a:p>
            <a:fld id="{3DE51D5E-D8B5-794A-B1D0-EF01185CB4A7}" type="datetimeFigureOut">
              <a:rPr lang="en-US" smtClean="0"/>
              <a:t>6/26/26</a:t>
            </a:fld>
            <a:endParaRPr lang="en-US"/>
          </a:p>
        </p:txBody>
      </p:sp>
      <p:sp>
        <p:nvSpPr>
          <p:cNvPr id="6" name="Footer Placeholder 5">
            <a:extLst>
              <a:ext uri="{FF2B5EF4-FFF2-40B4-BE49-F238E27FC236}">
                <a16:creationId xmlns:a16="http://schemas.microsoft.com/office/drawing/2014/main" id="{A833EA60-8E74-C19C-2A7A-34A86D78796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4387140-54B1-94DA-FFDF-A76EDE57144F}"/>
              </a:ext>
            </a:extLst>
          </p:cNvPr>
          <p:cNvSpPr>
            <a:spLocks noGrp="1"/>
          </p:cNvSpPr>
          <p:nvPr>
            <p:ph type="sldNum" sz="quarter" idx="12"/>
          </p:nvPr>
        </p:nvSpPr>
        <p:spPr/>
        <p:txBody>
          <a:bodyPr/>
          <a:lstStyle/>
          <a:p>
            <a:fld id="{C2572DB2-6813-A349-9FBC-83F6FB486039}" type="slidenum">
              <a:rPr lang="en-US" smtClean="0"/>
              <a:t>‹#›</a:t>
            </a:fld>
            <a:endParaRPr lang="en-US"/>
          </a:p>
        </p:txBody>
      </p:sp>
    </p:spTree>
    <p:extLst>
      <p:ext uri="{BB962C8B-B14F-4D97-AF65-F5344CB8AC3E}">
        <p14:creationId xmlns:p14="http://schemas.microsoft.com/office/powerpoint/2010/main" val="17882166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08AC93-D3C4-D878-AC44-2747562475E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4BAFB80-B1EC-9E82-5614-7BB70BFDCE6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B81C482-0308-3281-295E-A3E963EA1BB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250DDA7-F144-0C09-4E09-A6FC6D4ABC8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D56FCA-921B-A935-A241-0E28C3D0ACF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513E8E8-90FE-B61F-3AC2-EDB7338FDF66}"/>
              </a:ext>
            </a:extLst>
          </p:cNvPr>
          <p:cNvSpPr>
            <a:spLocks noGrp="1"/>
          </p:cNvSpPr>
          <p:nvPr>
            <p:ph type="dt" sz="half" idx="10"/>
          </p:nvPr>
        </p:nvSpPr>
        <p:spPr/>
        <p:txBody>
          <a:bodyPr/>
          <a:lstStyle/>
          <a:p>
            <a:fld id="{3DE51D5E-D8B5-794A-B1D0-EF01185CB4A7}" type="datetimeFigureOut">
              <a:rPr lang="en-US" smtClean="0"/>
              <a:t>6/26/26</a:t>
            </a:fld>
            <a:endParaRPr lang="en-US"/>
          </a:p>
        </p:txBody>
      </p:sp>
      <p:sp>
        <p:nvSpPr>
          <p:cNvPr id="8" name="Footer Placeholder 7">
            <a:extLst>
              <a:ext uri="{FF2B5EF4-FFF2-40B4-BE49-F238E27FC236}">
                <a16:creationId xmlns:a16="http://schemas.microsoft.com/office/drawing/2014/main" id="{CF8A08EF-C2C1-00E0-2249-0403E6F6663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20918C6-AE8B-CC33-102F-5E49B56C0F9F}"/>
              </a:ext>
            </a:extLst>
          </p:cNvPr>
          <p:cNvSpPr>
            <a:spLocks noGrp="1"/>
          </p:cNvSpPr>
          <p:nvPr>
            <p:ph type="sldNum" sz="quarter" idx="12"/>
          </p:nvPr>
        </p:nvSpPr>
        <p:spPr/>
        <p:txBody>
          <a:bodyPr/>
          <a:lstStyle/>
          <a:p>
            <a:fld id="{C2572DB2-6813-A349-9FBC-83F6FB486039}" type="slidenum">
              <a:rPr lang="en-US" smtClean="0"/>
              <a:t>‹#›</a:t>
            </a:fld>
            <a:endParaRPr lang="en-US"/>
          </a:p>
        </p:txBody>
      </p:sp>
    </p:spTree>
    <p:extLst>
      <p:ext uri="{BB962C8B-B14F-4D97-AF65-F5344CB8AC3E}">
        <p14:creationId xmlns:p14="http://schemas.microsoft.com/office/powerpoint/2010/main" val="26946090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AAD89D-7707-8686-A8BD-49E24DC9ECB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475BA78-65A3-D90B-A96E-E6E1582B3DFD}"/>
              </a:ext>
            </a:extLst>
          </p:cNvPr>
          <p:cNvSpPr>
            <a:spLocks noGrp="1"/>
          </p:cNvSpPr>
          <p:nvPr>
            <p:ph type="dt" sz="half" idx="10"/>
          </p:nvPr>
        </p:nvSpPr>
        <p:spPr/>
        <p:txBody>
          <a:bodyPr/>
          <a:lstStyle/>
          <a:p>
            <a:fld id="{3DE51D5E-D8B5-794A-B1D0-EF01185CB4A7}" type="datetimeFigureOut">
              <a:rPr lang="en-US" smtClean="0"/>
              <a:t>6/26/26</a:t>
            </a:fld>
            <a:endParaRPr lang="en-US"/>
          </a:p>
        </p:txBody>
      </p:sp>
      <p:sp>
        <p:nvSpPr>
          <p:cNvPr id="4" name="Footer Placeholder 3">
            <a:extLst>
              <a:ext uri="{FF2B5EF4-FFF2-40B4-BE49-F238E27FC236}">
                <a16:creationId xmlns:a16="http://schemas.microsoft.com/office/drawing/2014/main" id="{51D7AAC8-8065-F1AF-E6F8-4E382C99C1D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8481449-A801-D5C9-729E-0CF9F1A5C2D2}"/>
              </a:ext>
            </a:extLst>
          </p:cNvPr>
          <p:cNvSpPr>
            <a:spLocks noGrp="1"/>
          </p:cNvSpPr>
          <p:nvPr>
            <p:ph type="sldNum" sz="quarter" idx="12"/>
          </p:nvPr>
        </p:nvSpPr>
        <p:spPr/>
        <p:txBody>
          <a:bodyPr/>
          <a:lstStyle/>
          <a:p>
            <a:fld id="{C2572DB2-6813-A349-9FBC-83F6FB486039}" type="slidenum">
              <a:rPr lang="en-US" smtClean="0"/>
              <a:t>‹#›</a:t>
            </a:fld>
            <a:endParaRPr lang="en-US"/>
          </a:p>
        </p:txBody>
      </p:sp>
    </p:spTree>
    <p:extLst>
      <p:ext uri="{BB962C8B-B14F-4D97-AF65-F5344CB8AC3E}">
        <p14:creationId xmlns:p14="http://schemas.microsoft.com/office/powerpoint/2010/main" val="26909174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8A7215E-3CF9-0B01-351C-4D483DC346F7}"/>
              </a:ext>
            </a:extLst>
          </p:cNvPr>
          <p:cNvSpPr>
            <a:spLocks noGrp="1"/>
          </p:cNvSpPr>
          <p:nvPr>
            <p:ph type="dt" sz="half" idx="10"/>
          </p:nvPr>
        </p:nvSpPr>
        <p:spPr/>
        <p:txBody>
          <a:bodyPr/>
          <a:lstStyle/>
          <a:p>
            <a:fld id="{3DE51D5E-D8B5-794A-B1D0-EF01185CB4A7}" type="datetimeFigureOut">
              <a:rPr lang="en-US" smtClean="0"/>
              <a:t>6/26/26</a:t>
            </a:fld>
            <a:endParaRPr lang="en-US"/>
          </a:p>
        </p:txBody>
      </p:sp>
      <p:sp>
        <p:nvSpPr>
          <p:cNvPr id="3" name="Footer Placeholder 2">
            <a:extLst>
              <a:ext uri="{FF2B5EF4-FFF2-40B4-BE49-F238E27FC236}">
                <a16:creationId xmlns:a16="http://schemas.microsoft.com/office/drawing/2014/main" id="{8E42D518-636A-6665-0E7A-1AE398C888A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2A7BEBB-4FC8-13C2-1584-05075190F12D}"/>
              </a:ext>
            </a:extLst>
          </p:cNvPr>
          <p:cNvSpPr>
            <a:spLocks noGrp="1"/>
          </p:cNvSpPr>
          <p:nvPr>
            <p:ph type="sldNum" sz="quarter" idx="12"/>
          </p:nvPr>
        </p:nvSpPr>
        <p:spPr/>
        <p:txBody>
          <a:bodyPr/>
          <a:lstStyle/>
          <a:p>
            <a:fld id="{C2572DB2-6813-A349-9FBC-83F6FB486039}" type="slidenum">
              <a:rPr lang="en-US" smtClean="0"/>
              <a:t>‹#›</a:t>
            </a:fld>
            <a:endParaRPr lang="en-US"/>
          </a:p>
        </p:txBody>
      </p:sp>
    </p:spTree>
    <p:extLst>
      <p:ext uri="{BB962C8B-B14F-4D97-AF65-F5344CB8AC3E}">
        <p14:creationId xmlns:p14="http://schemas.microsoft.com/office/powerpoint/2010/main" val="5953848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0AEFFB-0217-6EB4-7EB7-A5E30343226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6CC07D9-329F-19AA-1F2C-97B3EA1B425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BB65A64-B747-4057-9711-043D7FB06C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0782D0-34C2-117D-E295-9883BDAD2673}"/>
              </a:ext>
            </a:extLst>
          </p:cNvPr>
          <p:cNvSpPr>
            <a:spLocks noGrp="1"/>
          </p:cNvSpPr>
          <p:nvPr>
            <p:ph type="dt" sz="half" idx="10"/>
          </p:nvPr>
        </p:nvSpPr>
        <p:spPr/>
        <p:txBody>
          <a:bodyPr/>
          <a:lstStyle/>
          <a:p>
            <a:fld id="{3DE51D5E-D8B5-794A-B1D0-EF01185CB4A7}" type="datetimeFigureOut">
              <a:rPr lang="en-US" smtClean="0"/>
              <a:t>6/26/26</a:t>
            </a:fld>
            <a:endParaRPr lang="en-US"/>
          </a:p>
        </p:txBody>
      </p:sp>
      <p:sp>
        <p:nvSpPr>
          <p:cNvPr id="6" name="Footer Placeholder 5">
            <a:extLst>
              <a:ext uri="{FF2B5EF4-FFF2-40B4-BE49-F238E27FC236}">
                <a16:creationId xmlns:a16="http://schemas.microsoft.com/office/drawing/2014/main" id="{5955BF6F-0844-11C4-179B-3427F9B5AAB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8365EBF-E66D-3292-B671-4C5D8E953C06}"/>
              </a:ext>
            </a:extLst>
          </p:cNvPr>
          <p:cNvSpPr>
            <a:spLocks noGrp="1"/>
          </p:cNvSpPr>
          <p:nvPr>
            <p:ph type="sldNum" sz="quarter" idx="12"/>
          </p:nvPr>
        </p:nvSpPr>
        <p:spPr/>
        <p:txBody>
          <a:bodyPr/>
          <a:lstStyle/>
          <a:p>
            <a:fld id="{C2572DB2-6813-A349-9FBC-83F6FB486039}" type="slidenum">
              <a:rPr lang="en-US" smtClean="0"/>
              <a:t>‹#›</a:t>
            </a:fld>
            <a:endParaRPr lang="en-US"/>
          </a:p>
        </p:txBody>
      </p:sp>
    </p:spTree>
    <p:extLst>
      <p:ext uri="{BB962C8B-B14F-4D97-AF65-F5344CB8AC3E}">
        <p14:creationId xmlns:p14="http://schemas.microsoft.com/office/powerpoint/2010/main" val="15817423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B8B1BE-D34D-F95D-2CF8-AEC45A600D4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EC13DF3-D770-4513-E069-5B3F12BA1D3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B1B6897-8157-8695-BE39-D1EC2165A4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E28D6C4-2C6E-38A4-EAD7-AAA48460476A}"/>
              </a:ext>
            </a:extLst>
          </p:cNvPr>
          <p:cNvSpPr>
            <a:spLocks noGrp="1"/>
          </p:cNvSpPr>
          <p:nvPr>
            <p:ph type="dt" sz="half" idx="10"/>
          </p:nvPr>
        </p:nvSpPr>
        <p:spPr/>
        <p:txBody>
          <a:bodyPr/>
          <a:lstStyle/>
          <a:p>
            <a:fld id="{3DE51D5E-D8B5-794A-B1D0-EF01185CB4A7}" type="datetimeFigureOut">
              <a:rPr lang="en-US" smtClean="0"/>
              <a:t>6/26/26</a:t>
            </a:fld>
            <a:endParaRPr lang="en-US"/>
          </a:p>
        </p:txBody>
      </p:sp>
      <p:sp>
        <p:nvSpPr>
          <p:cNvPr id="6" name="Footer Placeholder 5">
            <a:extLst>
              <a:ext uri="{FF2B5EF4-FFF2-40B4-BE49-F238E27FC236}">
                <a16:creationId xmlns:a16="http://schemas.microsoft.com/office/drawing/2014/main" id="{E99D329E-CB82-9522-1D51-2606669A6C9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0D2BB2C-F75F-4AFB-FB72-4C3C1FA1EC9C}"/>
              </a:ext>
            </a:extLst>
          </p:cNvPr>
          <p:cNvSpPr>
            <a:spLocks noGrp="1"/>
          </p:cNvSpPr>
          <p:nvPr>
            <p:ph type="sldNum" sz="quarter" idx="12"/>
          </p:nvPr>
        </p:nvSpPr>
        <p:spPr/>
        <p:txBody>
          <a:bodyPr/>
          <a:lstStyle/>
          <a:p>
            <a:fld id="{C2572DB2-6813-A349-9FBC-83F6FB486039}" type="slidenum">
              <a:rPr lang="en-US" smtClean="0"/>
              <a:t>‹#›</a:t>
            </a:fld>
            <a:endParaRPr lang="en-US"/>
          </a:p>
        </p:txBody>
      </p:sp>
    </p:spTree>
    <p:extLst>
      <p:ext uri="{BB962C8B-B14F-4D97-AF65-F5344CB8AC3E}">
        <p14:creationId xmlns:p14="http://schemas.microsoft.com/office/powerpoint/2010/main" val="21507313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62A1DC-BA7A-57EF-4306-49D6B009D69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7E0B629-09DF-C3EE-00B1-61A73A901E1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A7AB0AB-7D88-65EB-AD0E-B55135FEC8D8}"/>
              </a:ext>
            </a:extLst>
          </p:cNvPr>
          <p:cNvSpPr>
            <a:spLocks noGrp="1"/>
          </p:cNvSpPr>
          <p:nvPr>
            <p:ph type="dt" sz="half" idx="10"/>
          </p:nvPr>
        </p:nvSpPr>
        <p:spPr/>
        <p:txBody>
          <a:bodyPr/>
          <a:lstStyle/>
          <a:p>
            <a:fld id="{3DE51D5E-D8B5-794A-B1D0-EF01185CB4A7}" type="datetimeFigureOut">
              <a:rPr lang="en-US" smtClean="0"/>
              <a:t>6/26/26</a:t>
            </a:fld>
            <a:endParaRPr lang="en-US"/>
          </a:p>
        </p:txBody>
      </p:sp>
      <p:sp>
        <p:nvSpPr>
          <p:cNvPr id="5" name="Footer Placeholder 4">
            <a:extLst>
              <a:ext uri="{FF2B5EF4-FFF2-40B4-BE49-F238E27FC236}">
                <a16:creationId xmlns:a16="http://schemas.microsoft.com/office/drawing/2014/main" id="{15B8F3B7-B4AB-FAAB-517E-A002A2FFFD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50D259C-DEDE-F7C8-4C5F-A2386723A453}"/>
              </a:ext>
            </a:extLst>
          </p:cNvPr>
          <p:cNvSpPr>
            <a:spLocks noGrp="1"/>
          </p:cNvSpPr>
          <p:nvPr>
            <p:ph type="sldNum" sz="quarter" idx="12"/>
          </p:nvPr>
        </p:nvSpPr>
        <p:spPr/>
        <p:txBody>
          <a:bodyPr/>
          <a:lstStyle/>
          <a:p>
            <a:fld id="{C2572DB2-6813-A349-9FBC-83F6FB486039}" type="slidenum">
              <a:rPr lang="en-US" smtClean="0"/>
              <a:t>‹#›</a:t>
            </a:fld>
            <a:endParaRPr lang="en-US"/>
          </a:p>
        </p:txBody>
      </p:sp>
    </p:spTree>
    <p:extLst>
      <p:ext uri="{BB962C8B-B14F-4D97-AF65-F5344CB8AC3E}">
        <p14:creationId xmlns:p14="http://schemas.microsoft.com/office/powerpoint/2010/main" val="16646246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780BE55-A368-34C7-8588-ECAAE60A2BD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CEF658A-C85F-B2D6-AAFD-B1888FF2375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9D4FC2-4C50-89E4-AB62-EB422CB87F81}"/>
              </a:ext>
            </a:extLst>
          </p:cNvPr>
          <p:cNvSpPr>
            <a:spLocks noGrp="1"/>
          </p:cNvSpPr>
          <p:nvPr>
            <p:ph type="dt" sz="half" idx="10"/>
          </p:nvPr>
        </p:nvSpPr>
        <p:spPr/>
        <p:txBody>
          <a:bodyPr/>
          <a:lstStyle/>
          <a:p>
            <a:fld id="{3DE51D5E-D8B5-794A-B1D0-EF01185CB4A7}" type="datetimeFigureOut">
              <a:rPr lang="en-US" smtClean="0"/>
              <a:t>6/26/26</a:t>
            </a:fld>
            <a:endParaRPr lang="en-US"/>
          </a:p>
        </p:txBody>
      </p:sp>
      <p:sp>
        <p:nvSpPr>
          <p:cNvPr id="5" name="Footer Placeholder 4">
            <a:extLst>
              <a:ext uri="{FF2B5EF4-FFF2-40B4-BE49-F238E27FC236}">
                <a16:creationId xmlns:a16="http://schemas.microsoft.com/office/drawing/2014/main" id="{274988C9-3FBA-EE70-03C0-9264878ECF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DBEF1D1-803F-62B1-AC6F-06310AA19EAE}"/>
              </a:ext>
            </a:extLst>
          </p:cNvPr>
          <p:cNvSpPr>
            <a:spLocks noGrp="1"/>
          </p:cNvSpPr>
          <p:nvPr>
            <p:ph type="sldNum" sz="quarter" idx="12"/>
          </p:nvPr>
        </p:nvSpPr>
        <p:spPr/>
        <p:txBody>
          <a:bodyPr/>
          <a:lstStyle/>
          <a:p>
            <a:fld id="{C2572DB2-6813-A349-9FBC-83F6FB486039}" type="slidenum">
              <a:rPr lang="en-US" smtClean="0"/>
              <a:t>‹#›</a:t>
            </a:fld>
            <a:endParaRPr lang="en-US"/>
          </a:p>
        </p:txBody>
      </p:sp>
    </p:spTree>
    <p:extLst>
      <p:ext uri="{BB962C8B-B14F-4D97-AF65-F5344CB8AC3E}">
        <p14:creationId xmlns:p14="http://schemas.microsoft.com/office/powerpoint/2010/main" val="200797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E09C69-A874-64A9-845B-185FC3EB668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E4D691A-DCF4-E1C9-1E6C-5B9472435D5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6B88F63-4A66-A62A-EDC8-8735FBD0762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DE51D5E-D8B5-794A-B1D0-EF01185CB4A7}" type="datetimeFigureOut">
              <a:rPr lang="en-US" smtClean="0"/>
              <a:t>6/26/26</a:t>
            </a:fld>
            <a:endParaRPr lang="en-US"/>
          </a:p>
        </p:txBody>
      </p:sp>
      <p:sp>
        <p:nvSpPr>
          <p:cNvPr id="5" name="Footer Placeholder 4">
            <a:extLst>
              <a:ext uri="{FF2B5EF4-FFF2-40B4-BE49-F238E27FC236}">
                <a16:creationId xmlns:a16="http://schemas.microsoft.com/office/drawing/2014/main" id="{31D43CDD-7E2F-B5B7-438B-D613B8C9C09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DCB2873-8876-5B79-787B-9B27210C9DE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2572DB2-6813-A349-9FBC-83F6FB486039}" type="slidenum">
              <a:rPr lang="en-US" smtClean="0"/>
              <a:t>‹#›</a:t>
            </a:fld>
            <a:endParaRPr lang="en-US"/>
          </a:p>
        </p:txBody>
      </p:sp>
    </p:spTree>
    <p:extLst>
      <p:ext uri="{BB962C8B-B14F-4D97-AF65-F5344CB8AC3E}">
        <p14:creationId xmlns:p14="http://schemas.microsoft.com/office/powerpoint/2010/main" val="37628969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D23F87-F71C-3F5A-DC4D-846C327940F5}"/>
              </a:ext>
            </a:extLst>
          </p:cNvPr>
          <p:cNvSpPr>
            <a:spLocks noGrp="1"/>
          </p:cNvSpPr>
          <p:nvPr>
            <p:ph type="ctrTitle"/>
          </p:nvPr>
        </p:nvSpPr>
        <p:spPr>
          <a:xfrm>
            <a:off x="1524000" y="1122362"/>
            <a:ext cx="9144000" cy="3271838"/>
          </a:xfrm>
        </p:spPr>
        <p:txBody>
          <a:bodyPr>
            <a:normAutofit/>
          </a:bodyPr>
          <a:lstStyle/>
          <a:p>
            <a:r>
              <a:rPr lang="en-US" dirty="0"/>
              <a:t>Using LLMs to semantically categorize children’s productions of negation</a:t>
            </a:r>
          </a:p>
        </p:txBody>
      </p:sp>
      <p:sp>
        <p:nvSpPr>
          <p:cNvPr id="3" name="Subtitle 2">
            <a:extLst>
              <a:ext uri="{FF2B5EF4-FFF2-40B4-BE49-F238E27FC236}">
                <a16:creationId xmlns:a16="http://schemas.microsoft.com/office/drawing/2014/main" id="{59A651F7-B65A-2856-6DF4-E2ECB68B24CD}"/>
              </a:ext>
            </a:extLst>
          </p:cNvPr>
          <p:cNvSpPr>
            <a:spLocks noGrp="1"/>
          </p:cNvSpPr>
          <p:nvPr>
            <p:ph type="subTitle" idx="1"/>
          </p:nvPr>
        </p:nvSpPr>
        <p:spPr>
          <a:xfrm>
            <a:off x="1524000" y="4660900"/>
            <a:ext cx="9144000" cy="596900"/>
          </a:xfrm>
        </p:spPr>
        <p:txBody>
          <a:bodyPr>
            <a:normAutofit/>
          </a:bodyPr>
          <a:lstStyle/>
          <a:p>
            <a:r>
              <a:rPr lang="en-US" dirty="0"/>
              <a:t>Solar Lab, July 7</a:t>
            </a:r>
            <a:r>
              <a:rPr lang="en-US" baseline="30000" dirty="0"/>
              <a:t>th</a:t>
            </a:r>
            <a:r>
              <a:rPr lang="en-US" dirty="0"/>
              <a:t>, 2026</a:t>
            </a:r>
          </a:p>
        </p:txBody>
      </p:sp>
    </p:spTree>
    <p:extLst>
      <p:ext uri="{BB962C8B-B14F-4D97-AF65-F5344CB8AC3E}">
        <p14:creationId xmlns:p14="http://schemas.microsoft.com/office/powerpoint/2010/main" val="16435621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8C2EA6-8310-C8D4-1DEC-6C53FFA46E78}"/>
              </a:ext>
            </a:extLst>
          </p:cNvPr>
          <p:cNvSpPr>
            <a:spLocks noGrp="1"/>
          </p:cNvSpPr>
          <p:nvPr>
            <p:ph type="title"/>
          </p:nvPr>
        </p:nvSpPr>
        <p:spPr>
          <a:xfrm>
            <a:off x="838200" y="69396"/>
            <a:ext cx="10515600" cy="1325563"/>
          </a:xfrm>
        </p:spPr>
        <p:txBody>
          <a:bodyPr/>
          <a:lstStyle/>
          <a:p>
            <a:r>
              <a:rPr lang="en-US" dirty="0"/>
              <a:t>Background: Cross-linguistic corpus analysis</a:t>
            </a:r>
          </a:p>
        </p:txBody>
      </p:sp>
      <p:sp>
        <p:nvSpPr>
          <p:cNvPr id="4" name="TextBox 3">
            <a:extLst>
              <a:ext uri="{FF2B5EF4-FFF2-40B4-BE49-F238E27FC236}">
                <a16:creationId xmlns:a16="http://schemas.microsoft.com/office/drawing/2014/main" id="{B93B3C3C-ACC3-CD71-A628-26872923FA67}"/>
              </a:ext>
            </a:extLst>
          </p:cNvPr>
          <p:cNvSpPr txBox="1"/>
          <p:nvPr/>
        </p:nvSpPr>
        <p:spPr>
          <a:xfrm>
            <a:off x="10889061" y="6514068"/>
            <a:ext cx="1304973" cy="33855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E8E8E8">
                    <a:lumMod val="50000"/>
                  </a:srgbClr>
                </a:solidFill>
                <a:effectLst/>
                <a:uLnTx/>
                <a:uFillTx/>
                <a:latin typeface="Franklin Gothic Book" panose="020B0503020102020204"/>
                <a:ea typeface="+mn-ea"/>
                <a:cs typeface="+mn-cs"/>
              </a:rPr>
              <a:t>Bloom, 1970</a:t>
            </a:r>
          </a:p>
        </p:txBody>
      </p:sp>
      <p:cxnSp>
        <p:nvCxnSpPr>
          <p:cNvPr id="5" name="Straight Arrow Connector 4">
            <a:extLst>
              <a:ext uri="{FF2B5EF4-FFF2-40B4-BE49-F238E27FC236}">
                <a16:creationId xmlns:a16="http://schemas.microsoft.com/office/drawing/2014/main" id="{27550855-0DA9-6E1A-62F1-70F69EEF416E}"/>
              </a:ext>
            </a:extLst>
          </p:cNvPr>
          <p:cNvCxnSpPr/>
          <p:nvPr/>
        </p:nvCxnSpPr>
        <p:spPr>
          <a:xfrm>
            <a:off x="2163130" y="2277243"/>
            <a:ext cx="8423030" cy="0"/>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949B7700-A000-D738-C1E7-0B8E1BD03BD4}"/>
              </a:ext>
            </a:extLst>
          </p:cNvPr>
          <p:cNvSpPr txBox="1"/>
          <p:nvPr/>
        </p:nvSpPr>
        <p:spPr>
          <a:xfrm>
            <a:off x="2569209" y="1444399"/>
            <a:ext cx="1483291" cy="369332"/>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No (rejection)</a:t>
            </a:r>
          </a:p>
        </p:txBody>
      </p:sp>
      <p:sp>
        <p:nvSpPr>
          <p:cNvPr id="7" name="TextBox 6">
            <a:extLst>
              <a:ext uri="{FF2B5EF4-FFF2-40B4-BE49-F238E27FC236}">
                <a16:creationId xmlns:a16="http://schemas.microsoft.com/office/drawing/2014/main" id="{20EBF43D-D6A5-0073-F9F2-048D3E1863D4}"/>
              </a:ext>
            </a:extLst>
          </p:cNvPr>
          <p:cNvSpPr txBox="1"/>
          <p:nvPr/>
        </p:nvSpPr>
        <p:spPr>
          <a:xfrm>
            <a:off x="4118099" y="1386643"/>
            <a:ext cx="1891352" cy="369332"/>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No (nonexistence)</a:t>
            </a:r>
          </a:p>
        </p:txBody>
      </p:sp>
      <p:sp>
        <p:nvSpPr>
          <p:cNvPr id="8" name="TextBox 7">
            <a:extLst>
              <a:ext uri="{FF2B5EF4-FFF2-40B4-BE49-F238E27FC236}">
                <a16:creationId xmlns:a16="http://schemas.microsoft.com/office/drawing/2014/main" id="{BA8DD488-9B97-212C-B392-D0AC6D760F6A}"/>
              </a:ext>
            </a:extLst>
          </p:cNvPr>
          <p:cNvSpPr txBox="1"/>
          <p:nvPr/>
        </p:nvSpPr>
        <p:spPr>
          <a:xfrm>
            <a:off x="8038208" y="1229618"/>
            <a:ext cx="1225015" cy="646331"/>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No (denial)</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Not</a:t>
            </a:r>
          </a:p>
        </p:txBody>
      </p:sp>
      <p:cxnSp>
        <p:nvCxnSpPr>
          <p:cNvPr id="9" name="Straight Connector 8">
            <a:extLst>
              <a:ext uri="{FF2B5EF4-FFF2-40B4-BE49-F238E27FC236}">
                <a16:creationId xmlns:a16="http://schemas.microsoft.com/office/drawing/2014/main" id="{70C7B270-4A18-6C74-2F88-614BC45438A5}"/>
              </a:ext>
            </a:extLst>
          </p:cNvPr>
          <p:cNvCxnSpPr/>
          <p:nvPr/>
        </p:nvCxnSpPr>
        <p:spPr>
          <a:xfrm>
            <a:off x="4755298" y="2101396"/>
            <a:ext cx="0" cy="38686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15BA3C3A-D1C7-67C4-DCE5-FCF1F49AE9B5}"/>
              </a:ext>
            </a:extLst>
          </p:cNvPr>
          <p:cNvSpPr txBox="1"/>
          <p:nvPr/>
        </p:nvSpPr>
        <p:spPr>
          <a:xfrm>
            <a:off x="2574778" y="1770699"/>
            <a:ext cx="1687321" cy="369332"/>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No (prohibition)</a:t>
            </a:r>
          </a:p>
        </p:txBody>
      </p:sp>
      <p:cxnSp>
        <p:nvCxnSpPr>
          <p:cNvPr id="11" name="Straight Connector 10">
            <a:extLst>
              <a:ext uri="{FF2B5EF4-FFF2-40B4-BE49-F238E27FC236}">
                <a16:creationId xmlns:a16="http://schemas.microsoft.com/office/drawing/2014/main" id="{0B35E52F-8A0F-A03F-BD87-AFDF42855B8E}"/>
              </a:ext>
            </a:extLst>
          </p:cNvPr>
          <p:cNvCxnSpPr/>
          <p:nvPr/>
        </p:nvCxnSpPr>
        <p:spPr>
          <a:xfrm>
            <a:off x="3316932" y="2101395"/>
            <a:ext cx="0" cy="38686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AE69A87-6032-A743-C079-56DBA3D99102}"/>
              </a:ext>
            </a:extLst>
          </p:cNvPr>
          <p:cNvCxnSpPr/>
          <p:nvPr/>
        </p:nvCxnSpPr>
        <p:spPr>
          <a:xfrm>
            <a:off x="8654165" y="2084903"/>
            <a:ext cx="0" cy="38686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20D602A9-5C64-EE6F-31B5-8FAD1D992FCB}"/>
              </a:ext>
            </a:extLst>
          </p:cNvPr>
          <p:cNvSpPr txBox="1"/>
          <p:nvPr/>
        </p:nvSpPr>
        <p:spPr>
          <a:xfrm>
            <a:off x="2528250" y="2644487"/>
            <a:ext cx="1436547" cy="369332"/>
          </a:xfrm>
          <a:prstGeom prst="rect">
            <a:avLst/>
          </a:prstGeom>
          <a:noFill/>
        </p:spPr>
        <p:txBody>
          <a:bodyPr wrap="none" rtlCol="0">
            <a:spAutoFit/>
          </a:bodyPr>
          <a:lstStyle/>
          <a:p>
            <a:r>
              <a:rPr lang="en-US" dirty="0"/>
              <a:t>~ 15 months</a:t>
            </a:r>
          </a:p>
        </p:txBody>
      </p:sp>
      <p:sp>
        <p:nvSpPr>
          <p:cNvPr id="14" name="TextBox 13">
            <a:extLst>
              <a:ext uri="{FF2B5EF4-FFF2-40B4-BE49-F238E27FC236}">
                <a16:creationId xmlns:a16="http://schemas.microsoft.com/office/drawing/2014/main" id="{6B9A5EC1-8C32-6459-9EB9-DCD1827B95BC}"/>
              </a:ext>
            </a:extLst>
          </p:cNvPr>
          <p:cNvSpPr txBox="1"/>
          <p:nvPr/>
        </p:nvSpPr>
        <p:spPr>
          <a:xfrm>
            <a:off x="7875358" y="2644487"/>
            <a:ext cx="1429430" cy="369332"/>
          </a:xfrm>
          <a:prstGeom prst="rect">
            <a:avLst/>
          </a:prstGeom>
          <a:noFill/>
        </p:spPr>
        <p:txBody>
          <a:bodyPr wrap="none" rtlCol="0">
            <a:spAutoFit/>
          </a:bodyPr>
          <a:lstStyle/>
          <a:p>
            <a:r>
              <a:rPr lang="en-US" dirty="0"/>
              <a:t>~ 27 months</a:t>
            </a:r>
          </a:p>
        </p:txBody>
      </p:sp>
      <p:sp>
        <p:nvSpPr>
          <p:cNvPr id="15" name="Rectangle 14">
            <a:extLst>
              <a:ext uri="{FF2B5EF4-FFF2-40B4-BE49-F238E27FC236}">
                <a16:creationId xmlns:a16="http://schemas.microsoft.com/office/drawing/2014/main" id="{2A20A873-9802-3E47-A392-F7A2FEDA2327}"/>
              </a:ext>
            </a:extLst>
          </p:cNvPr>
          <p:cNvSpPr/>
          <p:nvPr/>
        </p:nvSpPr>
        <p:spPr>
          <a:xfrm>
            <a:off x="4743404" y="1872038"/>
            <a:ext cx="3898857" cy="843480"/>
          </a:xfrm>
          <a:prstGeom prst="rect">
            <a:avLst/>
          </a:prstGeom>
          <a:solidFill>
            <a:schemeClr val="bg2">
              <a:lumMod val="75000"/>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8" name="Picture 6" descr="Broccoli Clipart Images - Free Download on Freepik">
            <a:extLst>
              <a:ext uri="{FF2B5EF4-FFF2-40B4-BE49-F238E27FC236}">
                <a16:creationId xmlns:a16="http://schemas.microsoft.com/office/drawing/2014/main" id="{5D8D5148-58E3-D365-1BEE-E6E7DD99E1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28976" y="3874719"/>
            <a:ext cx="1180736" cy="1046401"/>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18">
            <a:extLst>
              <a:ext uri="{FF2B5EF4-FFF2-40B4-BE49-F238E27FC236}">
                <a16:creationId xmlns:a16="http://schemas.microsoft.com/office/drawing/2014/main" id="{2B36838B-C007-584C-7FFE-20149451ED74}"/>
              </a:ext>
            </a:extLst>
          </p:cNvPr>
          <p:cNvPicPr>
            <a:picLocks noChangeAspect="1"/>
          </p:cNvPicPr>
          <p:nvPr/>
        </p:nvPicPr>
        <p:blipFill>
          <a:blip r:embed="rId3"/>
          <a:stretch>
            <a:fillRect/>
          </a:stretch>
        </p:blipFill>
        <p:spPr>
          <a:xfrm>
            <a:off x="2382672" y="5134495"/>
            <a:ext cx="1326314" cy="1326314"/>
          </a:xfrm>
          <a:prstGeom prst="rect">
            <a:avLst/>
          </a:prstGeom>
        </p:spPr>
      </p:pic>
    </p:spTree>
    <p:extLst>
      <p:ext uri="{BB962C8B-B14F-4D97-AF65-F5344CB8AC3E}">
        <p14:creationId xmlns:p14="http://schemas.microsoft.com/office/powerpoint/2010/main" val="3495230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10" grpId="0"/>
      <p:bldP spid="13" grpId="0"/>
      <p:bldP spid="14" grpId="0"/>
      <p:bldP spid="1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904535-70AE-F012-20AC-C31FB31AAFC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B2F92A2-58AA-D9F6-9176-B4DBF7EF263D}"/>
              </a:ext>
            </a:extLst>
          </p:cNvPr>
          <p:cNvSpPr txBox="1"/>
          <p:nvPr/>
        </p:nvSpPr>
        <p:spPr>
          <a:xfrm>
            <a:off x="3849189" y="1446511"/>
            <a:ext cx="966931" cy="40011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0" i="0" u="sng" strike="noStrike" kern="1200" cap="none" spc="0" normalizeH="0" baseline="0" noProof="0" dirty="0">
                <a:ln>
                  <a:noFill/>
                </a:ln>
                <a:solidFill>
                  <a:prstClr val="black"/>
                </a:solidFill>
                <a:effectLst/>
                <a:uLnTx/>
                <a:uFillTx/>
                <a:latin typeface="Franklin Gothic Book" panose="020B0503020102020204"/>
                <a:ea typeface="+mn-ea"/>
                <a:cs typeface="+mn-cs"/>
              </a:rPr>
              <a:t>English</a:t>
            </a:r>
          </a:p>
        </p:txBody>
      </p:sp>
      <p:pic>
        <p:nvPicPr>
          <p:cNvPr id="8" name="Picture 7">
            <a:extLst>
              <a:ext uri="{FF2B5EF4-FFF2-40B4-BE49-F238E27FC236}">
                <a16:creationId xmlns:a16="http://schemas.microsoft.com/office/drawing/2014/main" id="{A7857F7F-C5EE-A39D-B6C1-D4844FEBC404}"/>
              </a:ext>
            </a:extLst>
          </p:cNvPr>
          <p:cNvPicPr>
            <a:picLocks noChangeAspect="1"/>
          </p:cNvPicPr>
          <p:nvPr/>
        </p:nvPicPr>
        <p:blipFill>
          <a:blip r:embed="rId3"/>
          <a:stretch>
            <a:fillRect/>
          </a:stretch>
        </p:blipFill>
        <p:spPr>
          <a:xfrm>
            <a:off x="833027" y="4165170"/>
            <a:ext cx="1326314" cy="1326314"/>
          </a:xfrm>
          <a:prstGeom prst="rect">
            <a:avLst/>
          </a:prstGeom>
        </p:spPr>
      </p:pic>
      <p:sp>
        <p:nvSpPr>
          <p:cNvPr id="9" name="Oval Callout 8">
            <a:extLst>
              <a:ext uri="{FF2B5EF4-FFF2-40B4-BE49-F238E27FC236}">
                <a16:creationId xmlns:a16="http://schemas.microsoft.com/office/drawing/2014/main" id="{04EA6BCD-756F-337C-2177-DB63B5C1962A}"/>
              </a:ext>
            </a:extLst>
          </p:cNvPr>
          <p:cNvSpPr/>
          <p:nvPr/>
        </p:nvSpPr>
        <p:spPr>
          <a:xfrm>
            <a:off x="3191495" y="4606866"/>
            <a:ext cx="1812680" cy="981433"/>
          </a:xfrm>
          <a:prstGeom prst="wedgeEllipseCallout">
            <a:avLst>
              <a:gd name="adj1" fmla="val -102359"/>
              <a:gd name="adj2" fmla="val -38298"/>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“no”</a:t>
            </a:r>
          </a:p>
        </p:txBody>
      </p:sp>
      <p:sp>
        <p:nvSpPr>
          <p:cNvPr id="10" name="Cloud Callout 9">
            <a:extLst>
              <a:ext uri="{FF2B5EF4-FFF2-40B4-BE49-F238E27FC236}">
                <a16:creationId xmlns:a16="http://schemas.microsoft.com/office/drawing/2014/main" id="{AEA12350-E56C-2F7C-0741-1B692B2A8596}"/>
              </a:ext>
            </a:extLst>
          </p:cNvPr>
          <p:cNvSpPr/>
          <p:nvPr/>
        </p:nvSpPr>
        <p:spPr>
          <a:xfrm>
            <a:off x="2159341" y="2289853"/>
            <a:ext cx="4773621" cy="1733552"/>
          </a:xfrm>
          <a:prstGeom prst="cloudCallout">
            <a:avLst>
              <a:gd name="adj1" fmla="val -48959"/>
              <a:gd name="adj2" fmla="val 63684"/>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Franklin Gothic Book" panose="020B0503020102020204"/>
              <a:ea typeface="+mn-ea"/>
              <a:cs typeface="+mn-cs"/>
            </a:endParaRPr>
          </a:p>
        </p:txBody>
      </p:sp>
      <p:sp>
        <p:nvSpPr>
          <p:cNvPr id="11" name="TextBox 10">
            <a:extLst>
              <a:ext uri="{FF2B5EF4-FFF2-40B4-BE49-F238E27FC236}">
                <a16:creationId xmlns:a16="http://schemas.microsoft.com/office/drawing/2014/main" id="{35891039-C23E-8217-45E6-B0FD170430D6}"/>
              </a:ext>
            </a:extLst>
          </p:cNvPr>
          <p:cNvSpPr txBox="1"/>
          <p:nvPr/>
        </p:nvSpPr>
        <p:spPr>
          <a:xfrm>
            <a:off x="2488180" y="2925541"/>
            <a:ext cx="1144865" cy="33855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Franklin Gothic Book" panose="020B0503020102020204"/>
                <a:ea typeface="+mn-ea"/>
                <a:cs typeface="+mn-cs"/>
              </a:rPr>
              <a:t>REJECTION</a:t>
            </a:r>
          </a:p>
        </p:txBody>
      </p:sp>
      <p:cxnSp>
        <p:nvCxnSpPr>
          <p:cNvPr id="13" name="Straight Arrow Connector 12">
            <a:extLst>
              <a:ext uri="{FF2B5EF4-FFF2-40B4-BE49-F238E27FC236}">
                <a16:creationId xmlns:a16="http://schemas.microsoft.com/office/drawing/2014/main" id="{1823BD6B-7E03-D6D5-ECBA-8003ADC3581F}"/>
              </a:ext>
            </a:extLst>
          </p:cNvPr>
          <p:cNvCxnSpPr>
            <a:cxnSpLocks/>
            <a:stCxn id="11" idx="2"/>
          </p:cNvCxnSpPr>
          <p:nvPr/>
        </p:nvCxnSpPr>
        <p:spPr>
          <a:xfrm>
            <a:off x="3060613" y="3264095"/>
            <a:ext cx="987444" cy="1664869"/>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5ACEC959-BE20-50B9-AF07-2A0B13C5C675}"/>
              </a:ext>
            </a:extLst>
          </p:cNvPr>
          <p:cNvSpPr txBox="1"/>
          <p:nvPr/>
        </p:nvSpPr>
        <p:spPr>
          <a:xfrm>
            <a:off x="3186732" y="3228570"/>
            <a:ext cx="1324914" cy="33855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Franklin Gothic Book" panose="020B0503020102020204"/>
                <a:ea typeface="+mn-ea"/>
                <a:cs typeface="+mn-cs"/>
              </a:rPr>
              <a:t>PROHIBITION</a:t>
            </a:r>
          </a:p>
        </p:txBody>
      </p:sp>
      <p:sp>
        <p:nvSpPr>
          <p:cNvPr id="17" name="TextBox 16">
            <a:extLst>
              <a:ext uri="{FF2B5EF4-FFF2-40B4-BE49-F238E27FC236}">
                <a16:creationId xmlns:a16="http://schemas.microsoft.com/office/drawing/2014/main" id="{18A9001E-681D-CBA3-C125-A8CBA1C8141E}"/>
              </a:ext>
            </a:extLst>
          </p:cNvPr>
          <p:cNvSpPr txBox="1"/>
          <p:nvPr/>
        </p:nvSpPr>
        <p:spPr>
          <a:xfrm>
            <a:off x="4071046" y="2796234"/>
            <a:ext cx="1544718" cy="33855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Franklin Gothic Book" panose="020B0503020102020204"/>
                <a:ea typeface="+mn-ea"/>
                <a:cs typeface="+mn-cs"/>
              </a:rPr>
              <a:t>NONEXISTENCE</a:t>
            </a:r>
          </a:p>
        </p:txBody>
      </p:sp>
      <p:cxnSp>
        <p:nvCxnSpPr>
          <p:cNvPr id="20" name="Straight Arrow Connector 19">
            <a:extLst>
              <a:ext uri="{FF2B5EF4-FFF2-40B4-BE49-F238E27FC236}">
                <a16:creationId xmlns:a16="http://schemas.microsoft.com/office/drawing/2014/main" id="{E4DADE0A-5DF1-2532-F37B-5397F3FD836B}"/>
              </a:ext>
            </a:extLst>
          </p:cNvPr>
          <p:cNvCxnSpPr>
            <a:cxnSpLocks/>
            <a:stCxn id="14" idx="2"/>
          </p:cNvCxnSpPr>
          <p:nvPr/>
        </p:nvCxnSpPr>
        <p:spPr>
          <a:xfrm>
            <a:off x="3849189" y="3567124"/>
            <a:ext cx="198868" cy="1361840"/>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91C5851C-DF01-F31E-DC5B-E854B5F73456}"/>
              </a:ext>
            </a:extLst>
          </p:cNvPr>
          <p:cNvCxnSpPr>
            <a:cxnSpLocks/>
            <a:stCxn id="17" idx="2"/>
          </p:cNvCxnSpPr>
          <p:nvPr/>
        </p:nvCxnSpPr>
        <p:spPr>
          <a:xfrm flipH="1">
            <a:off x="4048057" y="3134788"/>
            <a:ext cx="795348" cy="1794176"/>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36FDB06D-08FB-0F4C-4884-14A35AF86F39}"/>
              </a:ext>
            </a:extLst>
          </p:cNvPr>
          <p:cNvSpPr txBox="1"/>
          <p:nvPr/>
        </p:nvSpPr>
        <p:spPr>
          <a:xfrm>
            <a:off x="5014268" y="3248771"/>
            <a:ext cx="1077474" cy="33855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600" dirty="0">
                <a:solidFill>
                  <a:prstClr val="black"/>
                </a:solidFill>
                <a:latin typeface="Franklin Gothic Book" panose="020B0503020102020204"/>
              </a:rPr>
              <a:t>NEGATION</a:t>
            </a:r>
          </a:p>
        </p:txBody>
      </p:sp>
      <p:sp>
        <p:nvSpPr>
          <p:cNvPr id="25" name="TextBox 24">
            <a:extLst>
              <a:ext uri="{FF2B5EF4-FFF2-40B4-BE49-F238E27FC236}">
                <a16:creationId xmlns:a16="http://schemas.microsoft.com/office/drawing/2014/main" id="{F634EF41-9745-8FFD-5757-973367C10058}"/>
              </a:ext>
            </a:extLst>
          </p:cNvPr>
          <p:cNvSpPr txBox="1"/>
          <p:nvPr/>
        </p:nvSpPr>
        <p:spPr>
          <a:xfrm>
            <a:off x="8951649" y="1446511"/>
            <a:ext cx="1010918" cy="40011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0" i="0" u="sng" strike="noStrike" kern="1200" cap="none" spc="0" normalizeH="0" baseline="0" noProof="0" dirty="0">
                <a:ln>
                  <a:noFill/>
                </a:ln>
                <a:solidFill>
                  <a:prstClr val="black"/>
                </a:solidFill>
                <a:effectLst/>
                <a:uLnTx/>
                <a:uFillTx/>
                <a:latin typeface="Franklin Gothic Book" panose="020B0503020102020204"/>
                <a:ea typeface="+mn-ea"/>
                <a:cs typeface="+mn-cs"/>
              </a:rPr>
              <a:t>Tagalog</a:t>
            </a:r>
          </a:p>
        </p:txBody>
      </p:sp>
      <p:sp>
        <p:nvSpPr>
          <p:cNvPr id="26" name="Oval Callout 25">
            <a:extLst>
              <a:ext uri="{FF2B5EF4-FFF2-40B4-BE49-F238E27FC236}">
                <a16:creationId xmlns:a16="http://schemas.microsoft.com/office/drawing/2014/main" id="{DF86DF81-A65F-0059-E55C-D603F2663588}"/>
              </a:ext>
            </a:extLst>
          </p:cNvPr>
          <p:cNvSpPr/>
          <p:nvPr/>
        </p:nvSpPr>
        <p:spPr>
          <a:xfrm>
            <a:off x="7539397" y="4659093"/>
            <a:ext cx="4169184" cy="981433"/>
          </a:xfrm>
          <a:prstGeom prst="wedgeEllipseCallout">
            <a:avLst>
              <a:gd name="adj1" fmla="val -62196"/>
              <a:gd name="adj2" fmla="val -2026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endParaRPr>
          </a:p>
        </p:txBody>
      </p:sp>
      <p:sp>
        <p:nvSpPr>
          <p:cNvPr id="27" name="Cloud Callout 26">
            <a:extLst>
              <a:ext uri="{FF2B5EF4-FFF2-40B4-BE49-F238E27FC236}">
                <a16:creationId xmlns:a16="http://schemas.microsoft.com/office/drawing/2014/main" id="{FACC6385-0BA3-77FD-7B35-57BA1068DAA7}"/>
              </a:ext>
            </a:extLst>
          </p:cNvPr>
          <p:cNvSpPr/>
          <p:nvPr/>
        </p:nvSpPr>
        <p:spPr>
          <a:xfrm>
            <a:off x="7261801" y="2289853"/>
            <a:ext cx="4773621" cy="1733552"/>
          </a:xfrm>
          <a:prstGeom prst="cloudCallout">
            <a:avLst>
              <a:gd name="adj1" fmla="val -48959"/>
              <a:gd name="adj2" fmla="val 63684"/>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Franklin Gothic Book" panose="020B0503020102020204"/>
              <a:ea typeface="+mn-ea"/>
              <a:cs typeface="+mn-cs"/>
            </a:endParaRPr>
          </a:p>
        </p:txBody>
      </p:sp>
      <p:sp>
        <p:nvSpPr>
          <p:cNvPr id="28" name="TextBox 27">
            <a:extLst>
              <a:ext uri="{FF2B5EF4-FFF2-40B4-BE49-F238E27FC236}">
                <a16:creationId xmlns:a16="http://schemas.microsoft.com/office/drawing/2014/main" id="{EC964A83-A9F6-CE95-74B2-5402606AB77F}"/>
              </a:ext>
            </a:extLst>
          </p:cNvPr>
          <p:cNvSpPr txBox="1"/>
          <p:nvPr/>
        </p:nvSpPr>
        <p:spPr>
          <a:xfrm>
            <a:off x="7590640" y="2925541"/>
            <a:ext cx="1144865" cy="33855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Franklin Gothic Book" panose="020B0503020102020204"/>
                <a:ea typeface="+mn-ea"/>
                <a:cs typeface="+mn-cs"/>
              </a:rPr>
              <a:t>REJECTION</a:t>
            </a:r>
          </a:p>
        </p:txBody>
      </p:sp>
      <p:sp>
        <p:nvSpPr>
          <p:cNvPr id="29" name="TextBox 28">
            <a:extLst>
              <a:ext uri="{FF2B5EF4-FFF2-40B4-BE49-F238E27FC236}">
                <a16:creationId xmlns:a16="http://schemas.microsoft.com/office/drawing/2014/main" id="{01FD7931-B79A-5A07-5BDA-85BDB09EA433}"/>
              </a:ext>
            </a:extLst>
          </p:cNvPr>
          <p:cNvSpPr txBox="1"/>
          <p:nvPr/>
        </p:nvSpPr>
        <p:spPr>
          <a:xfrm>
            <a:off x="8289192" y="3228570"/>
            <a:ext cx="1324914" cy="33855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Franklin Gothic Book" panose="020B0503020102020204"/>
                <a:ea typeface="+mn-ea"/>
                <a:cs typeface="+mn-cs"/>
              </a:rPr>
              <a:t>PROHIBITION</a:t>
            </a:r>
          </a:p>
        </p:txBody>
      </p:sp>
      <p:sp>
        <p:nvSpPr>
          <p:cNvPr id="31" name="TextBox 30">
            <a:extLst>
              <a:ext uri="{FF2B5EF4-FFF2-40B4-BE49-F238E27FC236}">
                <a16:creationId xmlns:a16="http://schemas.microsoft.com/office/drawing/2014/main" id="{248B86BA-5953-E9AB-53BA-11EE39D19AF3}"/>
              </a:ext>
            </a:extLst>
          </p:cNvPr>
          <p:cNvSpPr txBox="1"/>
          <p:nvPr/>
        </p:nvSpPr>
        <p:spPr>
          <a:xfrm>
            <a:off x="9173506" y="2796234"/>
            <a:ext cx="1544718" cy="33855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Franklin Gothic Book" panose="020B0503020102020204"/>
                <a:ea typeface="+mn-ea"/>
                <a:cs typeface="+mn-cs"/>
              </a:rPr>
              <a:t>NONEXISTENCE</a:t>
            </a:r>
          </a:p>
        </p:txBody>
      </p:sp>
      <p:sp>
        <p:nvSpPr>
          <p:cNvPr id="32" name="TextBox 31">
            <a:extLst>
              <a:ext uri="{FF2B5EF4-FFF2-40B4-BE49-F238E27FC236}">
                <a16:creationId xmlns:a16="http://schemas.microsoft.com/office/drawing/2014/main" id="{5D94196C-4ABD-4F28-788D-21DDC8302DE5}"/>
              </a:ext>
            </a:extLst>
          </p:cNvPr>
          <p:cNvSpPr txBox="1"/>
          <p:nvPr/>
        </p:nvSpPr>
        <p:spPr>
          <a:xfrm>
            <a:off x="10116728" y="3248771"/>
            <a:ext cx="1077474" cy="33855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600" dirty="0">
                <a:solidFill>
                  <a:prstClr val="black"/>
                </a:solidFill>
                <a:latin typeface="Franklin Gothic Book" panose="020B0503020102020204"/>
              </a:rPr>
              <a:t>NEGATION</a:t>
            </a:r>
          </a:p>
        </p:txBody>
      </p:sp>
      <p:sp>
        <p:nvSpPr>
          <p:cNvPr id="33" name="TextBox 32">
            <a:extLst>
              <a:ext uri="{FF2B5EF4-FFF2-40B4-BE49-F238E27FC236}">
                <a16:creationId xmlns:a16="http://schemas.microsoft.com/office/drawing/2014/main" id="{3A3DBAD6-7EF6-1B1D-3A09-960744E6CE3E}"/>
              </a:ext>
            </a:extLst>
          </p:cNvPr>
          <p:cNvSpPr txBox="1"/>
          <p:nvPr/>
        </p:nvSpPr>
        <p:spPr>
          <a:xfrm>
            <a:off x="7813773" y="4962122"/>
            <a:ext cx="3600666" cy="646331"/>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a:t>
            </a:r>
            <a:r>
              <a:rPr kumimoji="0" lang="en-US" sz="1800" b="0" i="0" u="none" strike="noStrike" kern="1200" cap="none" spc="0" normalizeH="0" baseline="0" noProof="0" dirty="0" err="1">
                <a:ln>
                  <a:noFill/>
                </a:ln>
                <a:solidFill>
                  <a:prstClr val="black"/>
                </a:solidFill>
                <a:effectLst/>
                <a:uLnTx/>
                <a:uFillTx/>
                <a:latin typeface="Franklin Gothic Book" panose="020B0503020102020204"/>
                <a:ea typeface="+mn-ea"/>
                <a:cs typeface="+mn-cs"/>
              </a:rPr>
              <a:t>ayaw</a:t>
            </a: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	“</a:t>
            </a:r>
            <a:r>
              <a:rPr kumimoji="0" lang="en-US" sz="1800" b="0" i="0" u="none" strike="noStrike" kern="1200" cap="none" spc="0" normalizeH="0" baseline="0" noProof="0" dirty="0" err="1">
                <a:ln>
                  <a:noFill/>
                </a:ln>
                <a:solidFill>
                  <a:prstClr val="black"/>
                </a:solidFill>
                <a:effectLst/>
                <a:uLnTx/>
                <a:uFillTx/>
                <a:latin typeface="Franklin Gothic Book" panose="020B0503020102020204"/>
                <a:ea typeface="+mn-ea"/>
                <a:cs typeface="+mn-cs"/>
              </a:rPr>
              <a:t>huwag</a:t>
            </a: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	“</a:t>
            </a:r>
            <a:r>
              <a:rPr kumimoji="0" lang="en-US" sz="1800" b="0" i="0" u="none" strike="noStrike" kern="1200" cap="none" spc="0" normalizeH="0" baseline="0" noProof="0" dirty="0" err="1">
                <a:ln>
                  <a:noFill/>
                </a:ln>
                <a:solidFill>
                  <a:prstClr val="black"/>
                </a:solidFill>
                <a:effectLst/>
                <a:uLnTx/>
                <a:uFillTx/>
                <a:latin typeface="Franklin Gothic Book" panose="020B0503020102020204"/>
                <a:ea typeface="+mn-ea"/>
                <a:cs typeface="+mn-cs"/>
              </a:rPr>
              <a:t>wala</a:t>
            </a: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	“</a:t>
            </a:r>
            <a:r>
              <a:rPr kumimoji="0" lang="en-US" sz="1800" b="0" i="0" u="none" strike="noStrike" kern="1200" cap="none" spc="0" normalizeH="0" baseline="0" noProof="0" dirty="0" err="1">
                <a:ln>
                  <a:noFill/>
                </a:ln>
                <a:solidFill>
                  <a:prstClr val="black"/>
                </a:solidFill>
                <a:effectLst/>
                <a:uLnTx/>
                <a:uFillTx/>
                <a:latin typeface="Franklin Gothic Book" panose="020B0503020102020204"/>
                <a:ea typeface="+mn-ea"/>
                <a:cs typeface="+mn-cs"/>
              </a:rPr>
              <a:t>hindi</a:t>
            </a: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endParaRPr>
          </a:p>
        </p:txBody>
      </p:sp>
      <p:cxnSp>
        <p:nvCxnSpPr>
          <p:cNvPr id="34" name="Straight Arrow Connector 33">
            <a:extLst>
              <a:ext uri="{FF2B5EF4-FFF2-40B4-BE49-F238E27FC236}">
                <a16:creationId xmlns:a16="http://schemas.microsoft.com/office/drawing/2014/main" id="{5F2162C5-EA34-6DA7-0AEE-F9D47B0452D0}"/>
              </a:ext>
            </a:extLst>
          </p:cNvPr>
          <p:cNvCxnSpPr>
            <a:cxnSpLocks/>
          </p:cNvCxnSpPr>
          <p:nvPr/>
        </p:nvCxnSpPr>
        <p:spPr>
          <a:xfrm>
            <a:off x="8133242" y="3297253"/>
            <a:ext cx="62301" cy="1664869"/>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4F1E175B-0088-43A4-C19C-683866FFD7D6}"/>
              </a:ext>
            </a:extLst>
          </p:cNvPr>
          <p:cNvCxnSpPr>
            <a:cxnSpLocks/>
          </p:cNvCxnSpPr>
          <p:nvPr/>
        </p:nvCxnSpPr>
        <p:spPr>
          <a:xfrm>
            <a:off x="8951649" y="3508815"/>
            <a:ext cx="271285" cy="1537222"/>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25779C89-5A40-734C-0481-7F48E0E7DF63}"/>
              </a:ext>
            </a:extLst>
          </p:cNvPr>
          <p:cNvCxnSpPr>
            <a:cxnSpLocks/>
          </p:cNvCxnSpPr>
          <p:nvPr/>
        </p:nvCxnSpPr>
        <p:spPr>
          <a:xfrm>
            <a:off x="9935785" y="3141210"/>
            <a:ext cx="67780" cy="1904827"/>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758937D4-7C6A-C3E0-5501-B726007A2992}"/>
              </a:ext>
            </a:extLst>
          </p:cNvPr>
          <p:cNvCxnSpPr>
            <a:cxnSpLocks/>
          </p:cNvCxnSpPr>
          <p:nvPr/>
        </p:nvCxnSpPr>
        <p:spPr>
          <a:xfrm>
            <a:off x="10685265" y="3567124"/>
            <a:ext cx="303078" cy="1415199"/>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 name="Straight Arrow Connector 2">
            <a:extLst>
              <a:ext uri="{FF2B5EF4-FFF2-40B4-BE49-F238E27FC236}">
                <a16:creationId xmlns:a16="http://schemas.microsoft.com/office/drawing/2014/main" id="{C30F62F2-F457-E776-9E53-D74EEB56B06F}"/>
              </a:ext>
            </a:extLst>
          </p:cNvPr>
          <p:cNvCxnSpPr>
            <a:cxnSpLocks/>
            <a:stCxn id="23" idx="2"/>
          </p:cNvCxnSpPr>
          <p:nvPr/>
        </p:nvCxnSpPr>
        <p:spPr>
          <a:xfrm flipH="1">
            <a:off x="4071046" y="3587325"/>
            <a:ext cx="1481959" cy="1341639"/>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542089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28" grpId="0"/>
      <p:bldP spid="29" grpId="0"/>
      <p:bldP spid="31" grpId="0"/>
      <p:bldP spid="32" grpId="0"/>
      <p:bldP spid="3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5EEE623-DDC9-4607-2E0A-A456836204B4}"/>
              </a:ext>
            </a:extLst>
          </p:cNvPr>
          <p:cNvSpPr txBox="1">
            <a:spLocks/>
          </p:cNvSpPr>
          <p:nvPr/>
        </p:nvSpPr>
        <p:spPr>
          <a:xfrm>
            <a:off x="838200" y="220936"/>
            <a:ext cx="9601200" cy="1485900"/>
          </a:xfrm>
          <a:prstGeom prst="rect">
            <a:avLst/>
          </a:prstGeom>
          <a:ln>
            <a:solidFill>
              <a:schemeClr val="bg1"/>
            </a:solidFill>
          </a:ln>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Data classification</a:t>
            </a:r>
          </a:p>
        </p:txBody>
      </p:sp>
      <p:graphicFrame>
        <p:nvGraphicFramePr>
          <p:cNvPr id="5" name="Content Placeholder 5">
            <a:extLst>
              <a:ext uri="{FF2B5EF4-FFF2-40B4-BE49-F238E27FC236}">
                <a16:creationId xmlns:a16="http://schemas.microsoft.com/office/drawing/2014/main" id="{19E1BA0E-5F0D-35CE-D343-9F0E056E6772}"/>
              </a:ext>
            </a:extLst>
          </p:cNvPr>
          <p:cNvGraphicFramePr>
            <a:graphicFrameLocks/>
          </p:cNvGraphicFramePr>
          <p:nvPr>
            <p:extLst>
              <p:ext uri="{D42A27DB-BD31-4B8C-83A1-F6EECF244321}">
                <p14:modId xmlns:p14="http://schemas.microsoft.com/office/powerpoint/2010/main" val="3658957625"/>
              </p:ext>
            </p:extLst>
          </p:nvPr>
        </p:nvGraphicFramePr>
        <p:xfrm>
          <a:off x="3537175" y="1428750"/>
          <a:ext cx="5355772" cy="4183841"/>
        </p:xfrm>
        <a:graphic>
          <a:graphicData uri="http://schemas.openxmlformats.org/drawingml/2006/table">
            <a:tbl>
              <a:tblPr firstRow="1" bandRow="1">
                <a:tableStyleId>{5C22544A-7EE6-4342-B048-85BDC9FD1C3A}</a:tableStyleId>
              </a:tblPr>
              <a:tblGrid>
                <a:gridCol w="1608536">
                  <a:extLst>
                    <a:ext uri="{9D8B030D-6E8A-4147-A177-3AD203B41FA5}">
                      <a16:colId xmlns:a16="http://schemas.microsoft.com/office/drawing/2014/main" val="2050137776"/>
                    </a:ext>
                  </a:extLst>
                </a:gridCol>
                <a:gridCol w="3747236">
                  <a:extLst>
                    <a:ext uri="{9D8B030D-6E8A-4147-A177-3AD203B41FA5}">
                      <a16:colId xmlns:a16="http://schemas.microsoft.com/office/drawing/2014/main" val="510998999"/>
                    </a:ext>
                  </a:extLst>
                </a:gridCol>
              </a:tblGrid>
              <a:tr h="688666">
                <a:tc>
                  <a:txBody>
                    <a:bodyPr/>
                    <a:lstStyle/>
                    <a:p>
                      <a:pPr algn="ctr"/>
                      <a:r>
                        <a:rPr lang="en-US" dirty="0"/>
                        <a:t>Bloom (1970)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4184507356"/>
                  </a:ext>
                </a:extLst>
              </a:tr>
              <a:tr h="1136349">
                <a:tc>
                  <a:txBody>
                    <a:bodyPr/>
                    <a:lstStyle/>
                    <a:p>
                      <a:pPr algn="ctr"/>
                      <a:r>
                        <a:rPr lang="en-US" dirty="0"/>
                        <a:t>Rejection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t>“Do you want broccoli?” 	“No!”</a:t>
                      </a:r>
                    </a:p>
                    <a:p>
                      <a:r>
                        <a:rPr lang="en-US" sz="1800" dirty="0"/>
                        <a:t>“I don’t want broccoli”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86792020"/>
                  </a:ext>
                </a:extLst>
              </a:tr>
              <a:tr h="1169970">
                <a:tc>
                  <a:txBody>
                    <a:bodyPr/>
                    <a:lstStyle/>
                    <a:p>
                      <a:pPr algn="ctr"/>
                      <a:r>
                        <a:rPr lang="en-US" dirty="0"/>
                        <a:t>Nonexistence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t>”There’s no juice”</a:t>
                      </a:r>
                    </a:p>
                    <a:p>
                      <a:r>
                        <a:rPr lang="en-US" sz="1800" dirty="0"/>
                        <a:t>“Mommy doesn’t have any juice”</a:t>
                      </a:r>
                    </a:p>
                    <a:p>
                      <a:pPr algn="ct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4709833"/>
                  </a:ext>
                </a:extLst>
              </a:tr>
              <a:tr h="1188856">
                <a:tc>
                  <a:txBody>
                    <a:bodyPr/>
                    <a:lstStyle/>
                    <a:p>
                      <a:pPr algn="ctr"/>
                      <a:r>
                        <a:rPr lang="en-US" dirty="0"/>
                        <a:t>Denial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t>“That’s not fire”</a:t>
                      </a:r>
                    </a:p>
                    <a:p>
                      <a:r>
                        <a:rPr lang="en-US" sz="1800" dirty="0"/>
                        <a:t>“I can’t drink water”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73773523"/>
                  </a:ext>
                </a:extLst>
              </a:tr>
            </a:tbl>
          </a:graphicData>
        </a:graphic>
      </p:graphicFrame>
      <p:sp>
        <p:nvSpPr>
          <p:cNvPr id="6" name="Rectangle 5">
            <a:extLst>
              <a:ext uri="{FF2B5EF4-FFF2-40B4-BE49-F238E27FC236}">
                <a16:creationId xmlns:a16="http://schemas.microsoft.com/office/drawing/2014/main" id="{130772D2-E229-B729-1B17-29E88CEE63B9}"/>
              </a:ext>
            </a:extLst>
          </p:cNvPr>
          <p:cNvSpPr/>
          <p:nvPr/>
        </p:nvSpPr>
        <p:spPr>
          <a:xfrm>
            <a:off x="5191127" y="2221707"/>
            <a:ext cx="3495673" cy="94803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A2846D33-16F4-F145-31CC-3BBF60C9094C}"/>
              </a:ext>
            </a:extLst>
          </p:cNvPr>
          <p:cNvSpPr/>
          <p:nvPr/>
        </p:nvSpPr>
        <p:spPr>
          <a:xfrm>
            <a:off x="5191128" y="3291029"/>
            <a:ext cx="3495672" cy="94803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0BF5AAC2-D6AC-6DF7-FA2F-18C1C372157A}"/>
              </a:ext>
            </a:extLst>
          </p:cNvPr>
          <p:cNvSpPr/>
          <p:nvPr/>
        </p:nvSpPr>
        <p:spPr>
          <a:xfrm>
            <a:off x="5191127" y="4546631"/>
            <a:ext cx="3495673" cy="88261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1BED8268-0F47-7947-01EC-74FB1F620ACF}"/>
              </a:ext>
            </a:extLst>
          </p:cNvPr>
          <p:cNvSpPr txBox="1"/>
          <p:nvPr/>
        </p:nvSpPr>
        <p:spPr>
          <a:xfrm>
            <a:off x="2546428" y="5850170"/>
            <a:ext cx="7337267" cy="707886"/>
          </a:xfrm>
          <a:prstGeom prst="rect">
            <a:avLst/>
          </a:prstGeom>
          <a:noFill/>
          <a:ln w="28575">
            <a:solidFill>
              <a:schemeClr val="tx2"/>
            </a:solidFill>
          </a:ln>
        </p:spPr>
        <p:txBody>
          <a:bodyPr wrap="square" rtlCol="0">
            <a:spAutoFit/>
          </a:bodyPr>
          <a:lstStyle/>
          <a:p>
            <a:pPr algn="ctr"/>
            <a:r>
              <a:rPr lang="en-US" sz="2000" b="1" dirty="0"/>
              <a:t>Do expressions of Denial emerge earlier in a language like English or a language like Tagalog?</a:t>
            </a:r>
          </a:p>
        </p:txBody>
      </p:sp>
      <p:sp>
        <p:nvSpPr>
          <p:cNvPr id="10" name="TextBox 9">
            <a:extLst>
              <a:ext uri="{FF2B5EF4-FFF2-40B4-BE49-F238E27FC236}">
                <a16:creationId xmlns:a16="http://schemas.microsoft.com/office/drawing/2014/main" id="{BE50CDCF-13A1-517A-854A-43B2536D97B7}"/>
              </a:ext>
            </a:extLst>
          </p:cNvPr>
          <p:cNvSpPr txBox="1"/>
          <p:nvPr/>
        </p:nvSpPr>
        <p:spPr>
          <a:xfrm>
            <a:off x="970995" y="4778447"/>
            <a:ext cx="1950289" cy="707886"/>
          </a:xfrm>
          <a:prstGeom prst="rect">
            <a:avLst/>
          </a:prstGeom>
          <a:noFill/>
        </p:spPr>
        <p:txBody>
          <a:bodyPr wrap="square" rtlCol="0">
            <a:spAutoFit/>
          </a:bodyPr>
          <a:lstStyle/>
          <a:p>
            <a:r>
              <a:rPr lang="en-US" sz="2000" dirty="0"/>
              <a:t>Proxy for logical negation</a:t>
            </a:r>
          </a:p>
        </p:txBody>
      </p:sp>
      <p:cxnSp>
        <p:nvCxnSpPr>
          <p:cNvPr id="11" name="Straight Arrow Connector 10">
            <a:extLst>
              <a:ext uri="{FF2B5EF4-FFF2-40B4-BE49-F238E27FC236}">
                <a16:creationId xmlns:a16="http://schemas.microsoft.com/office/drawing/2014/main" id="{7F66BF09-7E7B-1D02-6E8D-30EBFABDD56A}"/>
              </a:ext>
            </a:extLst>
          </p:cNvPr>
          <p:cNvCxnSpPr>
            <a:cxnSpLocks/>
          </p:cNvCxnSpPr>
          <p:nvPr/>
        </p:nvCxnSpPr>
        <p:spPr>
          <a:xfrm>
            <a:off x="2830265" y="5030721"/>
            <a:ext cx="669191" cy="0"/>
          </a:xfrm>
          <a:prstGeom prst="straightConnector1">
            <a:avLst/>
          </a:prstGeom>
          <a:ln w="38100">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2" name="Rounded Rectangle 11">
            <a:extLst>
              <a:ext uri="{FF2B5EF4-FFF2-40B4-BE49-F238E27FC236}">
                <a16:creationId xmlns:a16="http://schemas.microsoft.com/office/drawing/2014/main" id="{AE3D592D-8BEA-B6EC-9E64-99D30B7A798D}"/>
              </a:ext>
            </a:extLst>
          </p:cNvPr>
          <p:cNvSpPr/>
          <p:nvPr/>
        </p:nvSpPr>
        <p:spPr>
          <a:xfrm>
            <a:off x="3499456" y="4538299"/>
            <a:ext cx="5632163" cy="948034"/>
          </a:xfrm>
          <a:prstGeom prst="roundRect">
            <a:avLst>
              <a:gd name="adj" fmla="val 50000"/>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688957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p:bldP spid="1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92128C-F864-BAF5-151F-D86B9C94BC5B}"/>
              </a:ext>
            </a:extLst>
          </p:cNvPr>
          <p:cNvSpPr>
            <a:spLocks noGrp="1"/>
          </p:cNvSpPr>
          <p:nvPr>
            <p:ph type="title"/>
          </p:nvPr>
        </p:nvSpPr>
        <p:spPr/>
        <p:txBody>
          <a:bodyPr/>
          <a:lstStyle/>
          <a:p>
            <a:r>
              <a:rPr lang="en-US" dirty="0"/>
              <a:t>Human coded data</a:t>
            </a:r>
          </a:p>
        </p:txBody>
      </p:sp>
      <p:sp>
        <p:nvSpPr>
          <p:cNvPr id="3" name="Content Placeholder 2">
            <a:extLst>
              <a:ext uri="{FF2B5EF4-FFF2-40B4-BE49-F238E27FC236}">
                <a16:creationId xmlns:a16="http://schemas.microsoft.com/office/drawing/2014/main" id="{463FC9EE-38D4-1706-3EC9-80CCC890B58D}"/>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3916187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BF3591-2671-1D8B-63DB-1E33A6B16DB4}"/>
              </a:ext>
            </a:extLst>
          </p:cNvPr>
          <p:cNvSpPr>
            <a:spLocks noGrp="1"/>
          </p:cNvSpPr>
          <p:nvPr>
            <p:ph type="title"/>
          </p:nvPr>
        </p:nvSpPr>
        <p:spPr/>
        <p:txBody>
          <a:bodyPr/>
          <a:lstStyle/>
          <a:p>
            <a:r>
              <a:rPr lang="en-US" dirty="0"/>
              <a:t>Inter-coder reliability – theoretical ceiling</a:t>
            </a:r>
          </a:p>
        </p:txBody>
      </p:sp>
      <p:sp>
        <p:nvSpPr>
          <p:cNvPr id="3" name="Content Placeholder 2">
            <a:extLst>
              <a:ext uri="{FF2B5EF4-FFF2-40B4-BE49-F238E27FC236}">
                <a16:creationId xmlns:a16="http://schemas.microsoft.com/office/drawing/2014/main" id="{0D0B234E-6BD6-3532-442C-D803EB79A492}"/>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4282258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Coding pipeline</a:t>
            </a:r>
          </a:p>
        </p:txBody>
      </p:sp>
      <p:sp>
        <p:nvSpPr>
          <p:cNvPr id="10" name="Box 10"/>
          <p:cNvSpPr/>
          <p:nvPr/>
        </p:nvSpPr>
        <p:spPr>
          <a:xfrm>
            <a:off x="998140" y="1700000"/>
            <a:ext cx="3063240" cy="1150000"/>
          </a:xfrm>
          <a:prstGeom prst="roundRect">
            <a:avLst>
              <a:gd name="adj" fmla="val 8000"/>
            </a:avLst>
          </a:prstGeom>
          <a:solidFill>
            <a:srgbClr val="156082"/>
          </a:solidFill>
          <a:ln w="0">
            <a:noFill/>
          </a:ln>
          <a:effectLst>
            <a:outerShdw blurRad="40000" dist="20000" dir="5400000" rotWithShape="0">
              <a:srgbClr val="000000">
                <a:alpha val="22000"/>
              </a:srgbClr>
            </a:outerShdw>
          </a:effectLst>
        </p:spPr>
        <p:txBody>
          <a:bodyPr rtlCol="0" anchor="ctr">
            <a:normAutofit/>
          </a:bodyPr>
          <a:lstStyle/>
          <a:p>
            <a:pPr algn="ctr"/>
            <a:r>
              <a:rPr lang="en-US" sz="1500" b="1" dirty="0">
                <a:solidFill>
                  <a:srgbClr val="FFFFFF"/>
                </a:solidFill>
              </a:rPr>
              <a:t>Transcripts + human coding</a:t>
            </a:r>
          </a:p>
          <a:p>
            <a:pPr algn="ctr"/>
            <a:r>
              <a:rPr lang="en-US" sz="1050" dirty="0">
                <a:solidFill>
                  <a:srgbClr val="FFFFFF"/>
                </a:solidFill>
              </a:rPr>
              <a:t>child–caregiver corpora · 2 coders</a:t>
            </a:r>
          </a:p>
        </p:txBody>
      </p:sp>
      <p:sp>
        <p:nvSpPr>
          <p:cNvPr id="11" name="Box 11"/>
          <p:cNvSpPr/>
          <p:nvPr/>
        </p:nvSpPr>
        <p:spPr>
          <a:xfrm>
            <a:off x="4564380" y="1700000"/>
            <a:ext cx="3063240" cy="1150000"/>
          </a:xfrm>
          <a:prstGeom prst="roundRect">
            <a:avLst>
              <a:gd name="adj" fmla="val 8000"/>
            </a:avLst>
          </a:prstGeom>
          <a:solidFill>
            <a:srgbClr val="156082"/>
          </a:solidFill>
          <a:ln w="0">
            <a:noFill/>
          </a:ln>
          <a:effectLst>
            <a:outerShdw blurRad="40000" dist="20000" dir="5400000" rotWithShape="0">
              <a:srgbClr val="000000">
                <a:alpha val="22000"/>
              </a:srgbClr>
            </a:outerShdw>
          </a:effectLst>
        </p:spPr>
        <p:txBody>
          <a:bodyPr rtlCol="0" anchor="ctr">
            <a:normAutofit/>
          </a:bodyPr>
          <a:lstStyle/>
          <a:p>
            <a:pPr algn="ctr"/>
            <a:r>
              <a:rPr lang="en-US" sz="1500" b="1" dirty="0">
                <a:solidFill>
                  <a:srgbClr val="FFFFFF"/>
                </a:solidFill>
              </a:rPr>
              <a:t>Build token dataset</a:t>
            </a:r>
          </a:p>
          <a:p>
            <a:pPr algn="ctr"/>
            <a:r>
              <a:rPr lang="en-US" sz="1050" dirty="0">
                <a:solidFill>
                  <a:srgbClr val="FFFFFF"/>
                </a:solidFill>
              </a:rPr>
              <a:t>9,628 negator tokens + context</a:t>
            </a:r>
          </a:p>
        </p:txBody>
      </p:sp>
      <p:sp>
        <p:nvSpPr>
          <p:cNvPr id="12" name="Box 12"/>
          <p:cNvSpPr/>
          <p:nvPr/>
        </p:nvSpPr>
        <p:spPr>
          <a:xfrm>
            <a:off x="8130620" y="1700000"/>
            <a:ext cx="3063240" cy="1150000"/>
          </a:xfrm>
          <a:prstGeom prst="roundRect">
            <a:avLst>
              <a:gd name="adj" fmla="val 8000"/>
            </a:avLst>
          </a:prstGeom>
          <a:solidFill>
            <a:srgbClr val="156082"/>
          </a:solidFill>
          <a:ln w="0">
            <a:noFill/>
          </a:ln>
          <a:effectLst>
            <a:outerShdw blurRad="40000" dist="20000" dir="5400000" rotWithShape="0">
              <a:srgbClr val="000000">
                <a:alpha val="22000"/>
              </a:srgbClr>
            </a:outerShdw>
          </a:effectLst>
        </p:spPr>
        <p:txBody>
          <a:bodyPr rtlCol="0" anchor="ctr">
            <a:normAutofit/>
          </a:bodyPr>
          <a:lstStyle/>
          <a:p>
            <a:pPr algn="ctr"/>
            <a:r>
              <a:rPr lang="en-US" sz="1500" b="1" dirty="0">
                <a:solidFill>
                  <a:srgbClr val="FFFFFF"/>
                </a:solidFill>
              </a:rPr>
              <a:t>Evaluation splits</a:t>
            </a:r>
          </a:p>
          <a:p>
            <a:pPr algn="ctr"/>
            <a:r>
              <a:rPr lang="en-US" sz="1050" dirty="0">
                <a:solidFill>
                  <a:srgbClr val="FFFFFF"/>
                </a:solidFill>
              </a:rPr>
              <a:t>dev_train · dev_check · test_lockbox</a:t>
            </a:r>
          </a:p>
        </p:txBody>
      </p:sp>
      <p:sp>
        <p:nvSpPr>
          <p:cNvPr id="13" name="Box 13"/>
          <p:cNvSpPr/>
          <p:nvPr/>
        </p:nvSpPr>
        <p:spPr>
          <a:xfrm>
            <a:off x="8130620" y="4350000"/>
            <a:ext cx="3063240" cy="1150000"/>
          </a:xfrm>
          <a:prstGeom prst="roundRect">
            <a:avLst>
              <a:gd name="adj" fmla="val 8000"/>
            </a:avLst>
          </a:prstGeom>
          <a:solidFill>
            <a:srgbClr val="E97132"/>
          </a:solidFill>
          <a:ln w="0">
            <a:noFill/>
          </a:ln>
          <a:effectLst>
            <a:outerShdw blurRad="40000" dist="20000" dir="5400000" rotWithShape="0">
              <a:srgbClr val="000000">
                <a:alpha val="22000"/>
              </a:srgbClr>
            </a:outerShdw>
          </a:effectLst>
        </p:spPr>
        <p:txBody>
          <a:bodyPr rtlCol="0" anchor="ctr">
            <a:normAutofit/>
          </a:bodyPr>
          <a:lstStyle/>
          <a:p>
            <a:pPr algn="ctr"/>
            <a:r>
              <a:rPr lang="en-US" sz="1500" b="1" dirty="0">
                <a:solidFill>
                  <a:srgbClr val="FFFFFF"/>
                </a:solidFill>
              </a:rPr>
              <a:t>LLM coding</a:t>
            </a:r>
          </a:p>
          <a:p>
            <a:pPr algn="ctr"/>
            <a:r>
              <a:rPr lang="en-US" sz="1050" dirty="0">
                <a:solidFill>
                  <a:srgbClr val="FFFFFF"/>
                </a:solidFill>
              </a:rPr>
              <a:t>gemma4:31b · prompt + policy + schema</a:t>
            </a:r>
          </a:p>
        </p:txBody>
      </p:sp>
      <p:sp>
        <p:nvSpPr>
          <p:cNvPr id="14" name="Box 14"/>
          <p:cNvSpPr/>
          <p:nvPr/>
        </p:nvSpPr>
        <p:spPr>
          <a:xfrm>
            <a:off x="4564380" y="4350000"/>
            <a:ext cx="3063240" cy="1150000"/>
          </a:xfrm>
          <a:prstGeom prst="roundRect">
            <a:avLst>
              <a:gd name="adj" fmla="val 8000"/>
            </a:avLst>
          </a:prstGeom>
          <a:solidFill>
            <a:srgbClr val="0F9ED5"/>
          </a:solidFill>
          <a:ln w="0">
            <a:noFill/>
          </a:ln>
          <a:effectLst>
            <a:outerShdw blurRad="40000" dist="20000" dir="5400000" rotWithShape="0">
              <a:srgbClr val="000000">
                <a:alpha val="22000"/>
              </a:srgbClr>
            </a:outerShdw>
          </a:effectLst>
        </p:spPr>
        <p:txBody>
          <a:bodyPr rtlCol="0" anchor="ctr">
            <a:normAutofit/>
          </a:bodyPr>
          <a:lstStyle/>
          <a:p>
            <a:pPr algn="ctr"/>
            <a:r>
              <a:rPr lang="en-US" sz="1500" b="1" dirty="0">
                <a:solidFill>
                  <a:srgbClr val="FFFFFF"/>
                </a:solidFill>
              </a:rPr>
              <a:t>Validated JSON output</a:t>
            </a:r>
          </a:p>
          <a:p>
            <a:pPr algn="ctr"/>
            <a:r>
              <a:rPr lang="en-US" sz="1050" dirty="0">
                <a:solidFill>
                  <a:srgbClr val="FFFFFF"/>
                </a:solidFill>
              </a:rPr>
              <a:t>Bloom label + 6 flags per token</a:t>
            </a:r>
          </a:p>
        </p:txBody>
      </p:sp>
      <p:sp>
        <p:nvSpPr>
          <p:cNvPr id="15" name="Box 15"/>
          <p:cNvSpPr/>
          <p:nvPr/>
        </p:nvSpPr>
        <p:spPr>
          <a:xfrm>
            <a:off x="998140" y="4350000"/>
            <a:ext cx="3063240" cy="1150000"/>
          </a:xfrm>
          <a:prstGeom prst="roundRect">
            <a:avLst>
              <a:gd name="adj" fmla="val 8000"/>
            </a:avLst>
          </a:prstGeom>
          <a:solidFill>
            <a:srgbClr val="196B24"/>
          </a:solidFill>
          <a:ln w="0">
            <a:noFill/>
          </a:ln>
          <a:effectLst>
            <a:outerShdw blurRad="40000" dist="20000" dir="5400000" rotWithShape="0">
              <a:srgbClr val="000000">
                <a:alpha val="22000"/>
              </a:srgbClr>
            </a:outerShdw>
          </a:effectLst>
        </p:spPr>
        <p:txBody>
          <a:bodyPr rtlCol="0" anchor="ctr">
            <a:normAutofit/>
          </a:bodyPr>
          <a:lstStyle/>
          <a:p>
            <a:pPr algn="ctr"/>
            <a:r>
              <a:rPr lang="en-US" sz="1500" b="1" dirty="0">
                <a:solidFill>
                  <a:srgbClr val="FFFFFF"/>
                </a:solidFill>
              </a:rPr>
              <a:t>Score vs. humans</a:t>
            </a:r>
          </a:p>
          <a:p>
            <a:pPr algn="ctr"/>
            <a:r>
              <a:rPr lang="en-US" sz="1050" dirty="0">
                <a:solidFill>
                  <a:srgbClr val="FFFFFF"/>
                </a:solidFill>
              </a:rPr>
              <a:t>agreement % · Cohen’s κ</a:t>
            </a:r>
          </a:p>
        </p:txBody>
      </p:sp>
      <p:cxnSp>
        <p:nvCxnSpPr>
          <p:cNvPr id="20" name="Arrow 20"/>
          <p:cNvCxnSpPr/>
          <p:nvPr/>
        </p:nvCxnSpPr>
        <p:spPr>
          <a:xfrm>
            <a:off x="4061380" y="2275000"/>
            <a:ext cx="503000" cy="0"/>
          </a:xfrm>
          <a:prstGeom prst="straightConnector1">
            <a:avLst/>
          </a:prstGeom>
          <a:ln w="28575" cap="rnd">
            <a:solidFill>
              <a:srgbClr val="0E2841"/>
            </a:solidFill>
            <a:tailEnd type="triangle" w="med" len="med"/>
          </a:ln>
        </p:spPr>
      </p:cxnSp>
      <p:cxnSp>
        <p:nvCxnSpPr>
          <p:cNvPr id="21" name="Arrow 21"/>
          <p:cNvCxnSpPr/>
          <p:nvPr/>
        </p:nvCxnSpPr>
        <p:spPr>
          <a:xfrm>
            <a:off x="7627620" y="2275000"/>
            <a:ext cx="503000" cy="0"/>
          </a:xfrm>
          <a:prstGeom prst="straightConnector1">
            <a:avLst/>
          </a:prstGeom>
          <a:ln w="28575" cap="rnd">
            <a:solidFill>
              <a:srgbClr val="0E2841"/>
            </a:solidFill>
            <a:tailEnd type="triangle" w="med" len="med"/>
          </a:ln>
        </p:spPr>
      </p:cxnSp>
      <p:cxnSp>
        <p:nvCxnSpPr>
          <p:cNvPr id="22" name="Arrow 22"/>
          <p:cNvCxnSpPr/>
          <p:nvPr/>
        </p:nvCxnSpPr>
        <p:spPr>
          <a:xfrm>
            <a:off x="9662240" y="2850000"/>
            <a:ext cx="0" cy="1500000"/>
          </a:xfrm>
          <a:prstGeom prst="straightConnector1">
            <a:avLst/>
          </a:prstGeom>
          <a:ln w="28575" cap="rnd">
            <a:solidFill>
              <a:srgbClr val="0E2841"/>
            </a:solidFill>
            <a:tailEnd type="triangle" w="med" len="med"/>
          </a:ln>
        </p:spPr>
      </p:cxnSp>
      <p:cxnSp>
        <p:nvCxnSpPr>
          <p:cNvPr id="23" name="Arrow 23"/>
          <p:cNvCxnSpPr/>
          <p:nvPr/>
        </p:nvCxnSpPr>
        <p:spPr>
          <a:xfrm flipH="1">
            <a:off x="7627620" y="4925000"/>
            <a:ext cx="503000" cy="0"/>
          </a:xfrm>
          <a:prstGeom prst="straightConnector1">
            <a:avLst/>
          </a:prstGeom>
          <a:ln w="28575" cap="rnd">
            <a:solidFill>
              <a:srgbClr val="0E2841"/>
            </a:solidFill>
            <a:tailEnd type="triangle" w="med" len="med"/>
          </a:ln>
        </p:spPr>
      </p:cxnSp>
      <p:cxnSp>
        <p:nvCxnSpPr>
          <p:cNvPr id="24" name="Arrow 24"/>
          <p:cNvCxnSpPr/>
          <p:nvPr/>
        </p:nvCxnSpPr>
        <p:spPr>
          <a:xfrm flipH="1">
            <a:off x="4061380" y="4925000"/>
            <a:ext cx="503000" cy="0"/>
          </a:xfrm>
          <a:prstGeom prst="straightConnector1">
            <a:avLst/>
          </a:prstGeom>
          <a:ln w="28575" cap="rnd">
            <a:solidFill>
              <a:srgbClr val="0E2841"/>
            </a:solidFill>
            <a:tailEnd type="triangle" w="med" len="med"/>
          </a:ln>
        </p:spPr>
      </p:cxnSp>
      <p:sp>
        <p:nvSpPr>
          <p:cNvPr id="30" name="Feedback loop"/>
          <p:cNvSpPr/>
          <p:nvPr/>
        </p:nvSpPr>
        <p:spPr>
          <a:xfrm>
            <a:off x="2529760" y="5500000"/>
            <a:ext cx="7132480" cy="600000"/>
          </a:xfrm>
          <a:custGeom>
            <a:avLst/>
            <a:gdLst/>
            <a:ahLst/>
            <a:cxnLst/>
            <a:rect l="0" t="0" r="7132480" b="600000"/>
            <a:pathLst>
              <a:path w="7132480" h="600000">
                <a:moveTo>
                  <a:pt x="0" y="0"/>
                </a:moveTo>
                <a:lnTo>
                  <a:pt x="0" y="600000"/>
                </a:lnTo>
                <a:lnTo>
                  <a:pt x="7132480" y="600000"/>
                </a:lnTo>
                <a:lnTo>
                  <a:pt x="7132480" y="0"/>
                </a:lnTo>
              </a:path>
            </a:pathLst>
          </a:custGeom>
          <a:noFill/>
          <a:ln w="22225" cap="rnd">
            <a:solidFill>
              <a:srgbClr val="E97132"/>
            </a:solidFill>
            <a:prstDash val="dash"/>
            <a:tailEnd type="triangle" w="med" len="med"/>
          </a:ln>
        </p:spPr>
        <p:txBody>
          <a:bodyPr/>
          <a:lstStyle/>
          <a:p>
            <a:endParaRPr lang="en-US"/>
          </a:p>
        </p:txBody>
      </p:sp>
      <p:sp>
        <p:nvSpPr>
          <p:cNvPr id="31" name="Feedback label"/>
          <p:cNvSpPr/>
          <p:nvPr/>
        </p:nvSpPr>
        <p:spPr>
          <a:xfrm>
            <a:off x="3186000" y="5900000"/>
            <a:ext cx="5820000" cy="400000"/>
          </a:xfrm>
          <a:prstGeom prst="rect">
            <a:avLst/>
          </a:prstGeom>
          <a:solidFill>
            <a:srgbClr val="FFFFFF"/>
          </a:solidFill>
          <a:ln>
            <a:noFill/>
          </a:ln>
        </p:spPr>
        <p:txBody>
          <a:bodyPr lIns="36000" tIns="0" rIns="36000" bIns="0" rtlCol="0" anchor="ctr">
            <a:noAutofit/>
          </a:bodyPr>
          <a:lstStyle/>
          <a:p>
            <a:pPr algn="ctr"/>
            <a:r>
              <a:rPr lang="en-US" sz="1150" b="1" dirty="0">
                <a:solidFill>
                  <a:srgbClr val="E97132"/>
                </a:solidFill>
              </a:rPr>
              <a:t>error analysis → revise prompt &amp; policy</a:t>
            </a:r>
            <a:r>
              <a:rPr lang="en-US" sz="1150" dirty="0">
                <a:solidFill>
                  <a:srgbClr val="595959"/>
                </a:solidFill>
              </a:rPr>
              <a:t>   (v1 → v2 → v3)</a:t>
            </a:r>
          </a:p>
        </p:txBody>
      </p:sp>
    </p:spTree>
    <p:extLst>
      <p:ext uri="{BB962C8B-B14F-4D97-AF65-F5344CB8AC3E}">
        <p14:creationId xmlns:p14="http://schemas.microsoft.com/office/powerpoint/2010/main" val="16951388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A814C-E4F7-6205-148C-A7A5A668DBEF}"/>
              </a:ext>
            </a:extLst>
          </p:cNvPr>
          <p:cNvSpPr>
            <a:spLocks noGrp="1"/>
          </p:cNvSpPr>
          <p:nvPr>
            <p:ph type="title"/>
          </p:nvPr>
        </p:nvSpPr>
        <p:spPr>
          <a:xfrm>
            <a:off x="-21335" y="23304"/>
            <a:ext cx="10515600" cy="1325563"/>
          </a:xfrm>
        </p:spPr>
        <p:txBody>
          <a:bodyPr>
            <a:normAutofit/>
          </a:bodyPr>
          <a:lstStyle/>
          <a:p>
            <a:r>
              <a:rPr lang="en-US" sz="3200" dirty="0"/>
              <a:t>Prompt</a:t>
            </a:r>
            <a:br>
              <a:rPr lang="en-US" sz="3200" dirty="0"/>
            </a:br>
            <a:r>
              <a:rPr lang="en-US" sz="3200" dirty="0"/>
              <a:t>v1</a:t>
            </a:r>
          </a:p>
        </p:txBody>
      </p:sp>
      <p:sp>
        <p:nvSpPr>
          <p:cNvPr id="3" name="Content Placeholder 2">
            <a:extLst>
              <a:ext uri="{FF2B5EF4-FFF2-40B4-BE49-F238E27FC236}">
                <a16:creationId xmlns:a16="http://schemas.microsoft.com/office/drawing/2014/main" id="{8021EBB6-B5F8-A2D5-E402-88D78555E814}"/>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C64E6CEB-BDB7-7B78-994C-E2B5CA2B0B06}"/>
              </a:ext>
            </a:extLst>
          </p:cNvPr>
          <p:cNvPicPr>
            <a:picLocks noChangeAspect="1"/>
          </p:cNvPicPr>
          <p:nvPr/>
        </p:nvPicPr>
        <p:blipFill>
          <a:blip r:embed="rId2"/>
          <a:stretch>
            <a:fillRect/>
          </a:stretch>
        </p:blipFill>
        <p:spPr>
          <a:xfrm>
            <a:off x="1788333" y="157956"/>
            <a:ext cx="10403667" cy="6542088"/>
          </a:xfrm>
          <a:prstGeom prst="rect">
            <a:avLst/>
          </a:prstGeom>
        </p:spPr>
      </p:pic>
    </p:spTree>
    <p:extLst>
      <p:ext uri="{BB962C8B-B14F-4D97-AF65-F5344CB8AC3E}">
        <p14:creationId xmlns:p14="http://schemas.microsoft.com/office/powerpoint/2010/main" val="42054225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B1A1F-3D08-EC2B-224E-E013D1388A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03C84B-E79D-9315-A94C-CD39A2B3385A}"/>
              </a:ext>
            </a:extLst>
          </p:cNvPr>
          <p:cNvSpPr>
            <a:spLocks noGrp="1"/>
          </p:cNvSpPr>
          <p:nvPr>
            <p:ph type="title"/>
          </p:nvPr>
        </p:nvSpPr>
        <p:spPr>
          <a:xfrm>
            <a:off x="-21335" y="23304"/>
            <a:ext cx="10515600" cy="1325563"/>
          </a:xfrm>
        </p:spPr>
        <p:txBody>
          <a:bodyPr>
            <a:normAutofit/>
          </a:bodyPr>
          <a:lstStyle/>
          <a:p>
            <a:r>
              <a:rPr lang="en-US" sz="3200" dirty="0"/>
              <a:t>Prompt</a:t>
            </a:r>
            <a:br>
              <a:rPr lang="en-US" sz="3200" dirty="0"/>
            </a:br>
            <a:r>
              <a:rPr lang="en-US" sz="3200" dirty="0"/>
              <a:t>v1</a:t>
            </a:r>
          </a:p>
        </p:txBody>
      </p:sp>
      <p:sp>
        <p:nvSpPr>
          <p:cNvPr id="3" name="Content Placeholder 2">
            <a:extLst>
              <a:ext uri="{FF2B5EF4-FFF2-40B4-BE49-F238E27FC236}">
                <a16:creationId xmlns:a16="http://schemas.microsoft.com/office/drawing/2014/main" id="{4EE37135-F675-4C06-B57F-B30C84641AC5}"/>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0C8FC2A7-B273-F66A-9FB2-622C4C1358D5}"/>
              </a:ext>
            </a:extLst>
          </p:cNvPr>
          <p:cNvPicPr>
            <a:picLocks noChangeAspect="1"/>
          </p:cNvPicPr>
          <p:nvPr/>
        </p:nvPicPr>
        <p:blipFill>
          <a:blip r:embed="rId2"/>
          <a:srcRect/>
          <a:stretch/>
        </p:blipFill>
        <p:spPr>
          <a:xfrm>
            <a:off x="2885483" y="157956"/>
            <a:ext cx="8209367" cy="6542088"/>
          </a:xfrm>
          <a:prstGeom prst="rect">
            <a:avLst/>
          </a:prstGeom>
        </p:spPr>
      </p:pic>
    </p:spTree>
    <p:extLst>
      <p:ext uri="{BB962C8B-B14F-4D97-AF65-F5344CB8AC3E}">
        <p14:creationId xmlns:p14="http://schemas.microsoft.com/office/powerpoint/2010/main" val="10557374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B368BE-B5F4-639A-20DD-4E0467E9E7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5ED362-075F-49C4-E206-6EC3BDE47E6F}"/>
              </a:ext>
            </a:extLst>
          </p:cNvPr>
          <p:cNvSpPr>
            <a:spLocks noGrp="1"/>
          </p:cNvSpPr>
          <p:nvPr>
            <p:ph type="title"/>
          </p:nvPr>
        </p:nvSpPr>
        <p:spPr>
          <a:xfrm>
            <a:off x="-21335" y="23304"/>
            <a:ext cx="10515600" cy="1325563"/>
          </a:xfrm>
        </p:spPr>
        <p:txBody>
          <a:bodyPr>
            <a:normAutofit/>
          </a:bodyPr>
          <a:lstStyle/>
          <a:p>
            <a:r>
              <a:rPr lang="en-US" sz="3200" dirty="0"/>
              <a:t>Prompt</a:t>
            </a:r>
            <a:br>
              <a:rPr lang="en-US" sz="3200" dirty="0"/>
            </a:br>
            <a:r>
              <a:rPr lang="en-US" sz="3200" dirty="0"/>
              <a:t>v1</a:t>
            </a:r>
          </a:p>
        </p:txBody>
      </p:sp>
      <p:sp>
        <p:nvSpPr>
          <p:cNvPr id="3" name="Content Placeholder 2">
            <a:extLst>
              <a:ext uri="{FF2B5EF4-FFF2-40B4-BE49-F238E27FC236}">
                <a16:creationId xmlns:a16="http://schemas.microsoft.com/office/drawing/2014/main" id="{E14BBF59-C3FC-2DDF-AC9C-E6ADCBBC39F5}"/>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E7484B72-DD65-9ADA-9AD3-E0C9AFB28ACC}"/>
              </a:ext>
            </a:extLst>
          </p:cNvPr>
          <p:cNvPicPr>
            <a:picLocks noChangeAspect="1"/>
          </p:cNvPicPr>
          <p:nvPr/>
        </p:nvPicPr>
        <p:blipFill>
          <a:blip r:embed="rId2"/>
          <a:srcRect/>
          <a:stretch/>
        </p:blipFill>
        <p:spPr>
          <a:xfrm>
            <a:off x="1863530" y="157956"/>
            <a:ext cx="10253272" cy="6542088"/>
          </a:xfrm>
          <a:prstGeom prst="rect">
            <a:avLst/>
          </a:prstGeom>
        </p:spPr>
      </p:pic>
    </p:spTree>
    <p:extLst>
      <p:ext uri="{BB962C8B-B14F-4D97-AF65-F5344CB8AC3E}">
        <p14:creationId xmlns:p14="http://schemas.microsoft.com/office/powerpoint/2010/main" val="10033558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A814C-E4F7-6205-148C-A7A5A668DBEF}"/>
              </a:ext>
            </a:extLst>
          </p:cNvPr>
          <p:cNvSpPr>
            <a:spLocks noGrp="1"/>
          </p:cNvSpPr>
          <p:nvPr>
            <p:ph type="title"/>
          </p:nvPr>
        </p:nvSpPr>
        <p:spPr>
          <a:xfrm>
            <a:off x="-21335" y="23304"/>
            <a:ext cx="10515600" cy="1325563"/>
          </a:xfrm>
        </p:spPr>
        <p:txBody>
          <a:bodyPr>
            <a:normAutofit/>
          </a:bodyPr>
          <a:lstStyle/>
          <a:p>
            <a:r>
              <a:rPr lang="en-US" sz="3200" dirty="0"/>
              <a:t>Examples</a:t>
            </a:r>
            <a:br>
              <a:rPr lang="en-US" sz="3200" dirty="0"/>
            </a:br>
            <a:r>
              <a:rPr lang="en-US" sz="3200" dirty="0"/>
              <a:t>v1</a:t>
            </a:r>
          </a:p>
        </p:txBody>
      </p:sp>
      <p:sp>
        <p:nvSpPr>
          <p:cNvPr id="3" name="Content Placeholder 2">
            <a:extLst>
              <a:ext uri="{FF2B5EF4-FFF2-40B4-BE49-F238E27FC236}">
                <a16:creationId xmlns:a16="http://schemas.microsoft.com/office/drawing/2014/main" id="{8021EBB6-B5F8-A2D5-E402-88D78555E814}"/>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C64E6CEB-BDB7-7B78-994C-E2B5CA2B0B06}"/>
              </a:ext>
            </a:extLst>
          </p:cNvPr>
          <p:cNvPicPr>
            <a:picLocks noChangeAspect="1"/>
          </p:cNvPicPr>
          <p:nvPr/>
        </p:nvPicPr>
        <p:blipFill>
          <a:blip r:embed="rId2"/>
          <a:stretch>
            <a:fillRect/>
          </a:stretch>
        </p:blipFill>
        <p:spPr>
          <a:xfrm>
            <a:off x="2850396" y="250000"/>
            <a:ext cx="8241208" cy="6408000"/>
          </a:xfrm>
          <a:prstGeom prst="rect">
            <a:avLst/>
          </a:prstGeom>
        </p:spPr>
      </p:pic>
    </p:spTree>
    <p:extLst>
      <p:ext uri="{BB962C8B-B14F-4D97-AF65-F5344CB8AC3E}">
        <p14:creationId xmlns:p14="http://schemas.microsoft.com/office/powerpoint/2010/main" val="42054225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BD581D-FCCD-9F7B-40F1-514C84088C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E1ECB8-946F-D1E3-7EF1-D18D9E6DC2DA}"/>
              </a:ext>
            </a:extLst>
          </p:cNvPr>
          <p:cNvSpPr>
            <a:spLocks noGrp="1"/>
          </p:cNvSpPr>
          <p:nvPr>
            <p:ph type="title"/>
          </p:nvPr>
        </p:nvSpPr>
        <p:spPr>
          <a:xfrm>
            <a:off x="206529" y="-95966"/>
            <a:ext cx="12100000" cy="877844"/>
          </a:xfrm>
        </p:spPr>
        <p:txBody>
          <a:bodyPr>
            <a:normAutofit/>
          </a:bodyPr>
          <a:lstStyle/>
          <a:p>
            <a:r>
              <a:rPr lang="en-US" sz="2400" dirty="0"/>
              <a:t>LLM–human agreement across versions</a:t>
            </a:r>
          </a:p>
        </p:txBody>
      </p:sp>
      <p:pic>
        <p:nvPicPr>
          <p:cNvPr id="3" name="Picture 2">
            <a:extLst>
              <a:ext uri="{FF2B5EF4-FFF2-40B4-BE49-F238E27FC236}">
                <a16:creationId xmlns:a16="http://schemas.microsoft.com/office/drawing/2014/main" id="{4D62E108-524D-09CA-D284-E004580E3B9B}"/>
              </a:ext>
            </a:extLst>
          </p:cNvPr>
          <p:cNvPicPr>
            <a:picLocks noChangeAspect="1"/>
          </p:cNvPicPr>
          <p:nvPr/>
        </p:nvPicPr>
        <p:blipFill>
          <a:blip r:embed="rId3"/>
          <a:srcRect/>
          <a:stretch/>
        </p:blipFill>
        <p:spPr>
          <a:xfrm>
            <a:off x="113335" y="1022043"/>
            <a:ext cx="11821987" cy="5788793"/>
          </a:xfrm>
          <a:prstGeom prst="rect">
            <a:avLst/>
          </a:prstGeom>
        </p:spPr>
      </p:pic>
      <p:pic>
        <p:nvPicPr>
          <p:cNvPr id="6" name="Picture 5">
            <a:extLst>
              <a:ext uri="{FF2B5EF4-FFF2-40B4-BE49-F238E27FC236}">
                <a16:creationId xmlns:a16="http://schemas.microsoft.com/office/drawing/2014/main" id="{848693FE-EC28-0E8D-E4CA-EC7EA787627B}"/>
              </a:ext>
            </a:extLst>
          </p:cNvPr>
          <p:cNvPicPr>
            <a:picLocks noChangeAspect="1"/>
          </p:cNvPicPr>
          <p:nvPr/>
        </p:nvPicPr>
        <p:blipFill>
          <a:blip r:embed="rId4"/>
          <a:stretch>
            <a:fillRect/>
          </a:stretch>
        </p:blipFill>
        <p:spPr>
          <a:xfrm>
            <a:off x="9568069" y="1176134"/>
            <a:ext cx="2017643" cy="5044108"/>
          </a:xfrm>
          <a:prstGeom prst="rect">
            <a:avLst/>
          </a:prstGeom>
        </p:spPr>
      </p:pic>
      <p:sp>
        <p:nvSpPr>
          <p:cNvPr id="7" name="Rectangle 6">
            <a:extLst>
              <a:ext uri="{FF2B5EF4-FFF2-40B4-BE49-F238E27FC236}">
                <a16:creationId xmlns:a16="http://schemas.microsoft.com/office/drawing/2014/main" id="{BD5EC79F-E4B1-3433-E3CB-1312278A32BF}"/>
              </a:ext>
            </a:extLst>
          </p:cNvPr>
          <p:cNvSpPr/>
          <p:nvPr/>
        </p:nvSpPr>
        <p:spPr>
          <a:xfrm>
            <a:off x="4717774" y="1022043"/>
            <a:ext cx="2120348" cy="5198199"/>
          </a:xfrm>
          <a:prstGeom prst="rect">
            <a:avLst/>
          </a:prstGeom>
          <a:solidFill>
            <a:srgbClr val="FF0000">
              <a:alpha val="15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E0A6375C-2C29-1017-272D-E9F5004595B7}"/>
              </a:ext>
            </a:extLst>
          </p:cNvPr>
          <p:cNvSpPr txBox="1"/>
          <p:nvPr/>
        </p:nvSpPr>
        <p:spPr>
          <a:xfrm>
            <a:off x="4596310" y="652711"/>
            <a:ext cx="2363276" cy="369332"/>
          </a:xfrm>
          <a:prstGeom prst="rect">
            <a:avLst/>
          </a:prstGeom>
          <a:noFill/>
        </p:spPr>
        <p:txBody>
          <a:bodyPr wrap="none" rtlCol="0">
            <a:spAutoFit/>
          </a:bodyPr>
          <a:lstStyle/>
          <a:p>
            <a:pPr algn="ctr"/>
            <a:r>
              <a:rPr lang="en-US" dirty="0">
                <a:solidFill>
                  <a:srgbClr val="FF0000"/>
                </a:solidFill>
              </a:rPr>
              <a:t>Prompt contaminated</a:t>
            </a:r>
          </a:p>
        </p:txBody>
      </p:sp>
      <p:sp>
        <p:nvSpPr>
          <p:cNvPr id="9" name="Rectangle 8">
            <a:extLst>
              <a:ext uri="{FF2B5EF4-FFF2-40B4-BE49-F238E27FC236}">
                <a16:creationId xmlns:a16="http://schemas.microsoft.com/office/drawing/2014/main" id="{D2FEAFC0-2B0B-27AF-2DF4-8C99603147E7}"/>
              </a:ext>
            </a:extLst>
          </p:cNvPr>
          <p:cNvSpPr/>
          <p:nvPr/>
        </p:nvSpPr>
        <p:spPr>
          <a:xfrm>
            <a:off x="10893287" y="5738191"/>
            <a:ext cx="490330" cy="234557"/>
          </a:xfrm>
          <a:prstGeom prst="rect">
            <a:avLst/>
          </a:prstGeom>
          <a:solidFill>
            <a:srgbClr val="FFFF00">
              <a:alpha val="17744"/>
            </a:srgbClr>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Left Bracket 9">
            <a:extLst>
              <a:ext uri="{FF2B5EF4-FFF2-40B4-BE49-F238E27FC236}">
                <a16:creationId xmlns:a16="http://schemas.microsoft.com/office/drawing/2014/main" id="{4E363997-26D0-B8FE-B532-7D74BA121142}"/>
              </a:ext>
            </a:extLst>
          </p:cNvPr>
          <p:cNvSpPr/>
          <p:nvPr/>
        </p:nvSpPr>
        <p:spPr>
          <a:xfrm rot="5400000">
            <a:off x="10665020" y="583433"/>
            <a:ext cx="234556" cy="1202637"/>
          </a:xfrm>
          <a:prstGeom prst="leftBracket">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1" name="TextBox 10">
            <a:extLst>
              <a:ext uri="{FF2B5EF4-FFF2-40B4-BE49-F238E27FC236}">
                <a16:creationId xmlns:a16="http://schemas.microsoft.com/office/drawing/2014/main" id="{77E77D0B-D20B-5179-9EA9-04A0475485A4}"/>
              </a:ext>
            </a:extLst>
          </p:cNvPr>
          <p:cNvSpPr txBox="1"/>
          <p:nvPr/>
        </p:nvSpPr>
        <p:spPr>
          <a:xfrm>
            <a:off x="9914111" y="717295"/>
            <a:ext cx="1736373" cy="369332"/>
          </a:xfrm>
          <a:prstGeom prst="rect">
            <a:avLst/>
          </a:prstGeom>
          <a:noFill/>
        </p:spPr>
        <p:txBody>
          <a:bodyPr wrap="none" rtlCol="0">
            <a:spAutoFit/>
          </a:bodyPr>
          <a:lstStyle/>
          <a:p>
            <a:r>
              <a:rPr lang="en-US" dirty="0">
                <a:solidFill>
                  <a:schemeClr val="accent6">
                    <a:lumMod val="75000"/>
                  </a:schemeClr>
                </a:solidFill>
              </a:rPr>
              <a:t>80 unseen lines</a:t>
            </a:r>
          </a:p>
        </p:txBody>
      </p:sp>
      <p:sp>
        <p:nvSpPr>
          <p:cNvPr id="4" name="Rectangle 3">
            <a:extLst>
              <a:ext uri="{FF2B5EF4-FFF2-40B4-BE49-F238E27FC236}">
                <a16:creationId xmlns:a16="http://schemas.microsoft.com/office/drawing/2014/main" id="{7A4A1724-2D48-8125-748A-0560A7DFA44A}"/>
              </a:ext>
            </a:extLst>
          </p:cNvPr>
          <p:cNvSpPr/>
          <p:nvPr/>
        </p:nvSpPr>
        <p:spPr>
          <a:xfrm>
            <a:off x="3710609" y="652711"/>
            <a:ext cx="8083826" cy="578879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521242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changed: v1 → v2</a:t>
            </a:r>
          </a:p>
        </p:txBody>
      </p:sp>
      <p:sp>
        <p:nvSpPr>
          <p:cNvPr id="3" name="Content Placeholder 2"/>
          <p:cNvSpPr>
            <a:spLocks noGrp="1"/>
          </p:cNvSpPr>
          <p:nvPr>
            <p:ph idx="1"/>
          </p:nvPr>
        </p:nvSpPr>
        <p:spPr/>
        <p:txBody>
          <a:bodyPr>
            <a:normAutofit/>
          </a:bodyPr>
          <a:lstStyle/>
          <a:p>
            <a:r>
              <a:rPr lang="en-US" sz="1500" b="1" dirty="0"/>
              <a:t>Explain first, then label.  </a:t>
            </a:r>
            <a:r>
              <a:rPr lang="en-US" sz="1500" dirty="0"/>
              <a:t>v1 sometimes reasoned its way to the right answer but wrote down a different one. Now it must give its reasoning first, then pick the matching label </a:t>
            </a:r>
          </a:p>
          <a:p>
            <a:r>
              <a:rPr lang="en-US" sz="1500" b="1" dirty="0"/>
              <a:t>A clearer line between refusing and correcting.  </a:t>
            </a:r>
            <a:r>
              <a:rPr lang="en-US" sz="1500" dirty="0"/>
              <a:t>A child’s “no” can mean refusing something (“Want broccoli?” → “No!”) or saying something isn’t true (“That’s not a dog”). v1 called too much “refusing”; v2 reserves it for actually pushing back on a thing or action.</a:t>
            </a:r>
          </a:p>
          <a:p>
            <a:r>
              <a:rPr lang="en-US" sz="1500" b="1" dirty="0"/>
              <a:t>Handling “don’t…” commands.  </a:t>
            </a:r>
            <a:r>
              <a:rPr lang="en-US" sz="1500" dirty="0"/>
              <a:t>“Don’t do that” can mean stop an action (refusing) or restate a rule (correcting). v2 now tells these apart.</a:t>
            </a:r>
          </a:p>
          <a:p>
            <a:r>
              <a:rPr lang="en-US" sz="1500" b="1" dirty="0"/>
              <a:t>Keep real negations.  </a:t>
            </a:r>
            <a:r>
              <a:rPr lang="en-US" sz="1500" dirty="0"/>
              <a:t>v1 threw out some genuine “no”s as un-analyzable. v2 only sets one aside for clear reasons (singing, copying a grown-up) and otherwise marks it “unclear.”</a:t>
            </a:r>
          </a:p>
          <a:p>
            <a:r>
              <a:rPr lang="en-US" sz="1500" b="1" dirty="0"/>
              <a:t>Notice repeats.  </a:t>
            </a:r>
            <a:r>
              <a:rPr lang="en-US" sz="1500" dirty="0"/>
              <a:t>“No no no” is one idea said three times. v2 is now told each word’s position so it can flag the repeats.</a:t>
            </a:r>
          </a:p>
          <a:p>
            <a:r>
              <a:rPr lang="en-US" sz="1500" b="1" dirty="0"/>
              <a:t>Added worked examples — </a:t>
            </a:r>
            <a:r>
              <a:rPr lang="en-US" sz="1500" dirty="0"/>
              <a:t>one for each kind of mistake v1 made.</a:t>
            </a:r>
          </a:p>
          <a:p>
            <a:pPr lvl="1"/>
            <a:r>
              <a:rPr lang="en-US" sz="1600" b="1" dirty="0">
                <a:solidFill>
                  <a:srgbClr val="FF0000"/>
                </a:solidFill>
              </a:rPr>
              <a:t>BUT the added examples were precisely the lines to be coded -- lol</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A814C-E4F7-6205-148C-A7A5A668DBEF}"/>
              </a:ext>
            </a:extLst>
          </p:cNvPr>
          <p:cNvSpPr>
            <a:spLocks noGrp="1"/>
          </p:cNvSpPr>
          <p:nvPr>
            <p:ph type="title"/>
          </p:nvPr>
        </p:nvSpPr>
        <p:spPr>
          <a:xfrm>
            <a:off x="-21335" y="23304"/>
            <a:ext cx="10515600" cy="1325563"/>
          </a:xfrm>
        </p:spPr>
        <p:txBody>
          <a:bodyPr>
            <a:normAutofit/>
          </a:bodyPr>
          <a:lstStyle/>
          <a:p>
            <a:r>
              <a:rPr lang="en-US" sz="3200" dirty="0"/>
              <a:t>Prompt</a:t>
            </a:r>
            <a:br>
              <a:rPr lang="en-US" sz="3200" dirty="0"/>
            </a:br>
            <a:r>
              <a:rPr lang="en-US" sz="3200" dirty="0"/>
              <a:t>v2</a:t>
            </a:r>
          </a:p>
        </p:txBody>
      </p:sp>
      <p:sp>
        <p:nvSpPr>
          <p:cNvPr id="3" name="Content Placeholder 2">
            <a:extLst>
              <a:ext uri="{FF2B5EF4-FFF2-40B4-BE49-F238E27FC236}">
                <a16:creationId xmlns:a16="http://schemas.microsoft.com/office/drawing/2014/main" id="{8021EBB6-B5F8-A2D5-E402-88D78555E814}"/>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C64E6CEB-BDB7-7B78-994C-E2B5CA2B0B06}"/>
              </a:ext>
            </a:extLst>
          </p:cNvPr>
          <p:cNvPicPr>
            <a:picLocks noChangeAspect="1"/>
          </p:cNvPicPr>
          <p:nvPr/>
        </p:nvPicPr>
        <p:blipFill>
          <a:blip r:embed="rId2"/>
          <a:stretch>
            <a:fillRect/>
          </a:stretch>
        </p:blipFill>
        <p:spPr>
          <a:xfrm>
            <a:off x="2503953" y="250000"/>
            <a:ext cx="8934094" cy="6408000"/>
          </a:xfrm>
          <a:prstGeom prst="rect">
            <a:avLst/>
          </a:prstGeom>
        </p:spPr>
      </p:pic>
    </p:spTree>
    <p:extLst>
      <p:ext uri="{BB962C8B-B14F-4D97-AF65-F5344CB8AC3E}">
        <p14:creationId xmlns:p14="http://schemas.microsoft.com/office/powerpoint/2010/main" val="42054225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A814C-E4F7-6205-148C-A7A5A668DBEF}"/>
              </a:ext>
            </a:extLst>
          </p:cNvPr>
          <p:cNvSpPr>
            <a:spLocks noGrp="1"/>
          </p:cNvSpPr>
          <p:nvPr>
            <p:ph type="title"/>
          </p:nvPr>
        </p:nvSpPr>
        <p:spPr>
          <a:xfrm>
            <a:off x="-21335" y="23304"/>
            <a:ext cx="10515600" cy="1325563"/>
          </a:xfrm>
        </p:spPr>
        <p:txBody>
          <a:bodyPr>
            <a:normAutofit/>
          </a:bodyPr>
          <a:lstStyle/>
          <a:p>
            <a:r>
              <a:rPr lang="en-US" sz="3200" dirty="0"/>
              <a:t>Prompt</a:t>
            </a:r>
            <a:br>
              <a:rPr lang="en-US" sz="3200" dirty="0"/>
            </a:br>
            <a:r>
              <a:rPr lang="en-US" sz="3200" dirty="0"/>
              <a:t>v2</a:t>
            </a:r>
          </a:p>
        </p:txBody>
      </p:sp>
      <p:sp>
        <p:nvSpPr>
          <p:cNvPr id="3" name="Content Placeholder 2">
            <a:extLst>
              <a:ext uri="{FF2B5EF4-FFF2-40B4-BE49-F238E27FC236}">
                <a16:creationId xmlns:a16="http://schemas.microsoft.com/office/drawing/2014/main" id="{8021EBB6-B5F8-A2D5-E402-88D78555E814}"/>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C64E6CEB-BDB7-7B78-994C-E2B5CA2B0B06}"/>
              </a:ext>
            </a:extLst>
          </p:cNvPr>
          <p:cNvPicPr>
            <a:picLocks noChangeAspect="1"/>
          </p:cNvPicPr>
          <p:nvPr/>
        </p:nvPicPr>
        <p:blipFill>
          <a:blip r:embed="rId2"/>
          <a:stretch>
            <a:fillRect/>
          </a:stretch>
        </p:blipFill>
        <p:spPr>
          <a:xfrm>
            <a:off x="2888142" y="250000"/>
            <a:ext cx="8165716" cy="6408000"/>
          </a:xfrm>
          <a:prstGeom prst="rect">
            <a:avLst/>
          </a:prstGeom>
        </p:spPr>
      </p:pic>
    </p:spTree>
    <p:extLst>
      <p:ext uri="{BB962C8B-B14F-4D97-AF65-F5344CB8AC3E}">
        <p14:creationId xmlns:p14="http://schemas.microsoft.com/office/powerpoint/2010/main" val="42054225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A814C-E4F7-6205-148C-A7A5A668DBEF}"/>
              </a:ext>
            </a:extLst>
          </p:cNvPr>
          <p:cNvSpPr>
            <a:spLocks noGrp="1"/>
          </p:cNvSpPr>
          <p:nvPr>
            <p:ph type="title"/>
          </p:nvPr>
        </p:nvSpPr>
        <p:spPr>
          <a:xfrm>
            <a:off x="-21335" y="23304"/>
            <a:ext cx="10515600" cy="1325563"/>
          </a:xfrm>
        </p:spPr>
        <p:txBody>
          <a:bodyPr>
            <a:normAutofit/>
          </a:bodyPr>
          <a:lstStyle/>
          <a:p>
            <a:r>
              <a:rPr lang="en-US" sz="3200" dirty="0"/>
              <a:t>Prompt</a:t>
            </a:r>
            <a:br>
              <a:rPr lang="en-US" sz="3200" dirty="0"/>
            </a:br>
            <a:r>
              <a:rPr lang="en-US" sz="3200" dirty="0"/>
              <a:t>v2</a:t>
            </a:r>
          </a:p>
        </p:txBody>
      </p:sp>
      <p:sp>
        <p:nvSpPr>
          <p:cNvPr id="3" name="Content Placeholder 2">
            <a:extLst>
              <a:ext uri="{FF2B5EF4-FFF2-40B4-BE49-F238E27FC236}">
                <a16:creationId xmlns:a16="http://schemas.microsoft.com/office/drawing/2014/main" id="{8021EBB6-B5F8-A2D5-E402-88D78555E814}"/>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C64E6CEB-BDB7-7B78-994C-E2B5CA2B0B06}"/>
              </a:ext>
            </a:extLst>
          </p:cNvPr>
          <p:cNvPicPr>
            <a:picLocks noChangeAspect="1"/>
          </p:cNvPicPr>
          <p:nvPr/>
        </p:nvPicPr>
        <p:blipFill>
          <a:blip r:embed="rId2"/>
          <a:stretch>
            <a:fillRect/>
          </a:stretch>
        </p:blipFill>
        <p:spPr>
          <a:xfrm>
            <a:off x="3030520" y="250000"/>
            <a:ext cx="7880959" cy="6408000"/>
          </a:xfrm>
          <a:prstGeom prst="rect">
            <a:avLst/>
          </a:prstGeom>
        </p:spPr>
      </p:pic>
    </p:spTree>
    <p:extLst>
      <p:ext uri="{BB962C8B-B14F-4D97-AF65-F5344CB8AC3E}">
        <p14:creationId xmlns:p14="http://schemas.microsoft.com/office/powerpoint/2010/main" val="42054225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A814C-E4F7-6205-148C-A7A5A668DBEF}"/>
              </a:ext>
            </a:extLst>
          </p:cNvPr>
          <p:cNvSpPr>
            <a:spLocks noGrp="1"/>
          </p:cNvSpPr>
          <p:nvPr>
            <p:ph type="title"/>
          </p:nvPr>
        </p:nvSpPr>
        <p:spPr>
          <a:xfrm>
            <a:off x="-21335" y="23304"/>
            <a:ext cx="10515600" cy="1325563"/>
          </a:xfrm>
        </p:spPr>
        <p:txBody>
          <a:bodyPr>
            <a:normAutofit/>
          </a:bodyPr>
          <a:lstStyle/>
          <a:p>
            <a:r>
              <a:rPr lang="en-US" sz="3200" dirty="0"/>
              <a:t>Prompt</a:t>
            </a:r>
            <a:br>
              <a:rPr lang="en-US" sz="3200" dirty="0"/>
            </a:br>
            <a:r>
              <a:rPr lang="en-US" sz="3200" dirty="0"/>
              <a:t>v2</a:t>
            </a:r>
          </a:p>
        </p:txBody>
      </p:sp>
      <p:sp>
        <p:nvSpPr>
          <p:cNvPr id="3" name="Content Placeholder 2">
            <a:extLst>
              <a:ext uri="{FF2B5EF4-FFF2-40B4-BE49-F238E27FC236}">
                <a16:creationId xmlns:a16="http://schemas.microsoft.com/office/drawing/2014/main" id="{8021EBB6-B5F8-A2D5-E402-88D78555E814}"/>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C64E6CEB-BDB7-7B78-994C-E2B5CA2B0B06}"/>
              </a:ext>
            </a:extLst>
          </p:cNvPr>
          <p:cNvPicPr>
            <a:picLocks noChangeAspect="1"/>
          </p:cNvPicPr>
          <p:nvPr/>
        </p:nvPicPr>
        <p:blipFill>
          <a:blip r:embed="rId2"/>
          <a:stretch>
            <a:fillRect/>
          </a:stretch>
        </p:blipFill>
        <p:spPr>
          <a:xfrm>
            <a:off x="2680724" y="250000"/>
            <a:ext cx="8580552" cy="6408000"/>
          </a:xfrm>
          <a:prstGeom prst="rect">
            <a:avLst/>
          </a:prstGeom>
        </p:spPr>
      </p:pic>
    </p:spTree>
    <p:extLst>
      <p:ext uri="{BB962C8B-B14F-4D97-AF65-F5344CB8AC3E}">
        <p14:creationId xmlns:p14="http://schemas.microsoft.com/office/powerpoint/2010/main" val="42054225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A814C-E4F7-6205-148C-A7A5A668DBEF}"/>
              </a:ext>
            </a:extLst>
          </p:cNvPr>
          <p:cNvSpPr>
            <a:spLocks noGrp="1"/>
          </p:cNvSpPr>
          <p:nvPr>
            <p:ph type="title"/>
          </p:nvPr>
        </p:nvSpPr>
        <p:spPr>
          <a:xfrm>
            <a:off x="-21335" y="23304"/>
            <a:ext cx="10515600" cy="1325563"/>
          </a:xfrm>
        </p:spPr>
        <p:txBody>
          <a:bodyPr>
            <a:normAutofit/>
          </a:bodyPr>
          <a:lstStyle/>
          <a:p>
            <a:r>
              <a:rPr lang="en-US" sz="3200" dirty="0"/>
              <a:t>Examples</a:t>
            </a:r>
            <a:br>
              <a:rPr lang="en-US" sz="3200" dirty="0"/>
            </a:br>
            <a:r>
              <a:rPr lang="en-US" sz="3200" dirty="0"/>
              <a:t>v2</a:t>
            </a:r>
          </a:p>
        </p:txBody>
      </p:sp>
      <p:sp>
        <p:nvSpPr>
          <p:cNvPr id="3" name="Content Placeholder 2">
            <a:extLst>
              <a:ext uri="{FF2B5EF4-FFF2-40B4-BE49-F238E27FC236}">
                <a16:creationId xmlns:a16="http://schemas.microsoft.com/office/drawing/2014/main" id="{8021EBB6-B5F8-A2D5-E402-88D78555E814}"/>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C64E6CEB-BDB7-7B78-994C-E2B5CA2B0B06}"/>
              </a:ext>
            </a:extLst>
          </p:cNvPr>
          <p:cNvPicPr>
            <a:picLocks noChangeAspect="1"/>
          </p:cNvPicPr>
          <p:nvPr/>
        </p:nvPicPr>
        <p:blipFill>
          <a:blip r:embed="rId2"/>
          <a:stretch>
            <a:fillRect/>
          </a:stretch>
        </p:blipFill>
        <p:spPr>
          <a:xfrm>
            <a:off x="2248919" y="250000"/>
            <a:ext cx="9444162" cy="6408000"/>
          </a:xfrm>
          <a:prstGeom prst="rect">
            <a:avLst/>
          </a:prstGeom>
        </p:spPr>
      </p:pic>
    </p:spTree>
    <p:extLst>
      <p:ext uri="{BB962C8B-B14F-4D97-AF65-F5344CB8AC3E}">
        <p14:creationId xmlns:p14="http://schemas.microsoft.com/office/powerpoint/2010/main" val="42054225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A814C-E4F7-6205-148C-A7A5A668DBEF}"/>
              </a:ext>
            </a:extLst>
          </p:cNvPr>
          <p:cNvSpPr>
            <a:spLocks noGrp="1"/>
          </p:cNvSpPr>
          <p:nvPr>
            <p:ph type="title"/>
          </p:nvPr>
        </p:nvSpPr>
        <p:spPr>
          <a:xfrm>
            <a:off x="-21335" y="23304"/>
            <a:ext cx="10515600" cy="1325563"/>
          </a:xfrm>
        </p:spPr>
        <p:txBody>
          <a:bodyPr>
            <a:normAutofit/>
          </a:bodyPr>
          <a:lstStyle/>
          <a:p>
            <a:r>
              <a:rPr lang="en-US" sz="3200" dirty="0"/>
              <a:t>Examples</a:t>
            </a:r>
            <a:br>
              <a:rPr lang="en-US" sz="3200" dirty="0"/>
            </a:br>
            <a:r>
              <a:rPr lang="en-US" sz="3200" dirty="0"/>
              <a:t>v2</a:t>
            </a:r>
          </a:p>
        </p:txBody>
      </p:sp>
      <p:sp>
        <p:nvSpPr>
          <p:cNvPr id="3" name="Content Placeholder 2">
            <a:extLst>
              <a:ext uri="{FF2B5EF4-FFF2-40B4-BE49-F238E27FC236}">
                <a16:creationId xmlns:a16="http://schemas.microsoft.com/office/drawing/2014/main" id="{8021EBB6-B5F8-A2D5-E402-88D78555E814}"/>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C64E6CEB-BDB7-7B78-994C-E2B5CA2B0B06}"/>
              </a:ext>
            </a:extLst>
          </p:cNvPr>
          <p:cNvPicPr>
            <a:picLocks noChangeAspect="1"/>
          </p:cNvPicPr>
          <p:nvPr/>
        </p:nvPicPr>
        <p:blipFill>
          <a:blip r:embed="rId2"/>
          <a:stretch>
            <a:fillRect/>
          </a:stretch>
        </p:blipFill>
        <p:spPr>
          <a:xfrm>
            <a:off x="3051695" y="250000"/>
            <a:ext cx="7838609" cy="6408000"/>
          </a:xfrm>
          <a:prstGeom prst="rect">
            <a:avLst/>
          </a:prstGeom>
        </p:spPr>
      </p:pic>
    </p:spTree>
    <p:extLst>
      <p:ext uri="{BB962C8B-B14F-4D97-AF65-F5344CB8AC3E}">
        <p14:creationId xmlns:p14="http://schemas.microsoft.com/office/powerpoint/2010/main" val="42054225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F6FA33-31D0-0BDC-1CE1-66987CE9DC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8891D4-F30D-63F5-B5B9-C8BCF0766B0C}"/>
              </a:ext>
            </a:extLst>
          </p:cNvPr>
          <p:cNvSpPr>
            <a:spLocks noGrp="1"/>
          </p:cNvSpPr>
          <p:nvPr>
            <p:ph type="title"/>
          </p:nvPr>
        </p:nvSpPr>
        <p:spPr>
          <a:xfrm>
            <a:off x="206529" y="-95966"/>
            <a:ext cx="12100000" cy="877844"/>
          </a:xfrm>
        </p:spPr>
        <p:txBody>
          <a:bodyPr>
            <a:normAutofit/>
          </a:bodyPr>
          <a:lstStyle/>
          <a:p>
            <a:r>
              <a:rPr lang="en-US" sz="2400" dirty="0"/>
              <a:t>LLM–human agreement across versions</a:t>
            </a:r>
          </a:p>
        </p:txBody>
      </p:sp>
      <p:pic>
        <p:nvPicPr>
          <p:cNvPr id="3" name="Picture 2">
            <a:extLst>
              <a:ext uri="{FF2B5EF4-FFF2-40B4-BE49-F238E27FC236}">
                <a16:creationId xmlns:a16="http://schemas.microsoft.com/office/drawing/2014/main" id="{684FD073-C1C0-F624-23AA-3629E1C1A121}"/>
              </a:ext>
            </a:extLst>
          </p:cNvPr>
          <p:cNvPicPr>
            <a:picLocks noChangeAspect="1"/>
          </p:cNvPicPr>
          <p:nvPr/>
        </p:nvPicPr>
        <p:blipFill>
          <a:blip r:embed="rId3"/>
          <a:srcRect/>
          <a:stretch/>
        </p:blipFill>
        <p:spPr>
          <a:xfrm>
            <a:off x="113335" y="1022043"/>
            <a:ext cx="11821987" cy="5788793"/>
          </a:xfrm>
          <a:prstGeom prst="rect">
            <a:avLst/>
          </a:prstGeom>
        </p:spPr>
      </p:pic>
      <p:pic>
        <p:nvPicPr>
          <p:cNvPr id="6" name="Picture 5">
            <a:extLst>
              <a:ext uri="{FF2B5EF4-FFF2-40B4-BE49-F238E27FC236}">
                <a16:creationId xmlns:a16="http://schemas.microsoft.com/office/drawing/2014/main" id="{F72D4C85-0242-B994-D807-FCC957B400DD}"/>
              </a:ext>
            </a:extLst>
          </p:cNvPr>
          <p:cNvPicPr>
            <a:picLocks noChangeAspect="1"/>
          </p:cNvPicPr>
          <p:nvPr/>
        </p:nvPicPr>
        <p:blipFill>
          <a:blip r:embed="rId4"/>
          <a:stretch>
            <a:fillRect/>
          </a:stretch>
        </p:blipFill>
        <p:spPr>
          <a:xfrm>
            <a:off x="9568069" y="1176134"/>
            <a:ext cx="2017643" cy="5044108"/>
          </a:xfrm>
          <a:prstGeom prst="rect">
            <a:avLst/>
          </a:prstGeom>
        </p:spPr>
      </p:pic>
      <p:sp>
        <p:nvSpPr>
          <p:cNvPr id="7" name="Rectangle 6">
            <a:extLst>
              <a:ext uri="{FF2B5EF4-FFF2-40B4-BE49-F238E27FC236}">
                <a16:creationId xmlns:a16="http://schemas.microsoft.com/office/drawing/2014/main" id="{98A0A2F1-DCC7-32BC-CCF1-3B3C6B3D9D3C}"/>
              </a:ext>
            </a:extLst>
          </p:cNvPr>
          <p:cNvSpPr/>
          <p:nvPr/>
        </p:nvSpPr>
        <p:spPr>
          <a:xfrm>
            <a:off x="4717774" y="1022043"/>
            <a:ext cx="2120348" cy="5198199"/>
          </a:xfrm>
          <a:prstGeom prst="rect">
            <a:avLst/>
          </a:prstGeom>
          <a:solidFill>
            <a:srgbClr val="FF0000">
              <a:alpha val="15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F60CF163-1128-A5A6-15E6-6EBE2527999A}"/>
              </a:ext>
            </a:extLst>
          </p:cNvPr>
          <p:cNvSpPr txBox="1"/>
          <p:nvPr/>
        </p:nvSpPr>
        <p:spPr>
          <a:xfrm>
            <a:off x="4596310" y="652711"/>
            <a:ext cx="2363276" cy="369332"/>
          </a:xfrm>
          <a:prstGeom prst="rect">
            <a:avLst/>
          </a:prstGeom>
          <a:noFill/>
        </p:spPr>
        <p:txBody>
          <a:bodyPr wrap="none" rtlCol="0">
            <a:spAutoFit/>
          </a:bodyPr>
          <a:lstStyle/>
          <a:p>
            <a:pPr algn="ctr"/>
            <a:r>
              <a:rPr lang="en-US" dirty="0">
                <a:solidFill>
                  <a:srgbClr val="FF0000"/>
                </a:solidFill>
              </a:rPr>
              <a:t>Prompt contaminated</a:t>
            </a:r>
          </a:p>
        </p:txBody>
      </p:sp>
      <p:sp>
        <p:nvSpPr>
          <p:cNvPr id="9" name="Rectangle 8">
            <a:extLst>
              <a:ext uri="{FF2B5EF4-FFF2-40B4-BE49-F238E27FC236}">
                <a16:creationId xmlns:a16="http://schemas.microsoft.com/office/drawing/2014/main" id="{BD71518B-03B0-28B6-CD61-2CA323692D2D}"/>
              </a:ext>
            </a:extLst>
          </p:cNvPr>
          <p:cNvSpPr/>
          <p:nvPr/>
        </p:nvSpPr>
        <p:spPr>
          <a:xfrm>
            <a:off x="10893287" y="5738191"/>
            <a:ext cx="490330" cy="234557"/>
          </a:xfrm>
          <a:prstGeom prst="rect">
            <a:avLst/>
          </a:prstGeom>
          <a:solidFill>
            <a:srgbClr val="FFFF00">
              <a:alpha val="17744"/>
            </a:srgbClr>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Left Bracket 9">
            <a:extLst>
              <a:ext uri="{FF2B5EF4-FFF2-40B4-BE49-F238E27FC236}">
                <a16:creationId xmlns:a16="http://schemas.microsoft.com/office/drawing/2014/main" id="{3DD99217-FBD9-40CB-8F99-C63F5EAAF736}"/>
              </a:ext>
            </a:extLst>
          </p:cNvPr>
          <p:cNvSpPr/>
          <p:nvPr/>
        </p:nvSpPr>
        <p:spPr>
          <a:xfrm rot="5400000">
            <a:off x="10665020" y="583433"/>
            <a:ext cx="234556" cy="1202637"/>
          </a:xfrm>
          <a:prstGeom prst="leftBracket">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1" name="TextBox 10">
            <a:extLst>
              <a:ext uri="{FF2B5EF4-FFF2-40B4-BE49-F238E27FC236}">
                <a16:creationId xmlns:a16="http://schemas.microsoft.com/office/drawing/2014/main" id="{68888EE6-5371-6808-6356-DCB4F5E1EB40}"/>
              </a:ext>
            </a:extLst>
          </p:cNvPr>
          <p:cNvSpPr txBox="1"/>
          <p:nvPr/>
        </p:nvSpPr>
        <p:spPr>
          <a:xfrm>
            <a:off x="9914111" y="717295"/>
            <a:ext cx="1736373" cy="369332"/>
          </a:xfrm>
          <a:prstGeom prst="rect">
            <a:avLst/>
          </a:prstGeom>
          <a:noFill/>
        </p:spPr>
        <p:txBody>
          <a:bodyPr wrap="none" rtlCol="0">
            <a:spAutoFit/>
          </a:bodyPr>
          <a:lstStyle/>
          <a:p>
            <a:r>
              <a:rPr lang="en-US" dirty="0">
                <a:solidFill>
                  <a:schemeClr val="accent6">
                    <a:lumMod val="75000"/>
                  </a:schemeClr>
                </a:solidFill>
              </a:rPr>
              <a:t>80 unseen lines</a:t>
            </a:r>
          </a:p>
        </p:txBody>
      </p:sp>
      <p:sp>
        <p:nvSpPr>
          <p:cNvPr id="4" name="Rectangle 3">
            <a:extLst>
              <a:ext uri="{FF2B5EF4-FFF2-40B4-BE49-F238E27FC236}">
                <a16:creationId xmlns:a16="http://schemas.microsoft.com/office/drawing/2014/main" id="{B648E39C-6A18-9D9F-EC27-57CC7529A99E}"/>
              </a:ext>
            </a:extLst>
          </p:cNvPr>
          <p:cNvSpPr/>
          <p:nvPr/>
        </p:nvSpPr>
        <p:spPr>
          <a:xfrm>
            <a:off x="7195929" y="652711"/>
            <a:ext cx="4598505" cy="55675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741849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changed: v2 → v3</a:t>
            </a:r>
          </a:p>
        </p:txBody>
      </p:sp>
      <p:sp>
        <p:nvSpPr>
          <p:cNvPr id="3" name="Content Placeholder 2"/>
          <p:cNvSpPr>
            <a:spLocks noGrp="1"/>
          </p:cNvSpPr>
          <p:nvPr>
            <p:ph idx="1"/>
          </p:nvPr>
        </p:nvSpPr>
        <p:spPr/>
        <p:txBody>
          <a:bodyPr>
            <a:normAutofit/>
          </a:bodyPr>
          <a:lstStyle/>
          <a:p>
            <a:pPr marL="0" indent="0">
              <a:buNone/>
            </a:pPr>
            <a:r>
              <a:rPr lang="en-US" sz="1400" b="1" i="1" dirty="0"/>
              <a:t>Why? </a:t>
            </a:r>
            <a:r>
              <a:rPr lang="en-US" sz="1400" i="1" dirty="0"/>
              <a:t>v2 looked great, but it had been graded partly on its own examples. v3 keeps the real fixes, removes the unfair advantage, and tightens the last errors.</a:t>
            </a:r>
          </a:p>
          <a:p>
            <a:r>
              <a:rPr lang="en-US" sz="1500" b="1" dirty="0"/>
              <a:t>Let the conversation decide.  </a:t>
            </a:r>
            <a:r>
              <a:rPr lang="en-US" sz="1500" dirty="0"/>
              <a:t>The best clue to what a child’s “no” means is how the other person reacts: if the parent keeps pleading or bargaining, the child was refusing; if they correct a fact, the child was saying something’s untrue.</a:t>
            </a:r>
          </a:p>
          <a:p>
            <a:r>
              <a:rPr lang="en-US" sz="1500" b="1" dirty="0"/>
              <a:t>Spot requests hiding as statements.  </a:t>
            </a:r>
            <a:r>
              <a:rPr lang="en-US" sz="1500" dirty="0"/>
              <a:t>“You were going to put that away, okay?” is really a request — so answering “no” is refusing, not disagreeing with a fact.</a:t>
            </a:r>
          </a:p>
          <a:p>
            <a:r>
              <a:rPr lang="en-US" sz="1500" b="1" dirty="0"/>
              <a:t>Refusing during a back-and-forth.  </a:t>
            </a:r>
            <a:r>
              <a:rPr lang="en-US" sz="1500" dirty="0"/>
              <a:t>Saying “I don’t like it” while haggling over food is still a refusal, not a neutral opinion.</a:t>
            </a:r>
          </a:p>
          <a:p>
            <a:r>
              <a:rPr lang="en-US" sz="1500" b="1" dirty="0"/>
              <a:t>Make the model commit.  </a:t>
            </a:r>
            <a:r>
              <a:rPr lang="en-US" sz="1500" dirty="0"/>
              <a:t>Before writing its answers it now restates each one — closing the last cases where it reasoned one way but wrote another.</a:t>
            </a:r>
          </a:p>
          <a:p>
            <a:r>
              <a:rPr lang="en-US" sz="1500" b="1" dirty="0"/>
              <a:t>Lock the output format.  </a:t>
            </a:r>
            <a:r>
              <a:rPr lang="en-US" sz="1500" dirty="0"/>
              <a:t>The model is now technically prevented from inventing categories or writing an invalid answer.</a:t>
            </a:r>
          </a:p>
          <a:p>
            <a:r>
              <a:rPr lang="en-US" sz="1500" b="1" dirty="0">
                <a:solidFill>
                  <a:srgbClr val="156082"/>
                </a:solidFill>
              </a:rPr>
              <a:t>Stop grading on the answer key (the big fix).  </a:t>
            </a:r>
            <a:r>
              <a:rPr lang="en-US" sz="1500" dirty="0">
                <a:solidFill>
                  <a:srgbClr val="156082"/>
                </a:solidFill>
              </a:rPr>
              <a:t>v2’s examples were lifted from the test lines, so its score was inflated. v3 rewrites those examples in different words, drops the leaked lines from the score, and tests on fresh, unseen data.</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A814C-E4F7-6205-148C-A7A5A668DBEF}"/>
              </a:ext>
            </a:extLst>
          </p:cNvPr>
          <p:cNvSpPr>
            <a:spLocks noGrp="1"/>
          </p:cNvSpPr>
          <p:nvPr>
            <p:ph type="title"/>
          </p:nvPr>
        </p:nvSpPr>
        <p:spPr>
          <a:xfrm>
            <a:off x="-21335" y="23304"/>
            <a:ext cx="10515600" cy="1325563"/>
          </a:xfrm>
        </p:spPr>
        <p:txBody>
          <a:bodyPr>
            <a:normAutofit/>
          </a:bodyPr>
          <a:lstStyle/>
          <a:p>
            <a:r>
              <a:rPr lang="en-US" sz="3200" dirty="0"/>
              <a:t>Prompt</a:t>
            </a:r>
            <a:br>
              <a:rPr lang="en-US" sz="3200" dirty="0"/>
            </a:br>
            <a:r>
              <a:rPr lang="en-US" sz="3200" dirty="0"/>
              <a:t>v3</a:t>
            </a:r>
          </a:p>
        </p:txBody>
      </p:sp>
      <p:sp>
        <p:nvSpPr>
          <p:cNvPr id="3" name="Content Placeholder 2">
            <a:extLst>
              <a:ext uri="{FF2B5EF4-FFF2-40B4-BE49-F238E27FC236}">
                <a16:creationId xmlns:a16="http://schemas.microsoft.com/office/drawing/2014/main" id="{8021EBB6-B5F8-A2D5-E402-88D78555E814}"/>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C64E6CEB-BDB7-7B78-994C-E2B5CA2B0B06}"/>
              </a:ext>
            </a:extLst>
          </p:cNvPr>
          <p:cNvPicPr>
            <a:picLocks noChangeAspect="1"/>
          </p:cNvPicPr>
          <p:nvPr/>
        </p:nvPicPr>
        <p:blipFill>
          <a:blip r:embed="rId2"/>
          <a:stretch>
            <a:fillRect/>
          </a:stretch>
        </p:blipFill>
        <p:spPr>
          <a:xfrm>
            <a:off x="2503953" y="250000"/>
            <a:ext cx="8934094" cy="6408000"/>
          </a:xfrm>
          <a:prstGeom prst="rect">
            <a:avLst/>
          </a:prstGeom>
        </p:spPr>
      </p:pic>
    </p:spTree>
    <p:extLst>
      <p:ext uri="{BB962C8B-B14F-4D97-AF65-F5344CB8AC3E}">
        <p14:creationId xmlns:p14="http://schemas.microsoft.com/office/powerpoint/2010/main" val="42054225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A814C-E4F7-6205-148C-A7A5A668DBEF}"/>
              </a:ext>
            </a:extLst>
          </p:cNvPr>
          <p:cNvSpPr>
            <a:spLocks noGrp="1"/>
          </p:cNvSpPr>
          <p:nvPr>
            <p:ph type="title"/>
          </p:nvPr>
        </p:nvSpPr>
        <p:spPr>
          <a:xfrm>
            <a:off x="-21335" y="23304"/>
            <a:ext cx="10515600" cy="1325563"/>
          </a:xfrm>
        </p:spPr>
        <p:txBody>
          <a:bodyPr>
            <a:normAutofit/>
          </a:bodyPr>
          <a:lstStyle/>
          <a:p>
            <a:r>
              <a:rPr lang="en-US" sz="3200" dirty="0"/>
              <a:t>Prompt</a:t>
            </a:r>
            <a:br>
              <a:rPr lang="en-US" sz="3200" dirty="0"/>
            </a:br>
            <a:r>
              <a:rPr lang="en-US" sz="3200" dirty="0"/>
              <a:t>v3</a:t>
            </a:r>
          </a:p>
        </p:txBody>
      </p:sp>
      <p:sp>
        <p:nvSpPr>
          <p:cNvPr id="3" name="Content Placeholder 2">
            <a:extLst>
              <a:ext uri="{FF2B5EF4-FFF2-40B4-BE49-F238E27FC236}">
                <a16:creationId xmlns:a16="http://schemas.microsoft.com/office/drawing/2014/main" id="{8021EBB6-B5F8-A2D5-E402-88D78555E814}"/>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C64E6CEB-BDB7-7B78-994C-E2B5CA2B0B06}"/>
              </a:ext>
            </a:extLst>
          </p:cNvPr>
          <p:cNvPicPr>
            <a:picLocks noChangeAspect="1"/>
          </p:cNvPicPr>
          <p:nvPr/>
        </p:nvPicPr>
        <p:blipFill>
          <a:blip r:embed="rId2"/>
          <a:stretch>
            <a:fillRect/>
          </a:stretch>
        </p:blipFill>
        <p:spPr>
          <a:xfrm>
            <a:off x="2900571" y="250000"/>
            <a:ext cx="8140858" cy="6408000"/>
          </a:xfrm>
          <a:prstGeom prst="rect">
            <a:avLst/>
          </a:prstGeom>
        </p:spPr>
      </p:pic>
    </p:spTree>
    <p:extLst>
      <p:ext uri="{BB962C8B-B14F-4D97-AF65-F5344CB8AC3E}">
        <p14:creationId xmlns:p14="http://schemas.microsoft.com/office/powerpoint/2010/main" val="42054225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A814C-E4F7-6205-148C-A7A5A668DBEF}"/>
              </a:ext>
            </a:extLst>
          </p:cNvPr>
          <p:cNvSpPr>
            <a:spLocks noGrp="1"/>
          </p:cNvSpPr>
          <p:nvPr>
            <p:ph type="title"/>
          </p:nvPr>
        </p:nvSpPr>
        <p:spPr>
          <a:xfrm>
            <a:off x="-21335" y="23304"/>
            <a:ext cx="10515600" cy="1325563"/>
          </a:xfrm>
        </p:spPr>
        <p:txBody>
          <a:bodyPr>
            <a:normAutofit/>
          </a:bodyPr>
          <a:lstStyle/>
          <a:p>
            <a:r>
              <a:rPr lang="en-US" sz="3200" dirty="0"/>
              <a:t>Prompt</a:t>
            </a:r>
            <a:br>
              <a:rPr lang="en-US" sz="3200" dirty="0"/>
            </a:br>
            <a:r>
              <a:rPr lang="en-US" sz="3200" dirty="0"/>
              <a:t>v3</a:t>
            </a:r>
          </a:p>
        </p:txBody>
      </p:sp>
      <p:sp>
        <p:nvSpPr>
          <p:cNvPr id="3" name="Content Placeholder 2">
            <a:extLst>
              <a:ext uri="{FF2B5EF4-FFF2-40B4-BE49-F238E27FC236}">
                <a16:creationId xmlns:a16="http://schemas.microsoft.com/office/drawing/2014/main" id="{8021EBB6-B5F8-A2D5-E402-88D78555E814}"/>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C64E6CEB-BDB7-7B78-994C-E2B5CA2B0B06}"/>
              </a:ext>
            </a:extLst>
          </p:cNvPr>
          <p:cNvPicPr>
            <a:picLocks noChangeAspect="1"/>
          </p:cNvPicPr>
          <p:nvPr/>
        </p:nvPicPr>
        <p:blipFill>
          <a:blip r:embed="rId2"/>
          <a:stretch>
            <a:fillRect/>
          </a:stretch>
        </p:blipFill>
        <p:spPr>
          <a:xfrm>
            <a:off x="1880000" y="636058"/>
            <a:ext cx="10182000" cy="5635883"/>
          </a:xfrm>
          <a:prstGeom prst="rect">
            <a:avLst/>
          </a:prstGeom>
        </p:spPr>
      </p:pic>
    </p:spTree>
    <p:extLst>
      <p:ext uri="{BB962C8B-B14F-4D97-AF65-F5344CB8AC3E}">
        <p14:creationId xmlns:p14="http://schemas.microsoft.com/office/powerpoint/2010/main" val="42054225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A814C-E4F7-6205-148C-A7A5A668DBEF}"/>
              </a:ext>
            </a:extLst>
          </p:cNvPr>
          <p:cNvSpPr>
            <a:spLocks noGrp="1"/>
          </p:cNvSpPr>
          <p:nvPr>
            <p:ph type="title"/>
          </p:nvPr>
        </p:nvSpPr>
        <p:spPr>
          <a:xfrm>
            <a:off x="-21335" y="23304"/>
            <a:ext cx="10515600" cy="1325563"/>
          </a:xfrm>
        </p:spPr>
        <p:txBody>
          <a:bodyPr>
            <a:normAutofit/>
          </a:bodyPr>
          <a:lstStyle/>
          <a:p>
            <a:r>
              <a:rPr lang="en-US" sz="3200" dirty="0"/>
              <a:t>Prompt</a:t>
            </a:r>
            <a:br>
              <a:rPr lang="en-US" sz="3200" dirty="0"/>
            </a:br>
            <a:r>
              <a:rPr lang="en-US" sz="3200" dirty="0"/>
              <a:t>v3</a:t>
            </a:r>
          </a:p>
        </p:txBody>
      </p:sp>
      <p:sp>
        <p:nvSpPr>
          <p:cNvPr id="3" name="Content Placeholder 2">
            <a:extLst>
              <a:ext uri="{FF2B5EF4-FFF2-40B4-BE49-F238E27FC236}">
                <a16:creationId xmlns:a16="http://schemas.microsoft.com/office/drawing/2014/main" id="{8021EBB6-B5F8-A2D5-E402-88D78555E814}"/>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C64E6CEB-BDB7-7B78-994C-E2B5CA2B0B06}"/>
              </a:ext>
            </a:extLst>
          </p:cNvPr>
          <p:cNvPicPr>
            <a:picLocks noChangeAspect="1"/>
          </p:cNvPicPr>
          <p:nvPr/>
        </p:nvPicPr>
        <p:blipFill>
          <a:blip r:embed="rId2"/>
          <a:stretch>
            <a:fillRect/>
          </a:stretch>
        </p:blipFill>
        <p:spPr>
          <a:xfrm>
            <a:off x="2317394" y="250000"/>
            <a:ext cx="9307211" cy="6408000"/>
          </a:xfrm>
          <a:prstGeom prst="rect">
            <a:avLst/>
          </a:prstGeom>
        </p:spPr>
      </p:pic>
    </p:spTree>
    <p:extLst>
      <p:ext uri="{BB962C8B-B14F-4D97-AF65-F5344CB8AC3E}">
        <p14:creationId xmlns:p14="http://schemas.microsoft.com/office/powerpoint/2010/main" val="42054225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A814C-E4F7-6205-148C-A7A5A668DBEF}"/>
              </a:ext>
            </a:extLst>
          </p:cNvPr>
          <p:cNvSpPr>
            <a:spLocks noGrp="1"/>
          </p:cNvSpPr>
          <p:nvPr>
            <p:ph type="title"/>
          </p:nvPr>
        </p:nvSpPr>
        <p:spPr>
          <a:xfrm>
            <a:off x="-21335" y="23304"/>
            <a:ext cx="10515600" cy="1325563"/>
          </a:xfrm>
        </p:spPr>
        <p:txBody>
          <a:bodyPr>
            <a:normAutofit/>
          </a:bodyPr>
          <a:lstStyle/>
          <a:p>
            <a:r>
              <a:rPr lang="en-US" sz="3200" dirty="0"/>
              <a:t>Prompt</a:t>
            </a:r>
            <a:br>
              <a:rPr lang="en-US" sz="3200" dirty="0"/>
            </a:br>
            <a:r>
              <a:rPr lang="en-US" sz="3200" dirty="0"/>
              <a:t>v3</a:t>
            </a:r>
          </a:p>
        </p:txBody>
      </p:sp>
      <p:sp>
        <p:nvSpPr>
          <p:cNvPr id="3" name="Content Placeholder 2">
            <a:extLst>
              <a:ext uri="{FF2B5EF4-FFF2-40B4-BE49-F238E27FC236}">
                <a16:creationId xmlns:a16="http://schemas.microsoft.com/office/drawing/2014/main" id="{8021EBB6-B5F8-A2D5-E402-88D78555E814}"/>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C64E6CEB-BDB7-7B78-994C-E2B5CA2B0B06}"/>
              </a:ext>
            </a:extLst>
          </p:cNvPr>
          <p:cNvPicPr>
            <a:picLocks noChangeAspect="1"/>
          </p:cNvPicPr>
          <p:nvPr/>
        </p:nvPicPr>
        <p:blipFill>
          <a:blip r:embed="rId2"/>
          <a:stretch>
            <a:fillRect/>
          </a:stretch>
        </p:blipFill>
        <p:spPr>
          <a:xfrm>
            <a:off x="2914975" y="250000"/>
            <a:ext cx="8112049" cy="6408000"/>
          </a:xfrm>
          <a:prstGeom prst="rect">
            <a:avLst/>
          </a:prstGeom>
        </p:spPr>
      </p:pic>
    </p:spTree>
    <p:extLst>
      <p:ext uri="{BB962C8B-B14F-4D97-AF65-F5344CB8AC3E}">
        <p14:creationId xmlns:p14="http://schemas.microsoft.com/office/powerpoint/2010/main" val="42054225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A814C-E4F7-6205-148C-A7A5A668DBEF}"/>
              </a:ext>
            </a:extLst>
          </p:cNvPr>
          <p:cNvSpPr>
            <a:spLocks noGrp="1"/>
          </p:cNvSpPr>
          <p:nvPr>
            <p:ph type="title"/>
          </p:nvPr>
        </p:nvSpPr>
        <p:spPr>
          <a:xfrm>
            <a:off x="-21335" y="23304"/>
            <a:ext cx="10515600" cy="1325563"/>
          </a:xfrm>
        </p:spPr>
        <p:txBody>
          <a:bodyPr>
            <a:normAutofit/>
          </a:bodyPr>
          <a:lstStyle/>
          <a:p>
            <a:r>
              <a:rPr lang="en-US" sz="3200" dirty="0"/>
              <a:t>Examples</a:t>
            </a:r>
            <a:br>
              <a:rPr lang="en-US" sz="3200" dirty="0"/>
            </a:br>
            <a:r>
              <a:rPr lang="en-US" sz="3200" dirty="0"/>
              <a:t>v3</a:t>
            </a:r>
          </a:p>
        </p:txBody>
      </p:sp>
      <p:sp>
        <p:nvSpPr>
          <p:cNvPr id="3" name="Content Placeholder 2">
            <a:extLst>
              <a:ext uri="{FF2B5EF4-FFF2-40B4-BE49-F238E27FC236}">
                <a16:creationId xmlns:a16="http://schemas.microsoft.com/office/drawing/2014/main" id="{8021EBB6-B5F8-A2D5-E402-88D78555E814}"/>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C64E6CEB-BDB7-7B78-994C-E2B5CA2B0B06}"/>
              </a:ext>
            </a:extLst>
          </p:cNvPr>
          <p:cNvPicPr>
            <a:picLocks noChangeAspect="1"/>
          </p:cNvPicPr>
          <p:nvPr/>
        </p:nvPicPr>
        <p:blipFill>
          <a:blip r:embed="rId2"/>
          <a:stretch>
            <a:fillRect/>
          </a:stretch>
        </p:blipFill>
        <p:spPr>
          <a:xfrm>
            <a:off x="1880000" y="501870"/>
            <a:ext cx="10182000" cy="5904259"/>
          </a:xfrm>
          <a:prstGeom prst="rect">
            <a:avLst/>
          </a:prstGeom>
        </p:spPr>
      </p:pic>
    </p:spTree>
    <p:extLst>
      <p:ext uri="{BB962C8B-B14F-4D97-AF65-F5344CB8AC3E}">
        <p14:creationId xmlns:p14="http://schemas.microsoft.com/office/powerpoint/2010/main" val="42054225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A814C-E4F7-6205-148C-A7A5A668DBEF}"/>
              </a:ext>
            </a:extLst>
          </p:cNvPr>
          <p:cNvSpPr>
            <a:spLocks noGrp="1"/>
          </p:cNvSpPr>
          <p:nvPr>
            <p:ph type="title"/>
          </p:nvPr>
        </p:nvSpPr>
        <p:spPr>
          <a:xfrm>
            <a:off x="-21335" y="23304"/>
            <a:ext cx="10515600" cy="1325563"/>
          </a:xfrm>
        </p:spPr>
        <p:txBody>
          <a:bodyPr>
            <a:normAutofit/>
          </a:bodyPr>
          <a:lstStyle/>
          <a:p>
            <a:r>
              <a:rPr lang="en-US" sz="3200" dirty="0"/>
              <a:t>Examples</a:t>
            </a:r>
            <a:br>
              <a:rPr lang="en-US" sz="3200" dirty="0"/>
            </a:br>
            <a:r>
              <a:rPr lang="en-US" sz="3200" dirty="0"/>
              <a:t>v3</a:t>
            </a:r>
          </a:p>
        </p:txBody>
      </p:sp>
      <p:sp>
        <p:nvSpPr>
          <p:cNvPr id="3" name="Content Placeholder 2">
            <a:extLst>
              <a:ext uri="{FF2B5EF4-FFF2-40B4-BE49-F238E27FC236}">
                <a16:creationId xmlns:a16="http://schemas.microsoft.com/office/drawing/2014/main" id="{8021EBB6-B5F8-A2D5-E402-88D78555E814}"/>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C64E6CEB-BDB7-7B78-994C-E2B5CA2B0B06}"/>
              </a:ext>
            </a:extLst>
          </p:cNvPr>
          <p:cNvPicPr>
            <a:picLocks noChangeAspect="1"/>
          </p:cNvPicPr>
          <p:nvPr/>
        </p:nvPicPr>
        <p:blipFill>
          <a:blip r:embed="rId2"/>
          <a:stretch>
            <a:fillRect/>
          </a:stretch>
        </p:blipFill>
        <p:spPr>
          <a:xfrm>
            <a:off x="2841913" y="250000"/>
            <a:ext cx="8258174" cy="6408000"/>
          </a:xfrm>
          <a:prstGeom prst="rect">
            <a:avLst/>
          </a:prstGeom>
        </p:spPr>
      </p:pic>
    </p:spTree>
    <p:extLst>
      <p:ext uri="{BB962C8B-B14F-4D97-AF65-F5344CB8AC3E}">
        <p14:creationId xmlns:p14="http://schemas.microsoft.com/office/powerpoint/2010/main" val="42054225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A814C-E4F7-6205-148C-A7A5A668DBEF}"/>
              </a:ext>
            </a:extLst>
          </p:cNvPr>
          <p:cNvSpPr>
            <a:spLocks noGrp="1"/>
          </p:cNvSpPr>
          <p:nvPr>
            <p:ph type="title"/>
          </p:nvPr>
        </p:nvSpPr>
        <p:spPr>
          <a:xfrm>
            <a:off x="-21335" y="23304"/>
            <a:ext cx="10515600" cy="1325563"/>
          </a:xfrm>
        </p:spPr>
        <p:txBody>
          <a:bodyPr>
            <a:normAutofit/>
          </a:bodyPr>
          <a:lstStyle/>
          <a:p>
            <a:r>
              <a:rPr lang="en-US" sz="3200" dirty="0"/>
              <a:t>Examples</a:t>
            </a:r>
            <a:br>
              <a:rPr lang="en-US" sz="3200" dirty="0"/>
            </a:br>
            <a:r>
              <a:rPr lang="en-US" sz="3200" dirty="0"/>
              <a:t>v3</a:t>
            </a:r>
          </a:p>
        </p:txBody>
      </p:sp>
      <p:sp>
        <p:nvSpPr>
          <p:cNvPr id="3" name="Content Placeholder 2">
            <a:extLst>
              <a:ext uri="{FF2B5EF4-FFF2-40B4-BE49-F238E27FC236}">
                <a16:creationId xmlns:a16="http://schemas.microsoft.com/office/drawing/2014/main" id="{8021EBB6-B5F8-A2D5-E402-88D78555E814}"/>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C64E6CEB-BDB7-7B78-994C-E2B5CA2B0B06}"/>
              </a:ext>
            </a:extLst>
          </p:cNvPr>
          <p:cNvPicPr>
            <a:picLocks noChangeAspect="1"/>
          </p:cNvPicPr>
          <p:nvPr/>
        </p:nvPicPr>
        <p:blipFill>
          <a:blip r:embed="rId2"/>
          <a:stretch>
            <a:fillRect/>
          </a:stretch>
        </p:blipFill>
        <p:spPr>
          <a:xfrm>
            <a:off x="2009456" y="250000"/>
            <a:ext cx="9923087" cy="6408000"/>
          </a:xfrm>
          <a:prstGeom prst="rect">
            <a:avLst/>
          </a:prstGeom>
        </p:spPr>
      </p:pic>
    </p:spTree>
    <p:extLst>
      <p:ext uri="{BB962C8B-B14F-4D97-AF65-F5344CB8AC3E}">
        <p14:creationId xmlns:p14="http://schemas.microsoft.com/office/powerpoint/2010/main" val="42054225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6529" y="-95966"/>
            <a:ext cx="12100000" cy="877844"/>
          </a:xfrm>
        </p:spPr>
        <p:txBody>
          <a:bodyPr>
            <a:normAutofit/>
          </a:bodyPr>
          <a:lstStyle/>
          <a:p>
            <a:r>
              <a:rPr lang="en-US" sz="2400" dirty="0"/>
              <a:t>LLM–human agreement across versions</a:t>
            </a:r>
          </a:p>
        </p:txBody>
      </p:sp>
      <p:pic>
        <p:nvPicPr>
          <p:cNvPr id="3" name="Picture 2">
            <a:extLst>
              <a:ext uri="{FF2B5EF4-FFF2-40B4-BE49-F238E27FC236}">
                <a16:creationId xmlns:a16="http://schemas.microsoft.com/office/drawing/2014/main" id="{1F6D04A0-D4B8-DDED-3819-93BC90569241}"/>
              </a:ext>
            </a:extLst>
          </p:cNvPr>
          <p:cNvPicPr>
            <a:picLocks noChangeAspect="1"/>
          </p:cNvPicPr>
          <p:nvPr/>
        </p:nvPicPr>
        <p:blipFill>
          <a:blip r:embed="rId3"/>
          <a:srcRect/>
          <a:stretch/>
        </p:blipFill>
        <p:spPr>
          <a:xfrm>
            <a:off x="113335" y="1022043"/>
            <a:ext cx="11821987" cy="5788793"/>
          </a:xfrm>
          <a:prstGeom prst="rect">
            <a:avLst/>
          </a:prstGeom>
        </p:spPr>
      </p:pic>
      <p:pic>
        <p:nvPicPr>
          <p:cNvPr id="6" name="Picture 5">
            <a:extLst>
              <a:ext uri="{FF2B5EF4-FFF2-40B4-BE49-F238E27FC236}">
                <a16:creationId xmlns:a16="http://schemas.microsoft.com/office/drawing/2014/main" id="{6CCCC4E8-E439-DDEB-4F70-9EA489BC710B}"/>
              </a:ext>
            </a:extLst>
          </p:cNvPr>
          <p:cNvPicPr>
            <a:picLocks noChangeAspect="1"/>
          </p:cNvPicPr>
          <p:nvPr/>
        </p:nvPicPr>
        <p:blipFill>
          <a:blip r:embed="rId4"/>
          <a:stretch>
            <a:fillRect/>
          </a:stretch>
        </p:blipFill>
        <p:spPr>
          <a:xfrm>
            <a:off x="9568069" y="1176134"/>
            <a:ext cx="2017643" cy="5044108"/>
          </a:xfrm>
          <a:prstGeom prst="rect">
            <a:avLst/>
          </a:prstGeom>
        </p:spPr>
      </p:pic>
      <p:sp>
        <p:nvSpPr>
          <p:cNvPr id="7" name="Rectangle 6">
            <a:extLst>
              <a:ext uri="{FF2B5EF4-FFF2-40B4-BE49-F238E27FC236}">
                <a16:creationId xmlns:a16="http://schemas.microsoft.com/office/drawing/2014/main" id="{86582BF8-308B-8B97-E8A2-9A4B95C3CA89}"/>
              </a:ext>
            </a:extLst>
          </p:cNvPr>
          <p:cNvSpPr/>
          <p:nvPr/>
        </p:nvSpPr>
        <p:spPr>
          <a:xfrm>
            <a:off x="4717774" y="1022043"/>
            <a:ext cx="2120348" cy="5198199"/>
          </a:xfrm>
          <a:prstGeom prst="rect">
            <a:avLst/>
          </a:prstGeom>
          <a:solidFill>
            <a:srgbClr val="FF0000">
              <a:alpha val="15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93949E29-86EB-FB71-E53A-FE027CD2BCFE}"/>
              </a:ext>
            </a:extLst>
          </p:cNvPr>
          <p:cNvSpPr txBox="1"/>
          <p:nvPr/>
        </p:nvSpPr>
        <p:spPr>
          <a:xfrm>
            <a:off x="4596310" y="652711"/>
            <a:ext cx="2363276" cy="369332"/>
          </a:xfrm>
          <a:prstGeom prst="rect">
            <a:avLst/>
          </a:prstGeom>
          <a:noFill/>
        </p:spPr>
        <p:txBody>
          <a:bodyPr wrap="none" rtlCol="0">
            <a:spAutoFit/>
          </a:bodyPr>
          <a:lstStyle/>
          <a:p>
            <a:pPr algn="ctr"/>
            <a:r>
              <a:rPr lang="en-US" dirty="0">
                <a:solidFill>
                  <a:srgbClr val="FF0000"/>
                </a:solidFill>
              </a:rPr>
              <a:t>Prompt contaminated</a:t>
            </a:r>
          </a:p>
        </p:txBody>
      </p:sp>
      <p:sp>
        <p:nvSpPr>
          <p:cNvPr id="9" name="Rectangle 8">
            <a:extLst>
              <a:ext uri="{FF2B5EF4-FFF2-40B4-BE49-F238E27FC236}">
                <a16:creationId xmlns:a16="http://schemas.microsoft.com/office/drawing/2014/main" id="{76B3318C-2378-4466-A51B-9097F9C9D3F9}"/>
              </a:ext>
            </a:extLst>
          </p:cNvPr>
          <p:cNvSpPr/>
          <p:nvPr/>
        </p:nvSpPr>
        <p:spPr>
          <a:xfrm>
            <a:off x="10893287" y="5738191"/>
            <a:ext cx="490330" cy="234557"/>
          </a:xfrm>
          <a:prstGeom prst="rect">
            <a:avLst/>
          </a:prstGeom>
          <a:solidFill>
            <a:srgbClr val="FFFF00">
              <a:alpha val="17744"/>
            </a:srgbClr>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Left Bracket 9">
            <a:extLst>
              <a:ext uri="{FF2B5EF4-FFF2-40B4-BE49-F238E27FC236}">
                <a16:creationId xmlns:a16="http://schemas.microsoft.com/office/drawing/2014/main" id="{CD6116AC-C1AC-32A5-796F-03EBC13B1F16}"/>
              </a:ext>
            </a:extLst>
          </p:cNvPr>
          <p:cNvSpPr/>
          <p:nvPr/>
        </p:nvSpPr>
        <p:spPr>
          <a:xfrm rot="5400000">
            <a:off x="10665020" y="583433"/>
            <a:ext cx="234556" cy="1202637"/>
          </a:xfrm>
          <a:prstGeom prst="leftBracket">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1" name="TextBox 10">
            <a:extLst>
              <a:ext uri="{FF2B5EF4-FFF2-40B4-BE49-F238E27FC236}">
                <a16:creationId xmlns:a16="http://schemas.microsoft.com/office/drawing/2014/main" id="{2FF8F2E4-786F-D4F9-174E-760275140E7F}"/>
              </a:ext>
            </a:extLst>
          </p:cNvPr>
          <p:cNvSpPr txBox="1"/>
          <p:nvPr/>
        </p:nvSpPr>
        <p:spPr>
          <a:xfrm>
            <a:off x="9914111" y="717295"/>
            <a:ext cx="1736373" cy="369332"/>
          </a:xfrm>
          <a:prstGeom prst="rect">
            <a:avLst/>
          </a:prstGeom>
          <a:noFill/>
        </p:spPr>
        <p:txBody>
          <a:bodyPr wrap="none" rtlCol="0">
            <a:spAutoFit/>
          </a:bodyPr>
          <a:lstStyle/>
          <a:p>
            <a:r>
              <a:rPr lang="en-US" dirty="0">
                <a:solidFill>
                  <a:schemeClr val="accent6">
                    <a:lumMod val="75000"/>
                  </a:schemeClr>
                </a:solidFill>
              </a:rPr>
              <a:t>80 unseen lines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D136F1-B3CF-A95D-3A0B-289761621269}"/>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E0A15D2D-8441-5C7A-A97A-E6678696E618}"/>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69065154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0B3A9E-9861-C085-0E70-0AA76330BF3A}"/>
              </a:ext>
            </a:extLst>
          </p:cNvPr>
          <p:cNvSpPr>
            <a:spLocks noGrp="1"/>
          </p:cNvSpPr>
          <p:nvPr>
            <p:ph type="title"/>
          </p:nvPr>
        </p:nvSpPr>
        <p:spPr>
          <a:xfrm>
            <a:off x="1327893" y="721566"/>
            <a:ext cx="10237304" cy="1485900"/>
          </a:xfrm>
        </p:spPr>
        <p:txBody>
          <a:bodyPr/>
          <a:lstStyle/>
          <a:p>
            <a:r>
              <a:rPr lang="en-US" dirty="0"/>
              <a:t>Origins of logical thought: </a:t>
            </a:r>
            <a:br>
              <a:rPr lang="en-US" dirty="0"/>
            </a:br>
            <a:r>
              <a:rPr lang="en-US" dirty="0"/>
              <a:t>Two opposing views</a:t>
            </a:r>
          </a:p>
        </p:txBody>
      </p:sp>
      <p:sp>
        <p:nvSpPr>
          <p:cNvPr id="6" name="Text Placeholder 5">
            <a:extLst>
              <a:ext uri="{FF2B5EF4-FFF2-40B4-BE49-F238E27FC236}">
                <a16:creationId xmlns:a16="http://schemas.microsoft.com/office/drawing/2014/main" id="{84BFE03A-CFB0-26EF-EF00-6AF57ED2691F}"/>
              </a:ext>
            </a:extLst>
          </p:cNvPr>
          <p:cNvSpPr>
            <a:spLocks noGrp="1"/>
          </p:cNvSpPr>
          <p:nvPr>
            <p:ph type="body" sz="quarter" idx="3"/>
          </p:nvPr>
        </p:nvSpPr>
        <p:spPr>
          <a:xfrm>
            <a:off x="1356921" y="2534279"/>
            <a:ext cx="3703745" cy="823912"/>
          </a:xfrm>
        </p:spPr>
        <p:txBody>
          <a:bodyPr/>
          <a:lstStyle/>
          <a:p>
            <a:r>
              <a:rPr lang="en-US" dirty="0"/>
              <a:t>No logical thought without language</a:t>
            </a:r>
          </a:p>
        </p:txBody>
      </p:sp>
      <p:sp>
        <p:nvSpPr>
          <p:cNvPr id="4" name="Text Placeholder 3">
            <a:extLst>
              <a:ext uri="{FF2B5EF4-FFF2-40B4-BE49-F238E27FC236}">
                <a16:creationId xmlns:a16="http://schemas.microsoft.com/office/drawing/2014/main" id="{8EF92F49-906A-2E9C-0CBE-B1B0C8A251F5}"/>
              </a:ext>
            </a:extLst>
          </p:cNvPr>
          <p:cNvSpPr>
            <a:spLocks noGrp="1"/>
          </p:cNvSpPr>
          <p:nvPr>
            <p:ph type="body" idx="1"/>
          </p:nvPr>
        </p:nvSpPr>
        <p:spPr>
          <a:xfrm>
            <a:off x="7453333" y="2534279"/>
            <a:ext cx="4584192" cy="823912"/>
          </a:xfrm>
        </p:spPr>
        <p:txBody>
          <a:bodyPr/>
          <a:lstStyle/>
          <a:p>
            <a:r>
              <a:rPr lang="en-US" dirty="0"/>
              <a:t>Logical thought necessarily precedes language</a:t>
            </a:r>
          </a:p>
        </p:txBody>
      </p:sp>
      <p:sp>
        <p:nvSpPr>
          <p:cNvPr id="5" name="Content Placeholder 4">
            <a:extLst>
              <a:ext uri="{FF2B5EF4-FFF2-40B4-BE49-F238E27FC236}">
                <a16:creationId xmlns:a16="http://schemas.microsoft.com/office/drawing/2014/main" id="{482CEBEB-3CAA-B74D-E79F-EE6CDDF062DF}"/>
              </a:ext>
            </a:extLst>
          </p:cNvPr>
          <p:cNvSpPr>
            <a:spLocks noGrp="1"/>
          </p:cNvSpPr>
          <p:nvPr>
            <p:ph sz="half" idx="2"/>
          </p:nvPr>
        </p:nvSpPr>
        <p:spPr>
          <a:xfrm>
            <a:off x="7919073" y="3498622"/>
            <a:ext cx="4443984" cy="2562193"/>
          </a:xfrm>
        </p:spPr>
        <p:txBody>
          <a:bodyPr/>
          <a:lstStyle/>
          <a:p>
            <a:r>
              <a:rPr lang="en-US" dirty="0"/>
              <a:t>E.g., Fodor</a:t>
            </a:r>
          </a:p>
        </p:txBody>
      </p:sp>
      <p:sp>
        <p:nvSpPr>
          <p:cNvPr id="7" name="Content Placeholder 6">
            <a:extLst>
              <a:ext uri="{FF2B5EF4-FFF2-40B4-BE49-F238E27FC236}">
                <a16:creationId xmlns:a16="http://schemas.microsoft.com/office/drawing/2014/main" id="{CE140491-A76F-5125-8695-63976DBD3C19}"/>
              </a:ext>
            </a:extLst>
          </p:cNvPr>
          <p:cNvSpPr>
            <a:spLocks noGrp="1"/>
          </p:cNvSpPr>
          <p:nvPr>
            <p:ph sz="quarter" idx="4"/>
          </p:nvPr>
        </p:nvSpPr>
        <p:spPr>
          <a:xfrm>
            <a:off x="1356921" y="3511012"/>
            <a:ext cx="4443984" cy="2562193"/>
          </a:xfrm>
        </p:spPr>
        <p:txBody>
          <a:bodyPr/>
          <a:lstStyle/>
          <a:p>
            <a:r>
              <a:rPr lang="en-US" dirty="0"/>
              <a:t>E.g., Davidson, Bermudez</a:t>
            </a:r>
          </a:p>
        </p:txBody>
      </p:sp>
      <p:sp>
        <p:nvSpPr>
          <p:cNvPr id="8" name="Oval Callout 7">
            <a:extLst>
              <a:ext uri="{FF2B5EF4-FFF2-40B4-BE49-F238E27FC236}">
                <a16:creationId xmlns:a16="http://schemas.microsoft.com/office/drawing/2014/main" id="{77BD776C-C86D-EA5B-A8BE-A79AB3C193B4}"/>
              </a:ext>
            </a:extLst>
          </p:cNvPr>
          <p:cNvSpPr/>
          <p:nvPr/>
        </p:nvSpPr>
        <p:spPr>
          <a:xfrm>
            <a:off x="8077077" y="5406196"/>
            <a:ext cx="3080352" cy="981433"/>
          </a:xfrm>
          <a:prstGeom prst="wedgeEllipseCallout">
            <a:avLst>
              <a:gd name="adj1" fmla="val -69181"/>
              <a:gd name="adj2" fmla="val -8871"/>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9" name="Cloud Callout 8">
            <a:extLst>
              <a:ext uri="{FF2B5EF4-FFF2-40B4-BE49-F238E27FC236}">
                <a16:creationId xmlns:a16="http://schemas.microsoft.com/office/drawing/2014/main" id="{42DFAE47-ABE8-990A-3712-737AF111F4BD}"/>
              </a:ext>
            </a:extLst>
          </p:cNvPr>
          <p:cNvSpPr/>
          <p:nvPr/>
        </p:nvSpPr>
        <p:spPr>
          <a:xfrm>
            <a:off x="7990340" y="4046863"/>
            <a:ext cx="3153494" cy="1151965"/>
          </a:xfrm>
          <a:prstGeom prst="cloudCallout">
            <a:avLst>
              <a:gd name="adj1" fmla="val -66745"/>
              <a:gd name="adj2" fmla="val 4948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12" name="TextBox 11">
            <a:extLst>
              <a:ext uri="{FF2B5EF4-FFF2-40B4-BE49-F238E27FC236}">
                <a16:creationId xmlns:a16="http://schemas.microsoft.com/office/drawing/2014/main" id="{A2E7EAE6-EA2F-B0C6-BA2E-AA3B5CB0B194}"/>
              </a:ext>
            </a:extLst>
          </p:cNvPr>
          <p:cNvSpPr txBox="1"/>
          <p:nvPr/>
        </p:nvSpPr>
        <p:spPr>
          <a:xfrm>
            <a:off x="9048520" y="4391264"/>
            <a:ext cx="1083093" cy="338554"/>
          </a:xfrm>
          <a:prstGeom prst="rect">
            <a:avLst/>
          </a:prstGeom>
          <a:noFill/>
        </p:spPr>
        <p:txBody>
          <a:bodyPr wrap="square" rtlCol="0">
            <a:spAutoFit/>
          </a:bodyPr>
          <a:lstStyle/>
          <a:p>
            <a:r>
              <a:rPr lang="en-US" sz="1600" dirty="0"/>
              <a:t>NEGATION</a:t>
            </a:r>
          </a:p>
        </p:txBody>
      </p:sp>
      <p:cxnSp>
        <p:nvCxnSpPr>
          <p:cNvPr id="13" name="Straight Arrow Connector 12">
            <a:extLst>
              <a:ext uri="{FF2B5EF4-FFF2-40B4-BE49-F238E27FC236}">
                <a16:creationId xmlns:a16="http://schemas.microsoft.com/office/drawing/2014/main" id="{DFD96EED-602D-E56F-09E8-48085037DCE4}"/>
              </a:ext>
            </a:extLst>
          </p:cNvPr>
          <p:cNvCxnSpPr>
            <a:cxnSpLocks/>
            <a:stCxn id="12" idx="2"/>
            <a:endCxn id="20" idx="0"/>
          </p:cNvCxnSpPr>
          <p:nvPr/>
        </p:nvCxnSpPr>
        <p:spPr>
          <a:xfrm>
            <a:off x="9590067" y="4729818"/>
            <a:ext cx="0" cy="1037940"/>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pic>
        <p:nvPicPr>
          <p:cNvPr id="14" name="Picture 13">
            <a:extLst>
              <a:ext uri="{FF2B5EF4-FFF2-40B4-BE49-F238E27FC236}">
                <a16:creationId xmlns:a16="http://schemas.microsoft.com/office/drawing/2014/main" id="{18CB010A-6439-B697-77BA-AB60AFC52D62}"/>
              </a:ext>
            </a:extLst>
          </p:cNvPr>
          <p:cNvPicPr>
            <a:picLocks noChangeAspect="1"/>
          </p:cNvPicPr>
          <p:nvPr/>
        </p:nvPicPr>
        <p:blipFill>
          <a:blip r:embed="rId3"/>
          <a:stretch>
            <a:fillRect/>
          </a:stretch>
        </p:blipFill>
        <p:spPr>
          <a:xfrm>
            <a:off x="5787745" y="5090350"/>
            <a:ext cx="1460575" cy="1460575"/>
          </a:xfrm>
          <a:prstGeom prst="rect">
            <a:avLst/>
          </a:prstGeom>
        </p:spPr>
      </p:pic>
      <p:sp>
        <p:nvSpPr>
          <p:cNvPr id="17" name="Oval Callout 16">
            <a:extLst>
              <a:ext uri="{FF2B5EF4-FFF2-40B4-BE49-F238E27FC236}">
                <a16:creationId xmlns:a16="http://schemas.microsoft.com/office/drawing/2014/main" id="{8155DEA4-5594-7D8B-B199-DDA8CE42FA94}"/>
              </a:ext>
            </a:extLst>
          </p:cNvPr>
          <p:cNvSpPr/>
          <p:nvPr/>
        </p:nvSpPr>
        <p:spPr>
          <a:xfrm>
            <a:off x="1664007" y="5406196"/>
            <a:ext cx="3080352" cy="981433"/>
          </a:xfrm>
          <a:prstGeom prst="wedgeEllipseCallout">
            <a:avLst>
              <a:gd name="adj1" fmla="val 71277"/>
              <a:gd name="adj2" fmla="val -12011"/>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8" name="Cloud Callout 17">
            <a:extLst>
              <a:ext uri="{FF2B5EF4-FFF2-40B4-BE49-F238E27FC236}">
                <a16:creationId xmlns:a16="http://schemas.microsoft.com/office/drawing/2014/main" id="{C61F6B85-3371-B3AE-52F8-854C3C051CD7}"/>
              </a:ext>
            </a:extLst>
          </p:cNvPr>
          <p:cNvSpPr/>
          <p:nvPr/>
        </p:nvSpPr>
        <p:spPr>
          <a:xfrm>
            <a:off x="1577270" y="4046863"/>
            <a:ext cx="3153494" cy="1151965"/>
          </a:xfrm>
          <a:prstGeom prst="cloudCallout">
            <a:avLst>
              <a:gd name="adj1" fmla="val 76078"/>
              <a:gd name="adj2" fmla="val 46888"/>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20" name="TextBox 19">
            <a:extLst>
              <a:ext uri="{FF2B5EF4-FFF2-40B4-BE49-F238E27FC236}">
                <a16:creationId xmlns:a16="http://schemas.microsoft.com/office/drawing/2014/main" id="{F92944E8-5AC1-584E-AC27-6B0949F2A345}"/>
              </a:ext>
            </a:extLst>
          </p:cNvPr>
          <p:cNvSpPr txBox="1"/>
          <p:nvPr/>
        </p:nvSpPr>
        <p:spPr>
          <a:xfrm>
            <a:off x="9282130" y="5767758"/>
            <a:ext cx="615874" cy="369332"/>
          </a:xfrm>
          <a:prstGeom prst="rect">
            <a:avLst/>
          </a:prstGeom>
          <a:noFill/>
        </p:spPr>
        <p:txBody>
          <a:bodyPr wrap="none" rtlCol="0">
            <a:spAutoFit/>
          </a:bodyPr>
          <a:lstStyle/>
          <a:p>
            <a:r>
              <a:rPr lang="en-US" dirty="0"/>
              <a:t>“no”</a:t>
            </a:r>
          </a:p>
        </p:txBody>
      </p:sp>
      <p:sp>
        <p:nvSpPr>
          <p:cNvPr id="27" name="TextBox 26">
            <a:extLst>
              <a:ext uri="{FF2B5EF4-FFF2-40B4-BE49-F238E27FC236}">
                <a16:creationId xmlns:a16="http://schemas.microsoft.com/office/drawing/2014/main" id="{7AFA63A9-895E-ADAB-E2B2-B634773C2C4E}"/>
              </a:ext>
            </a:extLst>
          </p:cNvPr>
          <p:cNvSpPr txBox="1"/>
          <p:nvPr/>
        </p:nvSpPr>
        <p:spPr>
          <a:xfrm>
            <a:off x="2653941" y="4371696"/>
            <a:ext cx="1083093" cy="338554"/>
          </a:xfrm>
          <a:prstGeom prst="rect">
            <a:avLst/>
          </a:prstGeom>
          <a:noFill/>
        </p:spPr>
        <p:txBody>
          <a:bodyPr wrap="square" rtlCol="0">
            <a:spAutoFit/>
          </a:bodyPr>
          <a:lstStyle/>
          <a:p>
            <a:r>
              <a:rPr lang="en-US" sz="1600" dirty="0"/>
              <a:t>NEGATION</a:t>
            </a:r>
          </a:p>
        </p:txBody>
      </p:sp>
      <p:cxnSp>
        <p:nvCxnSpPr>
          <p:cNvPr id="28" name="Straight Arrow Connector 27">
            <a:extLst>
              <a:ext uri="{FF2B5EF4-FFF2-40B4-BE49-F238E27FC236}">
                <a16:creationId xmlns:a16="http://schemas.microsoft.com/office/drawing/2014/main" id="{8371465A-6DF6-8CDA-2B9E-F4E39A562361}"/>
              </a:ext>
            </a:extLst>
          </p:cNvPr>
          <p:cNvCxnSpPr>
            <a:cxnSpLocks/>
            <a:stCxn id="27" idx="2"/>
            <a:endCxn id="29" idx="0"/>
          </p:cNvCxnSpPr>
          <p:nvPr/>
        </p:nvCxnSpPr>
        <p:spPr>
          <a:xfrm>
            <a:off x="3195488" y="4710250"/>
            <a:ext cx="0" cy="1037940"/>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D77B7BD8-5A12-52C6-27CB-F4E5E1372D63}"/>
              </a:ext>
            </a:extLst>
          </p:cNvPr>
          <p:cNvSpPr txBox="1"/>
          <p:nvPr/>
        </p:nvSpPr>
        <p:spPr>
          <a:xfrm>
            <a:off x="2887551" y="5748190"/>
            <a:ext cx="615874" cy="369332"/>
          </a:xfrm>
          <a:prstGeom prst="rect">
            <a:avLst/>
          </a:prstGeom>
          <a:noFill/>
        </p:spPr>
        <p:txBody>
          <a:bodyPr wrap="none" rtlCol="0">
            <a:spAutoFit/>
          </a:bodyPr>
          <a:lstStyle/>
          <a:p>
            <a:r>
              <a:rPr lang="en-US" dirty="0"/>
              <a:t>“no”</a:t>
            </a:r>
          </a:p>
        </p:txBody>
      </p:sp>
      <p:sp>
        <p:nvSpPr>
          <p:cNvPr id="49" name="Curved Right Arrow 48">
            <a:extLst>
              <a:ext uri="{FF2B5EF4-FFF2-40B4-BE49-F238E27FC236}">
                <a16:creationId xmlns:a16="http://schemas.microsoft.com/office/drawing/2014/main" id="{4416949A-997E-6662-FFD2-C070C3610650}"/>
              </a:ext>
            </a:extLst>
          </p:cNvPr>
          <p:cNvSpPr/>
          <p:nvPr/>
        </p:nvSpPr>
        <p:spPr>
          <a:xfrm flipH="1">
            <a:off x="11307430" y="4423074"/>
            <a:ext cx="787092" cy="1529350"/>
          </a:xfrm>
          <a:prstGeom prst="curvedRightArrow">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0" name="Curved Right Arrow 49">
            <a:extLst>
              <a:ext uri="{FF2B5EF4-FFF2-40B4-BE49-F238E27FC236}">
                <a16:creationId xmlns:a16="http://schemas.microsoft.com/office/drawing/2014/main" id="{2185F521-82A1-68F6-413E-8A8540977782}"/>
              </a:ext>
            </a:extLst>
          </p:cNvPr>
          <p:cNvSpPr/>
          <p:nvPr/>
        </p:nvSpPr>
        <p:spPr>
          <a:xfrm rot="10800000" flipH="1">
            <a:off x="794811" y="4462453"/>
            <a:ext cx="787091" cy="1529350"/>
          </a:xfrm>
          <a:prstGeom prst="curvedRightArrow">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4513571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20"/>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13"/>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49"/>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6">
                                            <p:txEl>
                                              <p:pRg st="0" end="0"/>
                                            </p:txEl>
                                          </p:spTgt>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18"/>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29"/>
                                        </p:tgtEl>
                                        <p:attrNameLst>
                                          <p:attrName>style.visibility</p:attrName>
                                        </p:attrNameLst>
                                      </p:cBhvr>
                                      <p:to>
                                        <p:strVal val="visible"/>
                                      </p:to>
                                    </p:set>
                                  </p:childTnLst>
                                </p:cTn>
                              </p:par>
                              <p:par>
                                <p:cTn id="46" presetID="1" presetClass="entr" presetSubtype="0" fill="hold" grpId="0" nodeType="withEffect">
                                  <p:stCondLst>
                                    <p:cond delay="0"/>
                                  </p:stCondLst>
                                  <p:childTnLst>
                                    <p:set>
                                      <p:cBhvr>
                                        <p:cTn id="47" dur="1" fill="hold">
                                          <p:stCondLst>
                                            <p:cond delay="0"/>
                                          </p:stCondLst>
                                        </p:cTn>
                                        <p:tgtEl>
                                          <p:spTgt spid="17"/>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nodeType="clickEffect">
                                  <p:stCondLst>
                                    <p:cond delay="0"/>
                                  </p:stCondLst>
                                  <p:childTnLst>
                                    <p:set>
                                      <p:cBhvr>
                                        <p:cTn id="51" dur="1" fill="hold">
                                          <p:stCondLst>
                                            <p:cond delay="0"/>
                                          </p:stCondLst>
                                        </p:cTn>
                                        <p:tgtEl>
                                          <p:spTgt spid="28"/>
                                        </p:tgtEl>
                                        <p:attrNameLst>
                                          <p:attrName>style.visibility</p:attrName>
                                        </p:attrNameLst>
                                      </p:cBhvr>
                                      <p:to>
                                        <p:strVal val="visible"/>
                                      </p:to>
                                    </p:set>
                                  </p:childTnLst>
                                </p:cTn>
                              </p:par>
                              <p:par>
                                <p:cTn id="52" presetID="1" presetClass="entr" presetSubtype="0" fill="hold" grpId="0" nodeType="withEffect">
                                  <p:stCondLst>
                                    <p:cond delay="0"/>
                                  </p:stCondLst>
                                  <p:childTnLst>
                                    <p:set>
                                      <p:cBhvr>
                                        <p:cTn id="53" dur="1" fill="hold">
                                          <p:stCondLst>
                                            <p:cond delay="0"/>
                                          </p:stCondLst>
                                        </p:cTn>
                                        <p:tgtEl>
                                          <p:spTgt spid="27"/>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4" grpId="0" build="p"/>
      <p:bldP spid="5" grpId="0" build="p"/>
      <p:bldP spid="7" grpId="0" build="p"/>
      <p:bldP spid="8" grpId="0" animBg="1"/>
      <p:bldP spid="9" grpId="0" animBg="1"/>
      <p:bldP spid="12" grpId="0"/>
      <p:bldP spid="17" grpId="0" animBg="1"/>
      <p:bldP spid="18" grpId="0" animBg="1"/>
      <p:bldP spid="20" grpId="0"/>
      <p:bldP spid="27" grpId="0"/>
      <p:bldP spid="29" grpId="0"/>
      <p:bldP spid="49" grpId="0" animBg="1"/>
      <p:bldP spid="50" grpId="0" animBg="1"/>
    </p:bldLst>
  </p:timing>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682B81-9E73-19C4-DC4D-F757EBB25EBA}"/>
              </a:ext>
            </a:extLst>
          </p:cNvPr>
          <p:cNvSpPr>
            <a:spLocks noGrp="1"/>
          </p:cNvSpPr>
          <p:nvPr>
            <p:ph type="title"/>
          </p:nvPr>
        </p:nvSpPr>
        <p:spPr>
          <a:xfrm>
            <a:off x="1154633" y="-129424"/>
            <a:ext cx="12407900" cy="1485900"/>
          </a:xfrm>
        </p:spPr>
        <p:txBody>
          <a:bodyPr/>
          <a:lstStyle/>
          <a:p>
            <a:r>
              <a:rPr lang="en-US" dirty="0"/>
              <a:t>Logical negation emerges late</a:t>
            </a:r>
          </a:p>
        </p:txBody>
      </p:sp>
      <p:sp>
        <p:nvSpPr>
          <p:cNvPr id="36" name="TextBox 35">
            <a:extLst>
              <a:ext uri="{FF2B5EF4-FFF2-40B4-BE49-F238E27FC236}">
                <a16:creationId xmlns:a16="http://schemas.microsoft.com/office/drawing/2014/main" id="{CC9FE39D-2592-972D-58F2-1091C0445F07}"/>
              </a:ext>
            </a:extLst>
          </p:cNvPr>
          <p:cNvSpPr txBox="1"/>
          <p:nvPr/>
        </p:nvSpPr>
        <p:spPr>
          <a:xfrm>
            <a:off x="10889061" y="6514068"/>
            <a:ext cx="1304973" cy="33855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E8E8E8">
                    <a:lumMod val="50000"/>
                  </a:srgbClr>
                </a:solidFill>
                <a:effectLst/>
                <a:uLnTx/>
                <a:uFillTx/>
                <a:latin typeface="Franklin Gothic Book" panose="020B0503020102020204"/>
                <a:ea typeface="+mn-ea"/>
                <a:cs typeface="+mn-cs"/>
              </a:rPr>
              <a:t>Bloom, 1970</a:t>
            </a:r>
          </a:p>
        </p:txBody>
      </p:sp>
      <p:cxnSp>
        <p:nvCxnSpPr>
          <p:cNvPr id="32" name="Straight Arrow Connector 31">
            <a:extLst>
              <a:ext uri="{FF2B5EF4-FFF2-40B4-BE49-F238E27FC236}">
                <a16:creationId xmlns:a16="http://schemas.microsoft.com/office/drawing/2014/main" id="{DCCB8DFC-B2AA-B53F-BAE7-A7CC3BB67286}"/>
              </a:ext>
            </a:extLst>
          </p:cNvPr>
          <p:cNvCxnSpPr/>
          <p:nvPr/>
        </p:nvCxnSpPr>
        <p:spPr>
          <a:xfrm>
            <a:off x="2163130" y="2277243"/>
            <a:ext cx="8423030" cy="0"/>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8F2B6677-43F4-0C52-0593-66C684C5BE42}"/>
              </a:ext>
            </a:extLst>
          </p:cNvPr>
          <p:cNvSpPr txBox="1"/>
          <p:nvPr/>
        </p:nvSpPr>
        <p:spPr>
          <a:xfrm>
            <a:off x="2569209" y="1444399"/>
            <a:ext cx="1483291" cy="369332"/>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No (rejection)</a:t>
            </a:r>
          </a:p>
        </p:txBody>
      </p:sp>
      <p:sp>
        <p:nvSpPr>
          <p:cNvPr id="34" name="TextBox 33">
            <a:extLst>
              <a:ext uri="{FF2B5EF4-FFF2-40B4-BE49-F238E27FC236}">
                <a16:creationId xmlns:a16="http://schemas.microsoft.com/office/drawing/2014/main" id="{A8931C78-FCAE-4FD0-53CD-D4636817D88F}"/>
              </a:ext>
            </a:extLst>
          </p:cNvPr>
          <p:cNvSpPr txBox="1"/>
          <p:nvPr/>
        </p:nvSpPr>
        <p:spPr>
          <a:xfrm>
            <a:off x="4118099" y="1386643"/>
            <a:ext cx="1891352" cy="369332"/>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No (nonexistence)</a:t>
            </a:r>
          </a:p>
        </p:txBody>
      </p:sp>
      <p:sp>
        <p:nvSpPr>
          <p:cNvPr id="35" name="TextBox 34">
            <a:extLst>
              <a:ext uri="{FF2B5EF4-FFF2-40B4-BE49-F238E27FC236}">
                <a16:creationId xmlns:a16="http://schemas.microsoft.com/office/drawing/2014/main" id="{D9D89145-11C5-198C-8D5B-10B180AEBFA9}"/>
              </a:ext>
            </a:extLst>
          </p:cNvPr>
          <p:cNvSpPr txBox="1"/>
          <p:nvPr/>
        </p:nvSpPr>
        <p:spPr>
          <a:xfrm>
            <a:off x="8038208" y="1229618"/>
            <a:ext cx="1225015" cy="646331"/>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No (denial)</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Not</a:t>
            </a:r>
          </a:p>
        </p:txBody>
      </p:sp>
      <p:cxnSp>
        <p:nvCxnSpPr>
          <p:cNvPr id="37" name="Straight Connector 36">
            <a:extLst>
              <a:ext uri="{FF2B5EF4-FFF2-40B4-BE49-F238E27FC236}">
                <a16:creationId xmlns:a16="http://schemas.microsoft.com/office/drawing/2014/main" id="{3DB0CD88-BDD9-6961-8E8B-3087B5E300AF}"/>
              </a:ext>
            </a:extLst>
          </p:cNvPr>
          <p:cNvCxnSpPr/>
          <p:nvPr/>
        </p:nvCxnSpPr>
        <p:spPr>
          <a:xfrm>
            <a:off x="4755298" y="2101396"/>
            <a:ext cx="0" cy="38686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8021079B-05B4-814A-C37E-1484C9A447F9}"/>
              </a:ext>
            </a:extLst>
          </p:cNvPr>
          <p:cNvSpPr txBox="1"/>
          <p:nvPr/>
        </p:nvSpPr>
        <p:spPr>
          <a:xfrm>
            <a:off x="2574778" y="1770699"/>
            <a:ext cx="1687321" cy="369332"/>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No (prohibition)</a:t>
            </a:r>
          </a:p>
        </p:txBody>
      </p:sp>
      <p:cxnSp>
        <p:nvCxnSpPr>
          <p:cNvPr id="39" name="Straight Connector 38">
            <a:extLst>
              <a:ext uri="{FF2B5EF4-FFF2-40B4-BE49-F238E27FC236}">
                <a16:creationId xmlns:a16="http://schemas.microsoft.com/office/drawing/2014/main" id="{44527D7C-EAB2-B887-5342-F7EC3B68AE96}"/>
              </a:ext>
            </a:extLst>
          </p:cNvPr>
          <p:cNvCxnSpPr/>
          <p:nvPr/>
        </p:nvCxnSpPr>
        <p:spPr>
          <a:xfrm>
            <a:off x="3316932" y="2101395"/>
            <a:ext cx="0" cy="38686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08A435C5-2C8A-BC64-5806-4546A8028812}"/>
              </a:ext>
            </a:extLst>
          </p:cNvPr>
          <p:cNvCxnSpPr/>
          <p:nvPr/>
        </p:nvCxnSpPr>
        <p:spPr>
          <a:xfrm>
            <a:off x="8654165" y="2084903"/>
            <a:ext cx="0" cy="38686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A198502E-7A14-FC3D-598D-ED8BAFBD1566}"/>
              </a:ext>
            </a:extLst>
          </p:cNvPr>
          <p:cNvSpPr txBox="1"/>
          <p:nvPr/>
        </p:nvSpPr>
        <p:spPr>
          <a:xfrm>
            <a:off x="2528250" y="2644487"/>
            <a:ext cx="1436547" cy="369332"/>
          </a:xfrm>
          <a:prstGeom prst="rect">
            <a:avLst/>
          </a:prstGeom>
          <a:noFill/>
        </p:spPr>
        <p:txBody>
          <a:bodyPr wrap="none" rtlCol="0">
            <a:spAutoFit/>
          </a:bodyPr>
          <a:lstStyle/>
          <a:p>
            <a:r>
              <a:rPr lang="en-US" dirty="0"/>
              <a:t>~ 15 months</a:t>
            </a:r>
          </a:p>
        </p:txBody>
      </p:sp>
      <p:sp>
        <p:nvSpPr>
          <p:cNvPr id="42" name="TextBox 41">
            <a:extLst>
              <a:ext uri="{FF2B5EF4-FFF2-40B4-BE49-F238E27FC236}">
                <a16:creationId xmlns:a16="http://schemas.microsoft.com/office/drawing/2014/main" id="{4256D77A-FB17-694B-083F-74FCEE8A6D7E}"/>
              </a:ext>
            </a:extLst>
          </p:cNvPr>
          <p:cNvSpPr txBox="1"/>
          <p:nvPr/>
        </p:nvSpPr>
        <p:spPr>
          <a:xfrm>
            <a:off x="7875358" y="2644487"/>
            <a:ext cx="1429430" cy="369332"/>
          </a:xfrm>
          <a:prstGeom prst="rect">
            <a:avLst/>
          </a:prstGeom>
          <a:noFill/>
        </p:spPr>
        <p:txBody>
          <a:bodyPr wrap="none" rtlCol="0">
            <a:spAutoFit/>
          </a:bodyPr>
          <a:lstStyle/>
          <a:p>
            <a:r>
              <a:rPr lang="en-US" dirty="0"/>
              <a:t>~ 27 months</a:t>
            </a:r>
          </a:p>
        </p:txBody>
      </p:sp>
      <p:sp>
        <p:nvSpPr>
          <p:cNvPr id="43" name="Rectangle 42">
            <a:extLst>
              <a:ext uri="{FF2B5EF4-FFF2-40B4-BE49-F238E27FC236}">
                <a16:creationId xmlns:a16="http://schemas.microsoft.com/office/drawing/2014/main" id="{C6BAC31A-C2FA-DFD4-2B8F-A8A69CB8C6DC}"/>
              </a:ext>
            </a:extLst>
          </p:cNvPr>
          <p:cNvSpPr/>
          <p:nvPr/>
        </p:nvSpPr>
        <p:spPr>
          <a:xfrm>
            <a:off x="4743404" y="1872038"/>
            <a:ext cx="3898857" cy="843480"/>
          </a:xfrm>
          <a:prstGeom prst="rect">
            <a:avLst/>
          </a:prstGeom>
          <a:solidFill>
            <a:schemeClr val="bg2">
              <a:lumMod val="75000"/>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A67B3ADA-70A2-476C-7945-AC778F1B9672}"/>
              </a:ext>
            </a:extLst>
          </p:cNvPr>
          <p:cNvSpPr txBox="1"/>
          <p:nvPr/>
        </p:nvSpPr>
        <p:spPr>
          <a:xfrm>
            <a:off x="2339215" y="3655496"/>
            <a:ext cx="9251251" cy="2255041"/>
          </a:xfrm>
          <a:prstGeom prst="rect">
            <a:avLst/>
          </a:prstGeom>
          <a:noFill/>
        </p:spPr>
        <p:txBody>
          <a:bodyPr wrap="none" rtlCol="0">
            <a:spAutoFit/>
          </a:bodyPr>
          <a:lstStyle/>
          <a:p>
            <a:pPr marL="342900" indent="-342900">
              <a:lnSpc>
                <a:spcPct val="150000"/>
              </a:lnSpc>
              <a:buFont typeface="Wingdings" pitchFamily="2" charset="2"/>
              <a:buChar char="Ø"/>
            </a:pPr>
            <a:r>
              <a:rPr lang="en-US" sz="2400" i="1" dirty="0"/>
              <a:t>Rejection		</a:t>
            </a:r>
            <a:r>
              <a:rPr lang="en-US" sz="2400" dirty="0"/>
              <a:t>“Do you want some broccoli?”		“No!”</a:t>
            </a:r>
            <a:endParaRPr lang="en-US" sz="2400" i="1" dirty="0"/>
          </a:p>
          <a:p>
            <a:pPr marL="342900" indent="-342900">
              <a:lnSpc>
                <a:spcPct val="150000"/>
              </a:lnSpc>
              <a:buFont typeface="Wingdings" pitchFamily="2" charset="2"/>
              <a:buChar char="Ø"/>
            </a:pPr>
            <a:r>
              <a:rPr lang="en-US" sz="2400" i="1" dirty="0"/>
              <a:t>Prohibition		</a:t>
            </a:r>
            <a:r>
              <a:rPr lang="en-US" sz="2400" dirty="0"/>
              <a:t>“Can I go to the park?”			“No!”</a:t>
            </a:r>
          </a:p>
          <a:p>
            <a:pPr marL="342900" indent="-342900">
              <a:lnSpc>
                <a:spcPct val="150000"/>
              </a:lnSpc>
              <a:buFont typeface="Wingdings" pitchFamily="2" charset="2"/>
              <a:buChar char="Ø"/>
            </a:pPr>
            <a:r>
              <a:rPr lang="en-US" sz="2400" i="1" dirty="0"/>
              <a:t>Nonexistence	</a:t>
            </a:r>
            <a:r>
              <a:rPr lang="en-US" sz="2400" dirty="0"/>
              <a:t>“Is there any milk?”				“No!”</a:t>
            </a:r>
          </a:p>
          <a:p>
            <a:pPr marL="342900" indent="-342900">
              <a:lnSpc>
                <a:spcPct val="150000"/>
              </a:lnSpc>
              <a:buFont typeface="Wingdings" pitchFamily="2" charset="2"/>
              <a:buChar char="Ø"/>
            </a:pPr>
            <a:r>
              <a:rPr lang="en-US" sz="2400" i="1" dirty="0"/>
              <a:t>Denial		</a:t>
            </a:r>
            <a:r>
              <a:rPr lang="en-US" sz="2400" dirty="0"/>
              <a:t>“Is Pluto a planet?”				“No!”</a:t>
            </a:r>
            <a:endParaRPr lang="en-US" sz="2400" i="1" dirty="0"/>
          </a:p>
        </p:txBody>
      </p:sp>
      <p:sp>
        <p:nvSpPr>
          <p:cNvPr id="6" name="Right Brace 5">
            <a:extLst>
              <a:ext uri="{FF2B5EF4-FFF2-40B4-BE49-F238E27FC236}">
                <a16:creationId xmlns:a16="http://schemas.microsoft.com/office/drawing/2014/main" id="{24FCF779-F1E6-B90D-4695-F9E5B6BFB5DF}"/>
              </a:ext>
            </a:extLst>
          </p:cNvPr>
          <p:cNvSpPr/>
          <p:nvPr/>
        </p:nvSpPr>
        <p:spPr>
          <a:xfrm>
            <a:off x="9679686" y="3759203"/>
            <a:ext cx="682171" cy="2136906"/>
          </a:xfrm>
          <a:prstGeom prst="rightBrace">
            <a:avLst>
              <a:gd name="adj1" fmla="val 38559"/>
              <a:gd name="adj2" fmla="val 50648"/>
            </a:avLst>
          </a:prstGeom>
          <a:ln w="381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7388361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5"/>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2"/>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34" grpId="0"/>
      <p:bldP spid="35" grpId="0"/>
      <p:bldP spid="38" grpId="0"/>
      <p:bldP spid="41" grpId="0"/>
      <p:bldP spid="42" grpId="0"/>
      <p:bldP spid="43" grpId="0" animBg="1"/>
      <p:bldP spid="5" grpId="0" uiExpand="1" build="p"/>
    </p:bldLst>
  </p:timing>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B548DF7-4570-7830-331D-B20F31FBF8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F23655-9D45-6D5A-5A5B-5230EC4D389E}"/>
              </a:ext>
            </a:extLst>
          </p:cNvPr>
          <p:cNvSpPr>
            <a:spLocks noGrp="1"/>
          </p:cNvSpPr>
          <p:nvPr>
            <p:ph type="title"/>
          </p:nvPr>
        </p:nvSpPr>
        <p:spPr/>
        <p:txBody>
          <a:bodyPr/>
          <a:lstStyle/>
          <a:p>
            <a:r>
              <a:rPr lang="en-US" dirty="0"/>
              <a:t>Specific functions may imply specific meanings</a:t>
            </a:r>
          </a:p>
        </p:txBody>
      </p:sp>
      <p:sp>
        <p:nvSpPr>
          <p:cNvPr id="3" name="Content Placeholder 2">
            <a:extLst>
              <a:ext uri="{FF2B5EF4-FFF2-40B4-BE49-F238E27FC236}">
                <a16:creationId xmlns:a16="http://schemas.microsoft.com/office/drawing/2014/main" id="{D85E4ECB-CC03-B446-3D15-F7107B3DBCE3}"/>
              </a:ext>
            </a:extLst>
          </p:cNvPr>
          <p:cNvSpPr>
            <a:spLocks noGrp="1"/>
          </p:cNvSpPr>
          <p:nvPr>
            <p:ph idx="1"/>
          </p:nvPr>
        </p:nvSpPr>
        <p:spPr>
          <a:xfrm>
            <a:off x="7083962" y="2286000"/>
            <a:ext cx="3888838" cy="3581400"/>
          </a:xfrm>
        </p:spPr>
        <p:txBody>
          <a:bodyPr>
            <a:normAutofit fontScale="77500" lnSpcReduction="20000"/>
          </a:bodyPr>
          <a:lstStyle/>
          <a:p>
            <a:r>
              <a:rPr lang="en-US" dirty="0"/>
              <a:t>Children’s first uses of “no” seem to be function-specific</a:t>
            </a:r>
          </a:p>
          <a:p>
            <a:r>
              <a:rPr lang="en-US" dirty="0"/>
              <a:t>The concept is available to map to language</a:t>
            </a:r>
          </a:p>
          <a:p>
            <a:pPr lvl="1"/>
            <a:r>
              <a:rPr lang="en-US" dirty="0"/>
              <a:t>Lexicalized in some languages (e.g., Tagalog)</a:t>
            </a:r>
          </a:p>
          <a:p>
            <a:r>
              <a:rPr lang="en-US" dirty="0"/>
              <a:t>"no" can reject even when there isn’t obvious want in the linguistic context</a:t>
            </a:r>
          </a:p>
          <a:p>
            <a:r>
              <a:rPr lang="en-US" dirty="0"/>
              <a:t>Rejection/prohibition meanings are easier to identify in isolation </a:t>
            </a:r>
            <a:r>
              <a:rPr lang="en-US" sz="1200" dirty="0">
                <a:solidFill>
                  <a:srgbClr val="E8E8E8">
                    <a:lumMod val="50000"/>
                  </a:srgbClr>
                </a:solidFill>
              </a:rPr>
              <a:t>(Gomes et al., 2023)</a:t>
            </a:r>
          </a:p>
          <a:p>
            <a:endParaRPr lang="en-US" dirty="0"/>
          </a:p>
          <a:p>
            <a:endParaRPr lang="en-US" dirty="0"/>
          </a:p>
        </p:txBody>
      </p:sp>
      <p:sp>
        <p:nvSpPr>
          <p:cNvPr id="4" name="Content Placeholder 4">
            <a:extLst>
              <a:ext uri="{FF2B5EF4-FFF2-40B4-BE49-F238E27FC236}">
                <a16:creationId xmlns:a16="http://schemas.microsoft.com/office/drawing/2014/main" id="{45365EA5-E3D9-5EB2-2BDE-AED95E51DF10}"/>
              </a:ext>
            </a:extLst>
          </p:cNvPr>
          <p:cNvSpPr txBox="1">
            <a:spLocks/>
          </p:cNvSpPr>
          <p:nvPr/>
        </p:nvSpPr>
        <p:spPr>
          <a:xfrm>
            <a:off x="3162958" y="2052566"/>
            <a:ext cx="1432985" cy="645726"/>
          </a:xfrm>
          <a:prstGeom prst="rect">
            <a:avLst/>
          </a:prstGeom>
        </p:spPr>
        <p:txBody>
          <a:bodyPr vert="horz" lIns="91440" tIns="45720" rIns="91440" bIns="45720" rtlCol="0">
            <a:norm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marL="0" indent="0" algn="ctr">
              <a:buFont typeface="Franklin Gothic Book" panose="020B0503020102020204" pitchFamily="34" charset="0"/>
              <a:buNone/>
            </a:pPr>
            <a:r>
              <a:rPr lang="en-US" u="sng"/>
              <a:t>“No!”</a:t>
            </a:r>
            <a:endParaRPr lang="en-US" u="sng" dirty="0"/>
          </a:p>
        </p:txBody>
      </p:sp>
      <p:sp>
        <p:nvSpPr>
          <p:cNvPr id="5" name="Rectangle 4">
            <a:extLst>
              <a:ext uri="{FF2B5EF4-FFF2-40B4-BE49-F238E27FC236}">
                <a16:creationId xmlns:a16="http://schemas.microsoft.com/office/drawing/2014/main" id="{49F0BC1E-C128-9834-2793-F605639154FC}"/>
              </a:ext>
            </a:extLst>
          </p:cNvPr>
          <p:cNvSpPr/>
          <p:nvPr/>
        </p:nvSpPr>
        <p:spPr>
          <a:xfrm>
            <a:off x="4339862" y="3855244"/>
            <a:ext cx="768178" cy="766119"/>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NEG</a:t>
            </a:r>
          </a:p>
        </p:txBody>
      </p:sp>
      <p:sp>
        <p:nvSpPr>
          <p:cNvPr id="6" name="Rectangle 5">
            <a:extLst>
              <a:ext uri="{FF2B5EF4-FFF2-40B4-BE49-F238E27FC236}">
                <a16:creationId xmlns:a16="http://schemas.microsoft.com/office/drawing/2014/main" id="{1B9D0A2C-C6BF-4424-57F5-2C276669A602}"/>
              </a:ext>
            </a:extLst>
          </p:cNvPr>
          <p:cNvSpPr/>
          <p:nvPr/>
        </p:nvSpPr>
        <p:spPr>
          <a:xfrm>
            <a:off x="5108040" y="3855243"/>
            <a:ext cx="768178" cy="76611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want</a:t>
            </a:r>
          </a:p>
        </p:txBody>
      </p:sp>
      <p:cxnSp>
        <p:nvCxnSpPr>
          <p:cNvPr id="7" name="Straight Arrow Connector 6">
            <a:extLst>
              <a:ext uri="{FF2B5EF4-FFF2-40B4-BE49-F238E27FC236}">
                <a16:creationId xmlns:a16="http://schemas.microsoft.com/office/drawing/2014/main" id="{B5BD0968-18DF-AB86-71FC-53C9F8EB2E9D}"/>
              </a:ext>
            </a:extLst>
          </p:cNvPr>
          <p:cNvCxnSpPr>
            <a:cxnSpLocks/>
            <a:endCxn id="5" idx="0"/>
          </p:cNvCxnSpPr>
          <p:nvPr/>
        </p:nvCxnSpPr>
        <p:spPr>
          <a:xfrm>
            <a:off x="3898183" y="2474447"/>
            <a:ext cx="825768" cy="1380797"/>
          </a:xfrm>
          <a:prstGeom prst="straightConnector1">
            <a:avLst/>
          </a:prstGeom>
          <a:ln w="28575">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B1F4F6B6-CB80-D30C-F028-082D94063779}"/>
              </a:ext>
            </a:extLst>
          </p:cNvPr>
          <p:cNvCxnSpPr>
            <a:cxnSpLocks/>
            <a:endCxn id="6" idx="0"/>
          </p:cNvCxnSpPr>
          <p:nvPr/>
        </p:nvCxnSpPr>
        <p:spPr>
          <a:xfrm>
            <a:off x="5492129" y="2528920"/>
            <a:ext cx="0" cy="1326323"/>
          </a:xfrm>
          <a:prstGeom prst="straightConnector1">
            <a:avLst/>
          </a:prstGeom>
          <a:ln w="28575">
            <a:headEnd type="triangle"/>
            <a:tailEnd type="triangle"/>
          </a:ln>
        </p:spPr>
        <p:style>
          <a:lnRef idx="2">
            <a:schemeClr val="accent1"/>
          </a:lnRef>
          <a:fillRef idx="0">
            <a:schemeClr val="accent1"/>
          </a:fillRef>
          <a:effectRef idx="1">
            <a:schemeClr val="accent1"/>
          </a:effectRef>
          <a:fontRef idx="minor">
            <a:schemeClr val="tx1"/>
          </a:fontRef>
        </p:style>
      </p:cxnSp>
      <p:sp>
        <p:nvSpPr>
          <p:cNvPr id="9" name="Rectangle 8">
            <a:extLst>
              <a:ext uri="{FF2B5EF4-FFF2-40B4-BE49-F238E27FC236}">
                <a16:creationId xmlns:a16="http://schemas.microsoft.com/office/drawing/2014/main" id="{6689AD16-7DD4-FB71-10FF-05079884D509}"/>
              </a:ext>
            </a:extLst>
          </p:cNvPr>
          <p:cNvSpPr/>
          <p:nvPr/>
        </p:nvSpPr>
        <p:spPr>
          <a:xfrm>
            <a:off x="1652067" y="3855242"/>
            <a:ext cx="1368785" cy="766119"/>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REJECT</a:t>
            </a:r>
          </a:p>
        </p:txBody>
      </p:sp>
      <p:cxnSp>
        <p:nvCxnSpPr>
          <p:cNvPr id="10" name="Straight Arrow Connector 9">
            <a:extLst>
              <a:ext uri="{FF2B5EF4-FFF2-40B4-BE49-F238E27FC236}">
                <a16:creationId xmlns:a16="http://schemas.microsoft.com/office/drawing/2014/main" id="{8B4EDB73-D459-7B6B-BD24-72C88CC797D1}"/>
              </a:ext>
            </a:extLst>
          </p:cNvPr>
          <p:cNvCxnSpPr>
            <a:cxnSpLocks/>
            <a:endCxn id="9" idx="0"/>
          </p:cNvCxnSpPr>
          <p:nvPr/>
        </p:nvCxnSpPr>
        <p:spPr>
          <a:xfrm flipH="1">
            <a:off x="2336460" y="2474445"/>
            <a:ext cx="1419617" cy="1380797"/>
          </a:xfrm>
          <a:prstGeom prst="straightConnector1">
            <a:avLst/>
          </a:prstGeom>
          <a:ln w="28575">
            <a:headEnd type="triangle"/>
            <a:tailEnd type="triangle"/>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79324A13-8591-A2AD-5735-1DD5937B9416}"/>
              </a:ext>
            </a:extLst>
          </p:cNvPr>
          <p:cNvSpPr txBox="1"/>
          <p:nvPr/>
        </p:nvSpPr>
        <p:spPr>
          <a:xfrm>
            <a:off x="3928871" y="5012195"/>
            <a:ext cx="2358338" cy="646331"/>
          </a:xfrm>
          <a:prstGeom prst="rect">
            <a:avLst/>
          </a:prstGeom>
          <a:noFill/>
        </p:spPr>
        <p:txBody>
          <a:bodyPr wrap="none" rtlCol="0">
            <a:spAutoFit/>
          </a:bodyPr>
          <a:lstStyle/>
          <a:p>
            <a:r>
              <a:rPr lang="en-US" dirty="0"/>
              <a:t>Speech act: Rejection</a:t>
            </a:r>
          </a:p>
          <a:p>
            <a:r>
              <a:rPr lang="en-US" dirty="0"/>
              <a:t>Meaning: NEGATION</a:t>
            </a:r>
          </a:p>
        </p:txBody>
      </p:sp>
      <p:sp>
        <p:nvSpPr>
          <p:cNvPr id="12" name="TextBox 11">
            <a:extLst>
              <a:ext uri="{FF2B5EF4-FFF2-40B4-BE49-F238E27FC236}">
                <a16:creationId xmlns:a16="http://schemas.microsoft.com/office/drawing/2014/main" id="{6DCFD4CF-2132-DBF3-124B-65328C6F6069}"/>
              </a:ext>
            </a:extLst>
          </p:cNvPr>
          <p:cNvSpPr txBox="1"/>
          <p:nvPr/>
        </p:nvSpPr>
        <p:spPr>
          <a:xfrm>
            <a:off x="1157290" y="5020709"/>
            <a:ext cx="2358338" cy="646331"/>
          </a:xfrm>
          <a:prstGeom prst="rect">
            <a:avLst/>
          </a:prstGeom>
          <a:noFill/>
        </p:spPr>
        <p:txBody>
          <a:bodyPr wrap="none" rtlCol="0">
            <a:spAutoFit/>
          </a:bodyPr>
          <a:lstStyle/>
          <a:p>
            <a:r>
              <a:rPr lang="en-US" dirty="0"/>
              <a:t>Speech act: Rejection</a:t>
            </a:r>
          </a:p>
          <a:p>
            <a:r>
              <a:rPr lang="en-US" dirty="0"/>
              <a:t>Meaning: REJECTION</a:t>
            </a:r>
          </a:p>
        </p:txBody>
      </p:sp>
      <p:sp>
        <p:nvSpPr>
          <p:cNvPr id="13" name="Cloud 12">
            <a:extLst>
              <a:ext uri="{FF2B5EF4-FFF2-40B4-BE49-F238E27FC236}">
                <a16:creationId xmlns:a16="http://schemas.microsoft.com/office/drawing/2014/main" id="{1074C0EE-5443-4A22-DEFD-7DE47138A300}"/>
              </a:ext>
            </a:extLst>
          </p:cNvPr>
          <p:cNvSpPr/>
          <p:nvPr/>
        </p:nvSpPr>
        <p:spPr>
          <a:xfrm>
            <a:off x="4723951" y="1605291"/>
            <a:ext cx="1708398" cy="876307"/>
          </a:xfrm>
          <a:prstGeom prst="cloud">
            <a:avLst/>
          </a:prstGeom>
          <a:solidFill>
            <a:schemeClr val="accent5">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Context</a:t>
            </a:r>
          </a:p>
        </p:txBody>
      </p:sp>
      <p:sp>
        <p:nvSpPr>
          <p:cNvPr id="14" name="Oval 13">
            <a:extLst>
              <a:ext uri="{FF2B5EF4-FFF2-40B4-BE49-F238E27FC236}">
                <a16:creationId xmlns:a16="http://schemas.microsoft.com/office/drawing/2014/main" id="{F7CBCEBC-129B-66D9-AE4A-5EAE87F6E620}"/>
              </a:ext>
            </a:extLst>
          </p:cNvPr>
          <p:cNvSpPr/>
          <p:nvPr/>
        </p:nvSpPr>
        <p:spPr>
          <a:xfrm>
            <a:off x="1071563" y="3342953"/>
            <a:ext cx="2442531" cy="3128957"/>
          </a:xfrm>
          <a:prstGeom prst="ellipse">
            <a:avLst/>
          </a:prstGeom>
          <a:noFill/>
          <a:ln w="38100">
            <a:solidFill>
              <a:schemeClr val="accent4">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a:extLst>
              <a:ext uri="{FF2B5EF4-FFF2-40B4-BE49-F238E27FC236}">
                <a16:creationId xmlns:a16="http://schemas.microsoft.com/office/drawing/2014/main" id="{9971268E-82F8-4883-0EC4-0C2E815E59AC}"/>
              </a:ext>
            </a:extLst>
          </p:cNvPr>
          <p:cNvPicPr>
            <a:picLocks noChangeAspect="1"/>
          </p:cNvPicPr>
          <p:nvPr/>
        </p:nvPicPr>
        <p:blipFill>
          <a:blip r:embed="rId3"/>
          <a:stretch>
            <a:fillRect/>
          </a:stretch>
        </p:blipFill>
        <p:spPr>
          <a:xfrm>
            <a:off x="2808288" y="5725562"/>
            <a:ext cx="706573" cy="706573"/>
          </a:xfrm>
          <a:prstGeom prst="rect">
            <a:avLst/>
          </a:prstGeom>
        </p:spPr>
      </p:pic>
    </p:spTree>
    <p:extLst>
      <p:ext uri="{BB962C8B-B14F-4D97-AF65-F5344CB8AC3E}">
        <p14:creationId xmlns:p14="http://schemas.microsoft.com/office/powerpoint/2010/main" val="30688124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5"/>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1" end="1"/>
                                            </p:txEl>
                                          </p:spTgt>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build="p"/>
      <p:bldP spid="5" grpId="0" animBg="1"/>
      <p:bldP spid="6" grpId="0" animBg="1"/>
      <p:bldP spid="9" grpId="0" animBg="1"/>
      <p:bldP spid="11" grpId="0"/>
      <p:bldP spid="12" grpId="0"/>
      <p:bldP spid="13" grpId="0" animBg="1"/>
      <p:bldP spid="14" grpId="0" animBg="1"/>
    </p:bldLst>
  </p:timing>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A77DA56-5617-3C68-ECA5-6053D5EA2D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67B82C-7D9A-DC27-9BAA-26A1D4C7CFFC}"/>
              </a:ext>
            </a:extLst>
          </p:cNvPr>
          <p:cNvSpPr>
            <a:spLocks noGrp="1"/>
          </p:cNvSpPr>
          <p:nvPr>
            <p:ph type="title"/>
          </p:nvPr>
        </p:nvSpPr>
        <p:spPr/>
        <p:txBody>
          <a:bodyPr/>
          <a:lstStyle/>
          <a:p>
            <a:r>
              <a:rPr lang="en-US" dirty="0"/>
              <a:t>What makes negation hard?</a:t>
            </a:r>
          </a:p>
        </p:txBody>
      </p:sp>
      <p:sp>
        <p:nvSpPr>
          <p:cNvPr id="27" name="Content Placeholder 26">
            <a:extLst>
              <a:ext uri="{FF2B5EF4-FFF2-40B4-BE49-F238E27FC236}">
                <a16:creationId xmlns:a16="http://schemas.microsoft.com/office/drawing/2014/main" id="{E4350729-B199-5D17-64F7-E12597364883}"/>
              </a:ext>
            </a:extLst>
          </p:cNvPr>
          <p:cNvSpPr>
            <a:spLocks noGrp="1"/>
          </p:cNvSpPr>
          <p:nvPr>
            <p:ph idx="1"/>
          </p:nvPr>
        </p:nvSpPr>
        <p:spPr/>
        <p:txBody>
          <a:bodyPr/>
          <a:lstStyle/>
          <a:p>
            <a:endParaRPr lang="en-US" dirty="0"/>
          </a:p>
        </p:txBody>
      </p:sp>
      <p:sp>
        <p:nvSpPr>
          <p:cNvPr id="36" name="TextBox 35">
            <a:extLst>
              <a:ext uri="{FF2B5EF4-FFF2-40B4-BE49-F238E27FC236}">
                <a16:creationId xmlns:a16="http://schemas.microsoft.com/office/drawing/2014/main" id="{4402EA91-4077-E4F5-FECC-7AC1D9A656F8}"/>
              </a:ext>
            </a:extLst>
          </p:cNvPr>
          <p:cNvSpPr txBox="1"/>
          <p:nvPr/>
        </p:nvSpPr>
        <p:spPr>
          <a:xfrm>
            <a:off x="676723" y="6536733"/>
            <a:ext cx="1304973" cy="338554"/>
          </a:xfrm>
          <a:prstGeom prst="rect">
            <a:avLst/>
          </a:prstGeom>
          <a:noFill/>
        </p:spPr>
        <p:txBody>
          <a:bodyPr wrap="none" rtlCol="0">
            <a:spAutoFit/>
          </a:bodyPr>
          <a:lstStyle/>
          <a:p>
            <a:r>
              <a:rPr lang="en-US" sz="1600" dirty="0">
                <a:solidFill>
                  <a:schemeClr val="bg2">
                    <a:lumMod val="50000"/>
                  </a:schemeClr>
                </a:solidFill>
              </a:rPr>
              <a:t>Bloom, 1970</a:t>
            </a:r>
          </a:p>
        </p:txBody>
      </p:sp>
      <p:grpSp>
        <p:nvGrpSpPr>
          <p:cNvPr id="20" name="Group 19">
            <a:extLst>
              <a:ext uri="{FF2B5EF4-FFF2-40B4-BE49-F238E27FC236}">
                <a16:creationId xmlns:a16="http://schemas.microsoft.com/office/drawing/2014/main" id="{CAE6439A-1B5A-A278-FF55-7527D9CEC53D}"/>
              </a:ext>
            </a:extLst>
          </p:cNvPr>
          <p:cNvGrpSpPr/>
          <p:nvPr/>
        </p:nvGrpSpPr>
        <p:grpSpPr>
          <a:xfrm>
            <a:off x="2159785" y="3135852"/>
            <a:ext cx="2416211" cy="997287"/>
            <a:chOff x="7427407" y="3025125"/>
            <a:chExt cx="2416211" cy="997287"/>
          </a:xfrm>
        </p:grpSpPr>
        <p:sp>
          <p:nvSpPr>
            <p:cNvPr id="37" name="TextBox 36">
              <a:extLst>
                <a:ext uri="{FF2B5EF4-FFF2-40B4-BE49-F238E27FC236}">
                  <a16:creationId xmlns:a16="http://schemas.microsoft.com/office/drawing/2014/main" id="{A2A7FB46-0D18-E76D-533F-94D6B6F78B1F}"/>
                </a:ext>
              </a:extLst>
            </p:cNvPr>
            <p:cNvSpPr txBox="1"/>
            <p:nvPr/>
          </p:nvSpPr>
          <p:spPr>
            <a:xfrm>
              <a:off x="7427407" y="3376081"/>
              <a:ext cx="2416211" cy="646331"/>
            </a:xfrm>
            <a:prstGeom prst="rect">
              <a:avLst/>
            </a:prstGeom>
            <a:solidFill>
              <a:schemeClr val="accent1">
                <a:lumMod val="20000"/>
                <a:lumOff val="80000"/>
              </a:schemeClr>
            </a:solidFill>
            <a:ln>
              <a:noFill/>
            </a:ln>
          </p:spPr>
          <p:txBody>
            <a:bodyPr wrap="square" rtlCol="0">
              <a:spAutoFit/>
            </a:bodyPr>
            <a:lstStyle/>
            <a:p>
              <a:pPr algn="ctr"/>
              <a:r>
                <a:rPr lang="en-US" dirty="0"/>
                <a:t>Difficulty learning the concept NEGATION</a:t>
              </a:r>
            </a:p>
          </p:txBody>
        </p:sp>
        <p:sp>
          <p:nvSpPr>
            <p:cNvPr id="10" name="TextBox 9">
              <a:extLst>
                <a:ext uri="{FF2B5EF4-FFF2-40B4-BE49-F238E27FC236}">
                  <a16:creationId xmlns:a16="http://schemas.microsoft.com/office/drawing/2014/main" id="{C5787B5D-E27F-951D-0599-A2D958047DB8}"/>
                </a:ext>
              </a:extLst>
            </p:cNvPr>
            <p:cNvSpPr txBox="1"/>
            <p:nvPr/>
          </p:nvSpPr>
          <p:spPr>
            <a:xfrm>
              <a:off x="7539700" y="3025125"/>
              <a:ext cx="2191626" cy="369332"/>
            </a:xfrm>
            <a:prstGeom prst="rect">
              <a:avLst/>
            </a:prstGeom>
            <a:noFill/>
          </p:spPr>
          <p:txBody>
            <a:bodyPr wrap="none" rtlCol="0">
              <a:spAutoFit/>
            </a:bodyPr>
            <a:lstStyle/>
            <a:p>
              <a:r>
                <a:rPr lang="en-US" dirty="0">
                  <a:solidFill>
                    <a:srgbClr val="3799C8"/>
                  </a:solidFill>
                </a:rPr>
                <a:t>CONCEPT LEARNING</a:t>
              </a:r>
            </a:p>
          </p:txBody>
        </p:sp>
      </p:grpSp>
      <p:grpSp>
        <p:nvGrpSpPr>
          <p:cNvPr id="17" name="Group 16">
            <a:extLst>
              <a:ext uri="{FF2B5EF4-FFF2-40B4-BE49-F238E27FC236}">
                <a16:creationId xmlns:a16="http://schemas.microsoft.com/office/drawing/2014/main" id="{139601E7-B6D7-FEE4-4DCD-315E5367DB07}"/>
              </a:ext>
            </a:extLst>
          </p:cNvPr>
          <p:cNvGrpSpPr/>
          <p:nvPr/>
        </p:nvGrpSpPr>
        <p:grpSpPr>
          <a:xfrm>
            <a:off x="8190255" y="3141051"/>
            <a:ext cx="2416211" cy="982804"/>
            <a:chOff x="3159370" y="3025125"/>
            <a:chExt cx="2416211" cy="982804"/>
          </a:xfrm>
        </p:grpSpPr>
        <p:sp>
          <p:nvSpPr>
            <p:cNvPr id="35" name="TextBox 34">
              <a:extLst>
                <a:ext uri="{FF2B5EF4-FFF2-40B4-BE49-F238E27FC236}">
                  <a16:creationId xmlns:a16="http://schemas.microsoft.com/office/drawing/2014/main" id="{02B0DFD0-D9E9-8C9D-8547-95F43157D854}"/>
                </a:ext>
              </a:extLst>
            </p:cNvPr>
            <p:cNvSpPr txBox="1"/>
            <p:nvPr/>
          </p:nvSpPr>
          <p:spPr>
            <a:xfrm>
              <a:off x="3159370" y="3361598"/>
              <a:ext cx="2416211" cy="646331"/>
            </a:xfrm>
            <a:prstGeom prst="rect">
              <a:avLst/>
            </a:prstGeom>
            <a:solidFill>
              <a:schemeClr val="accent2">
                <a:lumMod val="20000"/>
                <a:lumOff val="80000"/>
              </a:schemeClr>
            </a:solidFill>
            <a:ln>
              <a:noFill/>
            </a:ln>
          </p:spPr>
          <p:txBody>
            <a:bodyPr wrap="square" rtlCol="0">
              <a:spAutoFit/>
            </a:bodyPr>
            <a:lstStyle>
              <a:defPPr>
                <a:defRPr lang="en-US"/>
              </a:defPPr>
              <a:lvl1pPr algn="ctr"/>
            </a:lstStyle>
            <a:p>
              <a:r>
                <a:rPr lang="en-US" dirty="0"/>
                <a:t>Difficulty mapping NEGATION to language</a:t>
              </a:r>
            </a:p>
          </p:txBody>
        </p:sp>
        <p:sp>
          <p:nvSpPr>
            <p:cNvPr id="12" name="TextBox 11">
              <a:extLst>
                <a:ext uri="{FF2B5EF4-FFF2-40B4-BE49-F238E27FC236}">
                  <a16:creationId xmlns:a16="http://schemas.microsoft.com/office/drawing/2014/main" id="{E45E315E-22B9-F1BA-2FEB-656BE3CF2123}"/>
                </a:ext>
              </a:extLst>
            </p:cNvPr>
            <p:cNvSpPr txBox="1"/>
            <p:nvPr/>
          </p:nvSpPr>
          <p:spPr>
            <a:xfrm>
              <a:off x="3204369" y="3025125"/>
              <a:ext cx="2326214" cy="369332"/>
            </a:xfrm>
            <a:prstGeom prst="rect">
              <a:avLst/>
            </a:prstGeom>
            <a:noFill/>
          </p:spPr>
          <p:txBody>
            <a:bodyPr wrap="none" rtlCol="0">
              <a:spAutoFit/>
            </a:bodyPr>
            <a:lstStyle/>
            <a:p>
              <a:r>
                <a:rPr lang="en-US" dirty="0">
                  <a:solidFill>
                    <a:schemeClr val="accent2">
                      <a:lumMod val="75000"/>
                    </a:schemeClr>
                  </a:solidFill>
                </a:rPr>
                <a:t>LANGUAGE LEARNING</a:t>
              </a:r>
            </a:p>
          </p:txBody>
        </p:sp>
      </p:grpSp>
      <p:cxnSp>
        <p:nvCxnSpPr>
          <p:cNvPr id="42" name="Straight Arrow Connector 41">
            <a:extLst>
              <a:ext uri="{FF2B5EF4-FFF2-40B4-BE49-F238E27FC236}">
                <a16:creationId xmlns:a16="http://schemas.microsoft.com/office/drawing/2014/main" id="{DF902E41-008E-3A80-AD17-7B1BC0C8D5B0}"/>
              </a:ext>
            </a:extLst>
          </p:cNvPr>
          <p:cNvCxnSpPr/>
          <p:nvPr/>
        </p:nvCxnSpPr>
        <p:spPr>
          <a:xfrm>
            <a:off x="2163130" y="2277243"/>
            <a:ext cx="8423030" cy="0"/>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DF59EEBD-DD2D-64FC-5FE0-3FE417EFD5C4}"/>
              </a:ext>
            </a:extLst>
          </p:cNvPr>
          <p:cNvSpPr txBox="1"/>
          <p:nvPr/>
        </p:nvSpPr>
        <p:spPr>
          <a:xfrm>
            <a:off x="2569209" y="1444399"/>
            <a:ext cx="1483291" cy="369332"/>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No (rejection)</a:t>
            </a:r>
          </a:p>
        </p:txBody>
      </p:sp>
      <p:sp>
        <p:nvSpPr>
          <p:cNvPr id="44" name="TextBox 43">
            <a:extLst>
              <a:ext uri="{FF2B5EF4-FFF2-40B4-BE49-F238E27FC236}">
                <a16:creationId xmlns:a16="http://schemas.microsoft.com/office/drawing/2014/main" id="{32F060E6-BDAE-6400-839F-718DC90F8547}"/>
              </a:ext>
            </a:extLst>
          </p:cNvPr>
          <p:cNvSpPr txBox="1"/>
          <p:nvPr/>
        </p:nvSpPr>
        <p:spPr>
          <a:xfrm>
            <a:off x="4118099" y="1386643"/>
            <a:ext cx="1891352" cy="369332"/>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No (nonexistence)</a:t>
            </a:r>
          </a:p>
        </p:txBody>
      </p:sp>
      <p:sp>
        <p:nvSpPr>
          <p:cNvPr id="45" name="TextBox 44">
            <a:extLst>
              <a:ext uri="{FF2B5EF4-FFF2-40B4-BE49-F238E27FC236}">
                <a16:creationId xmlns:a16="http://schemas.microsoft.com/office/drawing/2014/main" id="{8F2B0F71-371F-023A-018C-600D48140842}"/>
              </a:ext>
            </a:extLst>
          </p:cNvPr>
          <p:cNvSpPr txBox="1"/>
          <p:nvPr/>
        </p:nvSpPr>
        <p:spPr>
          <a:xfrm>
            <a:off x="8038208" y="1229618"/>
            <a:ext cx="1225015" cy="646331"/>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No (denial)</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Not</a:t>
            </a:r>
          </a:p>
        </p:txBody>
      </p:sp>
      <p:cxnSp>
        <p:nvCxnSpPr>
          <p:cNvPr id="46" name="Straight Connector 45">
            <a:extLst>
              <a:ext uri="{FF2B5EF4-FFF2-40B4-BE49-F238E27FC236}">
                <a16:creationId xmlns:a16="http://schemas.microsoft.com/office/drawing/2014/main" id="{17755FC3-7D28-77BD-E114-1D531612505B}"/>
              </a:ext>
            </a:extLst>
          </p:cNvPr>
          <p:cNvCxnSpPr/>
          <p:nvPr/>
        </p:nvCxnSpPr>
        <p:spPr>
          <a:xfrm>
            <a:off x="4755298" y="2101396"/>
            <a:ext cx="0" cy="38686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2AD21A0B-692F-03EB-16F8-5FF486CD2FF5}"/>
              </a:ext>
            </a:extLst>
          </p:cNvPr>
          <p:cNvSpPr txBox="1"/>
          <p:nvPr/>
        </p:nvSpPr>
        <p:spPr>
          <a:xfrm>
            <a:off x="2574778" y="1770699"/>
            <a:ext cx="1687321" cy="369332"/>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No (prohibition)</a:t>
            </a:r>
          </a:p>
        </p:txBody>
      </p:sp>
      <p:cxnSp>
        <p:nvCxnSpPr>
          <p:cNvPr id="48" name="Straight Connector 47">
            <a:extLst>
              <a:ext uri="{FF2B5EF4-FFF2-40B4-BE49-F238E27FC236}">
                <a16:creationId xmlns:a16="http://schemas.microsoft.com/office/drawing/2014/main" id="{57E82409-BA75-4ED7-0322-101051F16CDD}"/>
              </a:ext>
            </a:extLst>
          </p:cNvPr>
          <p:cNvCxnSpPr/>
          <p:nvPr/>
        </p:nvCxnSpPr>
        <p:spPr>
          <a:xfrm>
            <a:off x="3316932" y="2101395"/>
            <a:ext cx="0" cy="38686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2FCD16AB-5090-60E7-5445-541B4A7367B1}"/>
              </a:ext>
            </a:extLst>
          </p:cNvPr>
          <p:cNvCxnSpPr/>
          <p:nvPr/>
        </p:nvCxnSpPr>
        <p:spPr>
          <a:xfrm>
            <a:off x="8654165" y="2084903"/>
            <a:ext cx="0" cy="38686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50" name="TextBox 49">
            <a:extLst>
              <a:ext uri="{FF2B5EF4-FFF2-40B4-BE49-F238E27FC236}">
                <a16:creationId xmlns:a16="http://schemas.microsoft.com/office/drawing/2014/main" id="{87669567-470F-BFC5-4875-FAE6E88076FF}"/>
              </a:ext>
            </a:extLst>
          </p:cNvPr>
          <p:cNvSpPr txBox="1"/>
          <p:nvPr/>
        </p:nvSpPr>
        <p:spPr>
          <a:xfrm>
            <a:off x="2528250" y="2644487"/>
            <a:ext cx="1436547" cy="369332"/>
          </a:xfrm>
          <a:prstGeom prst="rect">
            <a:avLst/>
          </a:prstGeom>
          <a:noFill/>
        </p:spPr>
        <p:txBody>
          <a:bodyPr wrap="none" rtlCol="0">
            <a:spAutoFit/>
          </a:bodyPr>
          <a:lstStyle/>
          <a:p>
            <a:r>
              <a:rPr lang="en-US" dirty="0"/>
              <a:t>~ 15 months</a:t>
            </a:r>
          </a:p>
        </p:txBody>
      </p:sp>
      <p:sp>
        <p:nvSpPr>
          <p:cNvPr id="51" name="TextBox 50">
            <a:extLst>
              <a:ext uri="{FF2B5EF4-FFF2-40B4-BE49-F238E27FC236}">
                <a16:creationId xmlns:a16="http://schemas.microsoft.com/office/drawing/2014/main" id="{E508627E-361D-8842-ABC6-1A342923D120}"/>
              </a:ext>
            </a:extLst>
          </p:cNvPr>
          <p:cNvSpPr txBox="1"/>
          <p:nvPr/>
        </p:nvSpPr>
        <p:spPr>
          <a:xfrm>
            <a:off x="7875358" y="2644487"/>
            <a:ext cx="1429430" cy="369332"/>
          </a:xfrm>
          <a:prstGeom prst="rect">
            <a:avLst/>
          </a:prstGeom>
          <a:noFill/>
        </p:spPr>
        <p:txBody>
          <a:bodyPr wrap="none" rtlCol="0">
            <a:spAutoFit/>
          </a:bodyPr>
          <a:lstStyle/>
          <a:p>
            <a:r>
              <a:rPr lang="en-US" dirty="0"/>
              <a:t>~ 27 months</a:t>
            </a:r>
          </a:p>
        </p:txBody>
      </p:sp>
      <p:sp>
        <p:nvSpPr>
          <p:cNvPr id="52" name="Rectangle 51">
            <a:extLst>
              <a:ext uri="{FF2B5EF4-FFF2-40B4-BE49-F238E27FC236}">
                <a16:creationId xmlns:a16="http://schemas.microsoft.com/office/drawing/2014/main" id="{4675F17D-E630-6E86-0832-6A2DB8365075}"/>
              </a:ext>
            </a:extLst>
          </p:cNvPr>
          <p:cNvSpPr/>
          <p:nvPr/>
        </p:nvSpPr>
        <p:spPr>
          <a:xfrm>
            <a:off x="4743404" y="1872038"/>
            <a:ext cx="3898857" cy="843480"/>
          </a:xfrm>
          <a:prstGeom prst="rect">
            <a:avLst/>
          </a:prstGeom>
          <a:solidFill>
            <a:schemeClr val="bg2">
              <a:lumMod val="75000"/>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ounded Rectangle 2">
            <a:extLst>
              <a:ext uri="{FF2B5EF4-FFF2-40B4-BE49-F238E27FC236}">
                <a16:creationId xmlns:a16="http://schemas.microsoft.com/office/drawing/2014/main" id="{6CE3B1E7-6DD9-E4DB-4730-98FD35545DC9}"/>
              </a:ext>
            </a:extLst>
          </p:cNvPr>
          <p:cNvSpPr/>
          <p:nvPr/>
        </p:nvSpPr>
        <p:spPr>
          <a:xfrm>
            <a:off x="1813778" y="4868683"/>
            <a:ext cx="9121733" cy="1154948"/>
          </a:xfrm>
          <a:prstGeom prst="roundRect">
            <a:avLst/>
          </a:prstGeom>
          <a:solidFill>
            <a:schemeClr val="accent5">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Is language learning or concept learning the major bottleneck on children’s acquisition of negation?</a:t>
            </a:r>
          </a:p>
        </p:txBody>
      </p:sp>
    </p:spTree>
    <p:extLst>
      <p:ext uri="{BB962C8B-B14F-4D97-AF65-F5344CB8AC3E}">
        <p14:creationId xmlns:p14="http://schemas.microsoft.com/office/powerpoint/2010/main" val="20899567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135205E-9ADC-6907-34ED-DFD0960DE607}"/>
              </a:ext>
            </a:extLst>
          </p:cNvPr>
          <p:cNvPicPr>
            <a:picLocks noChangeAspect="1"/>
          </p:cNvPicPr>
          <p:nvPr/>
        </p:nvPicPr>
        <p:blipFill>
          <a:blip r:embed="rId3"/>
          <a:stretch>
            <a:fillRect/>
          </a:stretch>
        </p:blipFill>
        <p:spPr>
          <a:xfrm>
            <a:off x="845012" y="4673767"/>
            <a:ext cx="1326314" cy="1326314"/>
          </a:xfrm>
          <a:prstGeom prst="rect">
            <a:avLst/>
          </a:prstGeom>
        </p:spPr>
      </p:pic>
      <p:sp>
        <p:nvSpPr>
          <p:cNvPr id="6" name="Oval Callout 5">
            <a:extLst>
              <a:ext uri="{FF2B5EF4-FFF2-40B4-BE49-F238E27FC236}">
                <a16:creationId xmlns:a16="http://schemas.microsoft.com/office/drawing/2014/main" id="{861DD96B-6916-A7C6-2EB8-E215F1389A50}"/>
              </a:ext>
            </a:extLst>
          </p:cNvPr>
          <p:cNvSpPr/>
          <p:nvPr/>
        </p:nvSpPr>
        <p:spPr>
          <a:xfrm>
            <a:off x="3203480" y="5115463"/>
            <a:ext cx="1812680" cy="981433"/>
          </a:xfrm>
          <a:prstGeom prst="wedgeEllipseCallout">
            <a:avLst>
              <a:gd name="adj1" fmla="val -102359"/>
              <a:gd name="adj2" fmla="val -38298"/>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“no”</a:t>
            </a:r>
          </a:p>
        </p:txBody>
      </p:sp>
      <p:sp>
        <p:nvSpPr>
          <p:cNvPr id="7" name="Cloud Callout 6">
            <a:extLst>
              <a:ext uri="{FF2B5EF4-FFF2-40B4-BE49-F238E27FC236}">
                <a16:creationId xmlns:a16="http://schemas.microsoft.com/office/drawing/2014/main" id="{6D0FF0C2-173B-DB45-1A47-1172C19D3487}"/>
              </a:ext>
            </a:extLst>
          </p:cNvPr>
          <p:cNvSpPr/>
          <p:nvPr/>
        </p:nvSpPr>
        <p:spPr>
          <a:xfrm>
            <a:off x="2171326" y="2798450"/>
            <a:ext cx="4773621" cy="1733552"/>
          </a:xfrm>
          <a:prstGeom prst="cloudCallout">
            <a:avLst>
              <a:gd name="adj1" fmla="val -53593"/>
              <a:gd name="adj2" fmla="val 66237"/>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8" name="TextBox 7">
            <a:extLst>
              <a:ext uri="{FF2B5EF4-FFF2-40B4-BE49-F238E27FC236}">
                <a16:creationId xmlns:a16="http://schemas.microsoft.com/office/drawing/2014/main" id="{34BC2F82-CE0B-49C2-4E64-C0DA7BD2092F}"/>
              </a:ext>
            </a:extLst>
          </p:cNvPr>
          <p:cNvSpPr txBox="1"/>
          <p:nvPr/>
        </p:nvSpPr>
        <p:spPr>
          <a:xfrm>
            <a:off x="2500165" y="3434138"/>
            <a:ext cx="1144865" cy="338554"/>
          </a:xfrm>
          <a:prstGeom prst="rect">
            <a:avLst/>
          </a:prstGeom>
          <a:noFill/>
        </p:spPr>
        <p:txBody>
          <a:bodyPr wrap="none" rtlCol="0">
            <a:spAutoFit/>
          </a:bodyPr>
          <a:lstStyle/>
          <a:p>
            <a:r>
              <a:rPr lang="en-US" sz="1600" dirty="0"/>
              <a:t>REJECTION</a:t>
            </a:r>
          </a:p>
        </p:txBody>
      </p:sp>
      <p:cxnSp>
        <p:nvCxnSpPr>
          <p:cNvPr id="9" name="Straight Arrow Connector 8">
            <a:extLst>
              <a:ext uri="{FF2B5EF4-FFF2-40B4-BE49-F238E27FC236}">
                <a16:creationId xmlns:a16="http://schemas.microsoft.com/office/drawing/2014/main" id="{7B9D2CE5-BB05-83B8-C5CF-0709079EFD6C}"/>
              </a:ext>
            </a:extLst>
          </p:cNvPr>
          <p:cNvCxnSpPr>
            <a:cxnSpLocks/>
            <a:stCxn id="8" idx="2"/>
          </p:cNvCxnSpPr>
          <p:nvPr/>
        </p:nvCxnSpPr>
        <p:spPr>
          <a:xfrm>
            <a:off x="3072598" y="3772692"/>
            <a:ext cx="987444" cy="1664869"/>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17EB56A6-C77C-7BCF-77A8-165E24F2D03A}"/>
              </a:ext>
            </a:extLst>
          </p:cNvPr>
          <p:cNvSpPr txBox="1"/>
          <p:nvPr/>
        </p:nvSpPr>
        <p:spPr>
          <a:xfrm>
            <a:off x="3198717" y="3737167"/>
            <a:ext cx="1324914" cy="338554"/>
          </a:xfrm>
          <a:prstGeom prst="rect">
            <a:avLst/>
          </a:prstGeom>
          <a:noFill/>
        </p:spPr>
        <p:txBody>
          <a:bodyPr wrap="none" rtlCol="0">
            <a:spAutoFit/>
          </a:bodyPr>
          <a:lstStyle/>
          <a:p>
            <a:r>
              <a:rPr lang="en-US" sz="1600" dirty="0"/>
              <a:t>PROHIBITION</a:t>
            </a:r>
          </a:p>
        </p:txBody>
      </p:sp>
      <p:sp>
        <p:nvSpPr>
          <p:cNvPr id="11" name="TextBox 10">
            <a:extLst>
              <a:ext uri="{FF2B5EF4-FFF2-40B4-BE49-F238E27FC236}">
                <a16:creationId xmlns:a16="http://schemas.microsoft.com/office/drawing/2014/main" id="{345EBB27-3B26-CEEA-4A7F-8F26CAC9F0C8}"/>
              </a:ext>
            </a:extLst>
          </p:cNvPr>
          <p:cNvSpPr txBox="1"/>
          <p:nvPr/>
        </p:nvSpPr>
        <p:spPr>
          <a:xfrm>
            <a:off x="4083031" y="3304831"/>
            <a:ext cx="1544718" cy="338554"/>
          </a:xfrm>
          <a:prstGeom prst="rect">
            <a:avLst/>
          </a:prstGeom>
          <a:noFill/>
        </p:spPr>
        <p:txBody>
          <a:bodyPr wrap="none" rtlCol="0">
            <a:spAutoFit/>
          </a:bodyPr>
          <a:lstStyle/>
          <a:p>
            <a:r>
              <a:rPr lang="en-US" sz="1600" dirty="0"/>
              <a:t>NONEXISTENCE</a:t>
            </a:r>
          </a:p>
        </p:txBody>
      </p:sp>
      <p:sp>
        <p:nvSpPr>
          <p:cNvPr id="14" name="TextBox 13">
            <a:extLst>
              <a:ext uri="{FF2B5EF4-FFF2-40B4-BE49-F238E27FC236}">
                <a16:creationId xmlns:a16="http://schemas.microsoft.com/office/drawing/2014/main" id="{89B29BC3-D8E0-6D89-2FBD-DCFB996EF98C}"/>
              </a:ext>
            </a:extLst>
          </p:cNvPr>
          <p:cNvSpPr txBox="1"/>
          <p:nvPr/>
        </p:nvSpPr>
        <p:spPr>
          <a:xfrm>
            <a:off x="4992048" y="3668222"/>
            <a:ext cx="809837" cy="33855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E8E8E8">
                    <a:lumMod val="75000"/>
                  </a:srgbClr>
                </a:solidFill>
                <a:effectLst/>
                <a:uLnTx/>
                <a:uFillTx/>
                <a:latin typeface="Franklin Gothic Book" panose="020B0503020102020204"/>
                <a:ea typeface="+mn-ea"/>
                <a:cs typeface="+mn-cs"/>
              </a:rPr>
              <a:t>??????</a:t>
            </a:r>
          </a:p>
        </p:txBody>
      </p:sp>
      <p:cxnSp>
        <p:nvCxnSpPr>
          <p:cNvPr id="17" name="Straight Arrow Connector 16">
            <a:extLst>
              <a:ext uri="{FF2B5EF4-FFF2-40B4-BE49-F238E27FC236}">
                <a16:creationId xmlns:a16="http://schemas.microsoft.com/office/drawing/2014/main" id="{FE207145-797B-DA4E-43BE-2D9D0C8BD36F}"/>
              </a:ext>
            </a:extLst>
          </p:cNvPr>
          <p:cNvCxnSpPr>
            <a:cxnSpLocks/>
            <a:stCxn id="14" idx="2"/>
          </p:cNvCxnSpPr>
          <p:nvPr/>
        </p:nvCxnSpPr>
        <p:spPr>
          <a:xfrm flipH="1">
            <a:off x="4156719" y="4006776"/>
            <a:ext cx="1240248" cy="1341639"/>
          </a:xfrm>
          <a:prstGeom prst="straightConnector1">
            <a:avLst/>
          </a:prstGeom>
          <a:ln w="28575">
            <a:solidFill>
              <a:schemeClr val="bg2">
                <a:lumMod val="9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C859F70F-86B8-7EFD-6EBC-159DC9CF9000}"/>
              </a:ext>
            </a:extLst>
          </p:cNvPr>
          <p:cNvCxnSpPr>
            <a:cxnSpLocks/>
            <a:stCxn id="10" idx="2"/>
          </p:cNvCxnSpPr>
          <p:nvPr/>
        </p:nvCxnSpPr>
        <p:spPr>
          <a:xfrm>
            <a:off x="3861174" y="4075721"/>
            <a:ext cx="221857" cy="1361840"/>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6CD96BCB-9EF4-183E-D6F4-A387A6B1C3F3}"/>
              </a:ext>
            </a:extLst>
          </p:cNvPr>
          <p:cNvCxnSpPr>
            <a:cxnSpLocks/>
            <a:stCxn id="11" idx="2"/>
          </p:cNvCxnSpPr>
          <p:nvPr/>
        </p:nvCxnSpPr>
        <p:spPr>
          <a:xfrm flipH="1">
            <a:off x="4083031" y="3643385"/>
            <a:ext cx="772359" cy="1809500"/>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36DD20BE-4C35-CFDC-299C-F973AD377E04}"/>
              </a:ext>
            </a:extLst>
          </p:cNvPr>
          <p:cNvSpPr txBox="1"/>
          <p:nvPr/>
        </p:nvSpPr>
        <p:spPr>
          <a:xfrm>
            <a:off x="7350180" y="2798450"/>
            <a:ext cx="6300123" cy="2246769"/>
          </a:xfrm>
          <a:prstGeom prst="rect">
            <a:avLst/>
          </a:prstGeom>
          <a:noFill/>
        </p:spPr>
        <p:txBody>
          <a:bodyPr wrap="none" rtlCol="0">
            <a:spAutoFit/>
          </a:bodyPr>
          <a:lstStyle/>
          <a:p>
            <a:r>
              <a:rPr lang="en-US" sz="2000" dirty="0"/>
              <a:t>WANT 		:	REJECT</a:t>
            </a:r>
          </a:p>
          <a:p>
            <a:endParaRPr lang="en-US" sz="2000" dirty="0"/>
          </a:p>
          <a:p>
            <a:r>
              <a:rPr lang="en-US" sz="2000" dirty="0"/>
              <a:t>ALLOWED	:	PROHIBITED</a:t>
            </a:r>
          </a:p>
          <a:p>
            <a:endParaRPr lang="en-US" sz="2000" dirty="0"/>
          </a:p>
          <a:p>
            <a:r>
              <a:rPr lang="en-US" sz="2000" dirty="0"/>
              <a:t>EXISTS		: 	NONEXISTENCE</a:t>
            </a:r>
          </a:p>
          <a:p>
            <a:endParaRPr lang="en-US" sz="2000" dirty="0"/>
          </a:p>
          <a:p>
            <a:r>
              <a:rPr lang="en-US" sz="2000" dirty="0"/>
              <a:t>P			: 	NEGATION ( P )					“No!”</a:t>
            </a:r>
          </a:p>
        </p:txBody>
      </p:sp>
      <p:sp>
        <p:nvSpPr>
          <p:cNvPr id="16" name="TextBox 15">
            <a:extLst>
              <a:ext uri="{FF2B5EF4-FFF2-40B4-BE49-F238E27FC236}">
                <a16:creationId xmlns:a16="http://schemas.microsoft.com/office/drawing/2014/main" id="{5D9F5263-1364-7C86-B873-A31BE88D4390}"/>
              </a:ext>
            </a:extLst>
          </p:cNvPr>
          <p:cNvSpPr txBox="1"/>
          <p:nvPr/>
        </p:nvSpPr>
        <p:spPr>
          <a:xfrm>
            <a:off x="4855391" y="6519446"/>
            <a:ext cx="7336610" cy="338554"/>
          </a:xfrm>
          <a:prstGeom prst="rect">
            <a:avLst/>
          </a:prstGeom>
          <a:noFill/>
        </p:spPr>
        <p:txBody>
          <a:bodyPr wrap="square" rtlCol="0">
            <a:spAutoFit/>
          </a:bodyPr>
          <a:lstStyle/>
          <a:p>
            <a:r>
              <a:rPr lang="en-US" sz="1600" dirty="0">
                <a:solidFill>
                  <a:schemeClr val="bg2">
                    <a:lumMod val="50000"/>
                  </a:schemeClr>
                </a:solidFill>
              </a:rPr>
              <a:t>Bermudez (2003); Drozd (1995); Hummer, Wimmer, &amp; Antes (1995) ); Pea (1980)</a:t>
            </a:r>
          </a:p>
        </p:txBody>
      </p:sp>
      <p:sp>
        <p:nvSpPr>
          <p:cNvPr id="36" name="TextBox 35">
            <a:extLst>
              <a:ext uri="{FF2B5EF4-FFF2-40B4-BE49-F238E27FC236}">
                <a16:creationId xmlns:a16="http://schemas.microsoft.com/office/drawing/2014/main" id="{FC3547FE-847E-DCAA-CABB-12269F608253}"/>
              </a:ext>
            </a:extLst>
          </p:cNvPr>
          <p:cNvSpPr txBox="1"/>
          <p:nvPr/>
        </p:nvSpPr>
        <p:spPr>
          <a:xfrm>
            <a:off x="4867340" y="3655504"/>
            <a:ext cx="1228659" cy="338554"/>
          </a:xfrm>
          <a:prstGeom prst="rect">
            <a:avLst/>
          </a:prstGeom>
          <a:noFill/>
        </p:spPr>
        <p:txBody>
          <a:bodyPr wrap="square" rtlCol="0">
            <a:spAutoFit/>
          </a:bodyPr>
          <a:lstStyle/>
          <a:p>
            <a:r>
              <a:rPr lang="en-US" sz="1600" dirty="0"/>
              <a:t>NEGATION </a:t>
            </a:r>
          </a:p>
        </p:txBody>
      </p:sp>
      <p:cxnSp>
        <p:nvCxnSpPr>
          <p:cNvPr id="37" name="Straight Arrow Connector 36">
            <a:extLst>
              <a:ext uri="{FF2B5EF4-FFF2-40B4-BE49-F238E27FC236}">
                <a16:creationId xmlns:a16="http://schemas.microsoft.com/office/drawing/2014/main" id="{A5A3A61E-4C2D-A6D5-5594-E38D89FB745D}"/>
              </a:ext>
            </a:extLst>
          </p:cNvPr>
          <p:cNvCxnSpPr>
            <a:cxnSpLocks/>
            <a:stCxn id="36" idx="2"/>
          </p:cNvCxnSpPr>
          <p:nvPr/>
        </p:nvCxnSpPr>
        <p:spPr>
          <a:xfrm flipH="1">
            <a:off x="4080575" y="3994058"/>
            <a:ext cx="1401095" cy="1402263"/>
          </a:xfrm>
          <a:prstGeom prst="straightConnector1">
            <a:avLst/>
          </a:prstGeom>
          <a:ln w="28575">
            <a:solidFill>
              <a:schemeClr val="accent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1" name="Title 1">
            <a:extLst>
              <a:ext uri="{FF2B5EF4-FFF2-40B4-BE49-F238E27FC236}">
                <a16:creationId xmlns:a16="http://schemas.microsoft.com/office/drawing/2014/main" id="{FBD9EA13-ED33-2734-9B08-45E7C694FA4F}"/>
              </a:ext>
            </a:extLst>
          </p:cNvPr>
          <p:cNvSpPr txBox="1">
            <a:spLocks/>
          </p:cNvSpPr>
          <p:nvPr/>
        </p:nvSpPr>
        <p:spPr>
          <a:xfrm>
            <a:off x="1524000" y="734621"/>
            <a:ext cx="9362743" cy="1485900"/>
          </a:xfrm>
          <a:prstGeom prst="rect">
            <a:avLst/>
          </a:prstGeom>
          <a:solidFill>
            <a:schemeClr val="accent1">
              <a:lumMod val="20000"/>
              <a:lumOff val="80000"/>
            </a:schemeClr>
          </a:solidFill>
        </p:spPr>
        <p:txBody>
          <a:bodyPr vert="horz" lIns="91440" tIns="45720" rIns="91440" bIns="45720" rtlCol="0" anchor="t">
            <a:normAutofit/>
          </a:bodyPr>
          <a:lst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a:lstStyle>
          <a:p>
            <a:pPr algn="ctr"/>
            <a:r>
              <a:rPr lang="en-US" dirty="0"/>
              <a:t>Language structure may scaffold concept acquisition</a:t>
            </a:r>
          </a:p>
        </p:txBody>
      </p:sp>
    </p:spTree>
    <p:extLst>
      <p:ext uri="{BB962C8B-B14F-4D97-AF65-F5344CB8AC3E}">
        <p14:creationId xmlns:p14="http://schemas.microsoft.com/office/powerpoint/2010/main" val="11625577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5">
                                            <p:txEl>
                                              <p:pRg st="2" end="2"/>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5">
                                            <p:txEl>
                                              <p:pRg st="4" end="4"/>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5">
                                            <p:txEl>
                                              <p:pRg st="6" end="6"/>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6"/>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7"/>
                                        </p:tgtEl>
                                        <p:attrNameLst>
                                          <p:attrName>style.visibility</p:attrName>
                                        </p:attrNameLst>
                                      </p:cBhvr>
                                      <p:to>
                                        <p:strVal val="visible"/>
                                      </p:to>
                                    </p:set>
                                  </p:childTnLst>
                                </p:cTn>
                              </p:par>
                              <p:par>
                                <p:cTn id="37" presetID="1" presetClass="exit" presetSubtype="0" fill="hold" nodeType="withEffect">
                                  <p:stCondLst>
                                    <p:cond delay="0"/>
                                  </p:stCondLst>
                                  <p:childTnLst>
                                    <p:set>
                                      <p:cBhvr>
                                        <p:cTn id="38" dur="1" fill="hold">
                                          <p:stCondLst>
                                            <p:cond delay="0"/>
                                          </p:stCondLst>
                                        </p:cTn>
                                        <p:tgtEl>
                                          <p:spTgt spid="17"/>
                                        </p:tgtEl>
                                        <p:attrNameLst>
                                          <p:attrName>style.visibility</p:attrName>
                                        </p:attrNameLst>
                                      </p:cBhvr>
                                      <p:to>
                                        <p:strVal val="hidden"/>
                                      </p:to>
                                    </p:set>
                                  </p:childTnLst>
                                </p:cTn>
                              </p:par>
                              <p:par>
                                <p:cTn id="39" presetID="1" presetClass="exit" presetSubtype="0" fill="hold" grpId="1" nodeType="withEffect">
                                  <p:stCondLst>
                                    <p:cond delay="0"/>
                                  </p:stCondLst>
                                  <p:childTnLst>
                                    <p:set>
                                      <p:cBhvr>
                                        <p:cTn id="40" dur="1" fill="hold">
                                          <p:stCondLst>
                                            <p:cond delay="0"/>
                                          </p:stCondLst>
                                        </p:cTn>
                                        <p:tgtEl>
                                          <p:spTgt spid="1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4" grpId="1"/>
      <p:bldP spid="15" grpId="0" build="p"/>
      <p:bldP spid="36" grpId="0"/>
    </p:bldLst>
  </p:timing>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46D7E1A-C544-90AE-2903-E158E9A01E46}"/>
              </a:ext>
            </a:extLst>
          </p:cNvPr>
          <p:cNvSpPr txBox="1"/>
          <p:nvPr/>
        </p:nvSpPr>
        <p:spPr>
          <a:xfrm>
            <a:off x="3747589" y="2346397"/>
            <a:ext cx="966931" cy="400110"/>
          </a:xfrm>
          <a:prstGeom prst="rect">
            <a:avLst/>
          </a:prstGeom>
          <a:noFill/>
        </p:spPr>
        <p:txBody>
          <a:bodyPr wrap="none" rtlCol="0">
            <a:spAutoFit/>
          </a:bodyPr>
          <a:lstStyle/>
          <a:p>
            <a:r>
              <a:rPr lang="en-US" sz="2000" u="sng" dirty="0"/>
              <a:t>English</a:t>
            </a:r>
          </a:p>
        </p:txBody>
      </p:sp>
      <p:pic>
        <p:nvPicPr>
          <p:cNvPr id="8" name="Picture 7">
            <a:extLst>
              <a:ext uri="{FF2B5EF4-FFF2-40B4-BE49-F238E27FC236}">
                <a16:creationId xmlns:a16="http://schemas.microsoft.com/office/drawing/2014/main" id="{083C7D69-18BB-73AF-A4CA-8740B99ED743}"/>
              </a:ext>
            </a:extLst>
          </p:cNvPr>
          <p:cNvPicPr>
            <a:picLocks noChangeAspect="1"/>
          </p:cNvPicPr>
          <p:nvPr/>
        </p:nvPicPr>
        <p:blipFill>
          <a:blip r:embed="rId3"/>
          <a:stretch>
            <a:fillRect/>
          </a:stretch>
        </p:blipFill>
        <p:spPr>
          <a:xfrm>
            <a:off x="731427" y="5065056"/>
            <a:ext cx="1326314" cy="1326314"/>
          </a:xfrm>
          <a:prstGeom prst="rect">
            <a:avLst/>
          </a:prstGeom>
        </p:spPr>
      </p:pic>
      <p:sp>
        <p:nvSpPr>
          <p:cNvPr id="9" name="Oval Callout 8">
            <a:extLst>
              <a:ext uri="{FF2B5EF4-FFF2-40B4-BE49-F238E27FC236}">
                <a16:creationId xmlns:a16="http://schemas.microsoft.com/office/drawing/2014/main" id="{6A1CA842-69F9-9312-4ADC-218CCCC11508}"/>
              </a:ext>
            </a:extLst>
          </p:cNvPr>
          <p:cNvSpPr/>
          <p:nvPr/>
        </p:nvSpPr>
        <p:spPr>
          <a:xfrm>
            <a:off x="3089895" y="5506752"/>
            <a:ext cx="1812680" cy="981433"/>
          </a:xfrm>
          <a:prstGeom prst="wedgeEllipseCallout">
            <a:avLst>
              <a:gd name="adj1" fmla="val -102359"/>
              <a:gd name="adj2" fmla="val -38298"/>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“no”</a:t>
            </a:r>
          </a:p>
        </p:txBody>
      </p:sp>
      <p:sp>
        <p:nvSpPr>
          <p:cNvPr id="10" name="Cloud Callout 9">
            <a:extLst>
              <a:ext uri="{FF2B5EF4-FFF2-40B4-BE49-F238E27FC236}">
                <a16:creationId xmlns:a16="http://schemas.microsoft.com/office/drawing/2014/main" id="{2905D112-5D50-D5B2-3961-FE44D58F7A6E}"/>
              </a:ext>
            </a:extLst>
          </p:cNvPr>
          <p:cNvSpPr/>
          <p:nvPr/>
        </p:nvSpPr>
        <p:spPr>
          <a:xfrm>
            <a:off x="2057741" y="3189739"/>
            <a:ext cx="4773621" cy="1733552"/>
          </a:xfrm>
          <a:prstGeom prst="cloudCallout">
            <a:avLst>
              <a:gd name="adj1" fmla="val -48959"/>
              <a:gd name="adj2" fmla="val 63684"/>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11" name="TextBox 10">
            <a:extLst>
              <a:ext uri="{FF2B5EF4-FFF2-40B4-BE49-F238E27FC236}">
                <a16:creationId xmlns:a16="http://schemas.microsoft.com/office/drawing/2014/main" id="{559AC8EE-E2AA-F8CD-DF08-826F7BF1C178}"/>
              </a:ext>
            </a:extLst>
          </p:cNvPr>
          <p:cNvSpPr txBox="1"/>
          <p:nvPr/>
        </p:nvSpPr>
        <p:spPr>
          <a:xfrm>
            <a:off x="2386580" y="3825427"/>
            <a:ext cx="1144865" cy="338554"/>
          </a:xfrm>
          <a:prstGeom prst="rect">
            <a:avLst/>
          </a:prstGeom>
          <a:noFill/>
        </p:spPr>
        <p:txBody>
          <a:bodyPr wrap="none" rtlCol="0">
            <a:spAutoFit/>
          </a:bodyPr>
          <a:lstStyle/>
          <a:p>
            <a:r>
              <a:rPr lang="en-US" sz="1600" dirty="0"/>
              <a:t>REJECTION</a:t>
            </a:r>
          </a:p>
        </p:txBody>
      </p:sp>
      <p:cxnSp>
        <p:nvCxnSpPr>
          <p:cNvPr id="13" name="Straight Arrow Connector 12">
            <a:extLst>
              <a:ext uri="{FF2B5EF4-FFF2-40B4-BE49-F238E27FC236}">
                <a16:creationId xmlns:a16="http://schemas.microsoft.com/office/drawing/2014/main" id="{768221B0-6FC8-657D-8105-2505C4D25326}"/>
              </a:ext>
            </a:extLst>
          </p:cNvPr>
          <p:cNvCxnSpPr>
            <a:cxnSpLocks/>
            <a:stCxn id="11" idx="2"/>
          </p:cNvCxnSpPr>
          <p:nvPr/>
        </p:nvCxnSpPr>
        <p:spPr>
          <a:xfrm>
            <a:off x="2959013" y="4163981"/>
            <a:ext cx="987444" cy="1664869"/>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D78D92B3-6086-5B05-DEC6-E5F6FFF75FE7}"/>
              </a:ext>
            </a:extLst>
          </p:cNvPr>
          <p:cNvSpPr txBox="1"/>
          <p:nvPr/>
        </p:nvSpPr>
        <p:spPr>
          <a:xfrm>
            <a:off x="3085132" y="4128456"/>
            <a:ext cx="1324914" cy="338554"/>
          </a:xfrm>
          <a:prstGeom prst="rect">
            <a:avLst/>
          </a:prstGeom>
          <a:noFill/>
        </p:spPr>
        <p:txBody>
          <a:bodyPr wrap="none" rtlCol="0">
            <a:spAutoFit/>
          </a:bodyPr>
          <a:lstStyle/>
          <a:p>
            <a:r>
              <a:rPr lang="en-US" sz="1600" dirty="0"/>
              <a:t>PROHIBITION</a:t>
            </a:r>
          </a:p>
        </p:txBody>
      </p:sp>
      <p:sp>
        <p:nvSpPr>
          <p:cNvPr id="17" name="TextBox 16">
            <a:extLst>
              <a:ext uri="{FF2B5EF4-FFF2-40B4-BE49-F238E27FC236}">
                <a16:creationId xmlns:a16="http://schemas.microsoft.com/office/drawing/2014/main" id="{C473472C-E241-0ADC-9C3D-0CB24CC17498}"/>
              </a:ext>
            </a:extLst>
          </p:cNvPr>
          <p:cNvSpPr txBox="1"/>
          <p:nvPr/>
        </p:nvSpPr>
        <p:spPr>
          <a:xfrm>
            <a:off x="3969446" y="3696120"/>
            <a:ext cx="1544718" cy="338554"/>
          </a:xfrm>
          <a:prstGeom prst="rect">
            <a:avLst/>
          </a:prstGeom>
          <a:noFill/>
        </p:spPr>
        <p:txBody>
          <a:bodyPr wrap="none" rtlCol="0">
            <a:spAutoFit/>
          </a:bodyPr>
          <a:lstStyle/>
          <a:p>
            <a:r>
              <a:rPr lang="en-US" sz="1600" dirty="0"/>
              <a:t>NONEXISTENCE</a:t>
            </a:r>
          </a:p>
        </p:txBody>
      </p:sp>
      <p:cxnSp>
        <p:nvCxnSpPr>
          <p:cNvPr id="20" name="Straight Arrow Connector 19">
            <a:extLst>
              <a:ext uri="{FF2B5EF4-FFF2-40B4-BE49-F238E27FC236}">
                <a16:creationId xmlns:a16="http://schemas.microsoft.com/office/drawing/2014/main" id="{7AC66E78-812C-CAC5-8CDE-F15BE1432B5D}"/>
              </a:ext>
            </a:extLst>
          </p:cNvPr>
          <p:cNvCxnSpPr>
            <a:cxnSpLocks/>
            <a:stCxn id="14" idx="2"/>
          </p:cNvCxnSpPr>
          <p:nvPr/>
        </p:nvCxnSpPr>
        <p:spPr>
          <a:xfrm>
            <a:off x="3747589" y="4467010"/>
            <a:ext cx="198868" cy="1361840"/>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EA416048-F80F-19BA-27A0-B6866ADE6DE1}"/>
              </a:ext>
            </a:extLst>
          </p:cNvPr>
          <p:cNvCxnSpPr>
            <a:cxnSpLocks/>
            <a:stCxn id="17" idx="2"/>
          </p:cNvCxnSpPr>
          <p:nvPr/>
        </p:nvCxnSpPr>
        <p:spPr>
          <a:xfrm flipH="1">
            <a:off x="3946457" y="4034674"/>
            <a:ext cx="795348" cy="1794176"/>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A2382E28-6D9E-F3A9-F226-35023F20169C}"/>
              </a:ext>
            </a:extLst>
          </p:cNvPr>
          <p:cNvSpPr txBox="1"/>
          <p:nvPr/>
        </p:nvSpPr>
        <p:spPr>
          <a:xfrm>
            <a:off x="4912668" y="4148657"/>
            <a:ext cx="1077474" cy="338554"/>
          </a:xfrm>
          <a:prstGeom prst="rect">
            <a:avLst/>
          </a:prstGeom>
          <a:noFill/>
        </p:spPr>
        <p:txBody>
          <a:bodyPr wrap="none" rtlCol="0">
            <a:spAutoFit/>
          </a:bodyPr>
          <a:lstStyle/>
          <a:p>
            <a:r>
              <a:rPr lang="en-US" sz="1600" dirty="0"/>
              <a:t>NEGATION</a:t>
            </a:r>
          </a:p>
        </p:txBody>
      </p:sp>
      <p:cxnSp>
        <p:nvCxnSpPr>
          <p:cNvPr id="24" name="Straight Arrow Connector 23">
            <a:extLst>
              <a:ext uri="{FF2B5EF4-FFF2-40B4-BE49-F238E27FC236}">
                <a16:creationId xmlns:a16="http://schemas.microsoft.com/office/drawing/2014/main" id="{58426052-4CCB-7FA7-0AFF-52D133BA054E}"/>
              </a:ext>
            </a:extLst>
          </p:cNvPr>
          <p:cNvCxnSpPr>
            <a:cxnSpLocks/>
            <a:stCxn id="23" idx="2"/>
          </p:cNvCxnSpPr>
          <p:nvPr/>
        </p:nvCxnSpPr>
        <p:spPr>
          <a:xfrm flipH="1">
            <a:off x="4077339" y="4487211"/>
            <a:ext cx="1374066" cy="1341639"/>
          </a:xfrm>
          <a:prstGeom prst="straightConnector1">
            <a:avLst/>
          </a:prstGeom>
          <a:ln w="28575">
            <a:solidFill>
              <a:schemeClr val="accent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33015B9A-2338-B7DF-2FF7-A6404C6E2963}"/>
              </a:ext>
            </a:extLst>
          </p:cNvPr>
          <p:cNvSpPr txBox="1"/>
          <p:nvPr/>
        </p:nvSpPr>
        <p:spPr>
          <a:xfrm>
            <a:off x="8850049" y="2346397"/>
            <a:ext cx="1010918" cy="400110"/>
          </a:xfrm>
          <a:prstGeom prst="rect">
            <a:avLst/>
          </a:prstGeom>
          <a:noFill/>
        </p:spPr>
        <p:txBody>
          <a:bodyPr wrap="none" rtlCol="0">
            <a:spAutoFit/>
          </a:bodyPr>
          <a:lstStyle/>
          <a:p>
            <a:r>
              <a:rPr lang="en-US" sz="2000" u="sng" dirty="0"/>
              <a:t>Tagalog</a:t>
            </a:r>
          </a:p>
        </p:txBody>
      </p:sp>
      <p:sp>
        <p:nvSpPr>
          <p:cNvPr id="26" name="Oval Callout 25">
            <a:extLst>
              <a:ext uri="{FF2B5EF4-FFF2-40B4-BE49-F238E27FC236}">
                <a16:creationId xmlns:a16="http://schemas.microsoft.com/office/drawing/2014/main" id="{25A68B95-10F6-78D4-DD24-4327A287D905}"/>
              </a:ext>
            </a:extLst>
          </p:cNvPr>
          <p:cNvSpPr/>
          <p:nvPr/>
        </p:nvSpPr>
        <p:spPr>
          <a:xfrm>
            <a:off x="7437797" y="5558979"/>
            <a:ext cx="4169184" cy="981433"/>
          </a:xfrm>
          <a:prstGeom prst="wedgeEllipseCallout">
            <a:avLst>
              <a:gd name="adj1" fmla="val -62196"/>
              <a:gd name="adj2" fmla="val -2026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7" name="Cloud Callout 26">
            <a:extLst>
              <a:ext uri="{FF2B5EF4-FFF2-40B4-BE49-F238E27FC236}">
                <a16:creationId xmlns:a16="http://schemas.microsoft.com/office/drawing/2014/main" id="{A039CCF2-A32D-BABD-D6B3-67933E9A09B7}"/>
              </a:ext>
            </a:extLst>
          </p:cNvPr>
          <p:cNvSpPr/>
          <p:nvPr/>
        </p:nvSpPr>
        <p:spPr>
          <a:xfrm>
            <a:off x="7160201" y="3189739"/>
            <a:ext cx="4773621" cy="1733552"/>
          </a:xfrm>
          <a:prstGeom prst="cloudCallout">
            <a:avLst>
              <a:gd name="adj1" fmla="val -48959"/>
              <a:gd name="adj2" fmla="val 63684"/>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28" name="TextBox 27">
            <a:extLst>
              <a:ext uri="{FF2B5EF4-FFF2-40B4-BE49-F238E27FC236}">
                <a16:creationId xmlns:a16="http://schemas.microsoft.com/office/drawing/2014/main" id="{256F936F-2F1C-C22B-327E-2B398DE91426}"/>
              </a:ext>
            </a:extLst>
          </p:cNvPr>
          <p:cNvSpPr txBox="1"/>
          <p:nvPr/>
        </p:nvSpPr>
        <p:spPr>
          <a:xfrm>
            <a:off x="7489040" y="3825427"/>
            <a:ext cx="1144865" cy="338554"/>
          </a:xfrm>
          <a:prstGeom prst="rect">
            <a:avLst/>
          </a:prstGeom>
          <a:noFill/>
        </p:spPr>
        <p:txBody>
          <a:bodyPr wrap="none" rtlCol="0">
            <a:spAutoFit/>
          </a:bodyPr>
          <a:lstStyle/>
          <a:p>
            <a:r>
              <a:rPr lang="en-US" sz="1600" dirty="0"/>
              <a:t>REJECTION</a:t>
            </a:r>
          </a:p>
        </p:txBody>
      </p:sp>
      <p:sp>
        <p:nvSpPr>
          <p:cNvPr id="29" name="TextBox 28">
            <a:extLst>
              <a:ext uri="{FF2B5EF4-FFF2-40B4-BE49-F238E27FC236}">
                <a16:creationId xmlns:a16="http://schemas.microsoft.com/office/drawing/2014/main" id="{F5BFDDB4-7D09-2B76-16C2-6AE12D711A63}"/>
              </a:ext>
            </a:extLst>
          </p:cNvPr>
          <p:cNvSpPr txBox="1"/>
          <p:nvPr/>
        </p:nvSpPr>
        <p:spPr>
          <a:xfrm>
            <a:off x="8187592" y="4128456"/>
            <a:ext cx="1324914" cy="338554"/>
          </a:xfrm>
          <a:prstGeom prst="rect">
            <a:avLst/>
          </a:prstGeom>
          <a:noFill/>
        </p:spPr>
        <p:txBody>
          <a:bodyPr wrap="none" rtlCol="0">
            <a:spAutoFit/>
          </a:bodyPr>
          <a:lstStyle/>
          <a:p>
            <a:r>
              <a:rPr lang="en-US" sz="1600" dirty="0"/>
              <a:t>PROHIBITION</a:t>
            </a:r>
          </a:p>
        </p:txBody>
      </p:sp>
      <p:sp>
        <p:nvSpPr>
          <p:cNvPr id="31" name="TextBox 30">
            <a:extLst>
              <a:ext uri="{FF2B5EF4-FFF2-40B4-BE49-F238E27FC236}">
                <a16:creationId xmlns:a16="http://schemas.microsoft.com/office/drawing/2014/main" id="{A51F3C85-3A62-FBE8-681A-3971E73B4F8C}"/>
              </a:ext>
            </a:extLst>
          </p:cNvPr>
          <p:cNvSpPr txBox="1"/>
          <p:nvPr/>
        </p:nvSpPr>
        <p:spPr>
          <a:xfrm>
            <a:off x="9071906" y="3696120"/>
            <a:ext cx="1544718" cy="338554"/>
          </a:xfrm>
          <a:prstGeom prst="rect">
            <a:avLst/>
          </a:prstGeom>
          <a:noFill/>
        </p:spPr>
        <p:txBody>
          <a:bodyPr wrap="none" rtlCol="0">
            <a:spAutoFit/>
          </a:bodyPr>
          <a:lstStyle/>
          <a:p>
            <a:r>
              <a:rPr lang="en-US" sz="1600" dirty="0"/>
              <a:t>NONEXISTENCE</a:t>
            </a:r>
          </a:p>
        </p:txBody>
      </p:sp>
      <p:sp>
        <p:nvSpPr>
          <p:cNvPr id="32" name="TextBox 31">
            <a:extLst>
              <a:ext uri="{FF2B5EF4-FFF2-40B4-BE49-F238E27FC236}">
                <a16:creationId xmlns:a16="http://schemas.microsoft.com/office/drawing/2014/main" id="{2D286D7A-9DE2-799C-45CF-A1ECE01F4204}"/>
              </a:ext>
            </a:extLst>
          </p:cNvPr>
          <p:cNvSpPr txBox="1"/>
          <p:nvPr/>
        </p:nvSpPr>
        <p:spPr>
          <a:xfrm>
            <a:off x="10015128" y="4148657"/>
            <a:ext cx="1077474" cy="338554"/>
          </a:xfrm>
          <a:prstGeom prst="rect">
            <a:avLst/>
          </a:prstGeom>
          <a:noFill/>
        </p:spPr>
        <p:txBody>
          <a:bodyPr wrap="none" rtlCol="0">
            <a:spAutoFit/>
          </a:bodyPr>
          <a:lstStyle/>
          <a:p>
            <a:r>
              <a:rPr lang="en-US" sz="1600" dirty="0"/>
              <a:t>NEGATION</a:t>
            </a:r>
          </a:p>
        </p:txBody>
      </p:sp>
      <p:sp>
        <p:nvSpPr>
          <p:cNvPr id="33" name="TextBox 32">
            <a:extLst>
              <a:ext uri="{FF2B5EF4-FFF2-40B4-BE49-F238E27FC236}">
                <a16:creationId xmlns:a16="http://schemas.microsoft.com/office/drawing/2014/main" id="{80D4E548-A0A9-E0E4-F6B2-FE68B1A8E521}"/>
              </a:ext>
            </a:extLst>
          </p:cNvPr>
          <p:cNvSpPr txBox="1"/>
          <p:nvPr/>
        </p:nvSpPr>
        <p:spPr>
          <a:xfrm>
            <a:off x="7712173" y="5862008"/>
            <a:ext cx="3600666" cy="646331"/>
          </a:xfrm>
          <a:prstGeom prst="rect">
            <a:avLst/>
          </a:prstGeom>
          <a:noFill/>
        </p:spPr>
        <p:txBody>
          <a:bodyPr wrap="none" rtlCol="0">
            <a:spAutoFit/>
          </a:bodyPr>
          <a:lstStyle/>
          <a:p>
            <a:r>
              <a:rPr lang="en-US" dirty="0">
                <a:solidFill>
                  <a:schemeClr val="tx1"/>
                </a:solidFill>
              </a:rPr>
              <a:t>“</a:t>
            </a:r>
            <a:r>
              <a:rPr lang="en-US" dirty="0" err="1">
                <a:solidFill>
                  <a:schemeClr val="tx1"/>
                </a:solidFill>
              </a:rPr>
              <a:t>ayaw</a:t>
            </a:r>
            <a:r>
              <a:rPr lang="en-US" dirty="0">
                <a:solidFill>
                  <a:schemeClr val="tx1"/>
                </a:solidFill>
              </a:rPr>
              <a:t>”	“</a:t>
            </a:r>
            <a:r>
              <a:rPr lang="en-US" dirty="0" err="1">
                <a:solidFill>
                  <a:schemeClr val="tx1"/>
                </a:solidFill>
              </a:rPr>
              <a:t>huwag</a:t>
            </a:r>
            <a:r>
              <a:rPr lang="en-US" dirty="0">
                <a:solidFill>
                  <a:schemeClr val="tx1"/>
                </a:solidFill>
              </a:rPr>
              <a:t>”	“</a:t>
            </a:r>
            <a:r>
              <a:rPr lang="en-US" dirty="0" err="1">
                <a:solidFill>
                  <a:schemeClr val="tx1"/>
                </a:solidFill>
              </a:rPr>
              <a:t>wala</a:t>
            </a:r>
            <a:r>
              <a:rPr lang="en-US" dirty="0">
                <a:solidFill>
                  <a:schemeClr val="tx1"/>
                </a:solidFill>
              </a:rPr>
              <a:t>”	“</a:t>
            </a:r>
            <a:r>
              <a:rPr lang="en-US" dirty="0" err="1">
                <a:solidFill>
                  <a:schemeClr val="tx1"/>
                </a:solidFill>
              </a:rPr>
              <a:t>hindi</a:t>
            </a:r>
            <a:r>
              <a:rPr lang="en-US" dirty="0">
                <a:solidFill>
                  <a:schemeClr val="tx1"/>
                </a:solidFill>
              </a:rPr>
              <a:t>"</a:t>
            </a:r>
          </a:p>
          <a:p>
            <a:endParaRPr lang="en-US" dirty="0"/>
          </a:p>
        </p:txBody>
      </p:sp>
      <p:cxnSp>
        <p:nvCxnSpPr>
          <p:cNvPr id="34" name="Straight Arrow Connector 33">
            <a:extLst>
              <a:ext uri="{FF2B5EF4-FFF2-40B4-BE49-F238E27FC236}">
                <a16:creationId xmlns:a16="http://schemas.microsoft.com/office/drawing/2014/main" id="{B58A3310-374D-D244-0E99-EEE93BC41594}"/>
              </a:ext>
            </a:extLst>
          </p:cNvPr>
          <p:cNvCxnSpPr>
            <a:cxnSpLocks/>
          </p:cNvCxnSpPr>
          <p:nvPr/>
        </p:nvCxnSpPr>
        <p:spPr>
          <a:xfrm>
            <a:off x="8031642" y="4197139"/>
            <a:ext cx="62301" cy="1664869"/>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955B4DF4-08AB-C6CD-E44E-AF6EE5103AB3}"/>
              </a:ext>
            </a:extLst>
          </p:cNvPr>
          <p:cNvCxnSpPr>
            <a:cxnSpLocks/>
          </p:cNvCxnSpPr>
          <p:nvPr/>
        </p:nvCxnSpPr>
        <p:spPr>
          <a:xfrm>
            <a:off x="8850049" y="4408701"/>
            <a:ext cx="271285" cy="1537222"/>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E5DCE627-52FF-26B7-7EF1-39A190F7FBE1}"/>
              </a:ext>
            </a:extLst>
          </p:cNvPr>
          <p:cNvCxnSpPr>
            <a:cxnSpLocks/>
          </p:cNvCxnSpPr>
          <p:nvPr/>
        </p:nvCxnSpPr>
        <p:spPr>
          <a:xfrm>
            <a:off x="9834185" y="4041096"/>
            <a:ext cx="67780" cy="1904827"/>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248C4FED-AB7E-A721-EF06-53317E6B245D}"/>
              </a:ext>
            </a:extLst>
          </p:cNvPr>
          <p:cNvCxnSpPr>
            <a:cxnSpLocks/>
          </p:cNvCxnSpPr>
          <p:nvPr/>
        </p:nvCxnSpPr>
        <p:spPr>
          <a:xfrm>
            <a:off x="10583665" y="4467010"/>
            <a:ext cx="303078" cy="1415199"/>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sp>
        <p:nvSpPr>
          <p:cNvPr id="3" name="Arc 2">
            <a:extLst>
              <a:ext uri="{FF2B5EF4-FFF2-40B4-BE49-F238E27FC236}">
                <a16:creationId xmlns:a16="http://schemas.microsoft.com/office/drawing/2014/main" id="{2D7D589E-93C8-1E77-F534-D6B7602E0468}"/>
              </a:ext>
            </a:extLst>
          </p:cNvPr>
          <p:cNvSpPr/>
          <p:nvPr/>
        </p:nvSpPr>
        <p:spPr>
          <a:xfrm>
            <a:off x="2913800" y="3382093"/>
            <a:ext cx="2742413" cy="1200711"/>
          </a:xfrm>
          <a:prstGeom prst="arc">
            <a:avLst>
              <a:gd name="adj1" fmla="val 11309548"/>
              <a:gd name="adj2" fmla="val 572674"/>
            </a:avLst>
          </a:prstGeom>
          <a:ln w="28575">
            <a:solidFill>
              <a:schemeClr val="accent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Franklin Gothic Book" panose="020B0503020102020204"/>
              <a:ea typeface="+mn-ea"/>
              <a:cs typeface="+mn-cs"/>
            </a:endParaRPr>
          </a:p>
        </p:txBody>
      </p:sp>
      <p:sp>
        <p:nvSpPr>
          <p:cNvPr id="5" name="Arc 4">
            <a:extLst>
              <a:ext uri="{FF2B5EF4-FFF2-40B4-BE49-F238E27FC236}">
                <a16:creationId xmlns:a16="http://schemas.microsoft.com/office/drawing/2014/main" id="{C76E98E7-33CC-3D37-113A-CC7EDD7CDCD5}"/>
              </a:ext>
            </a:extLst>
          </p:cNvPr>
          <p:cNvSpPr/>
          <p:nvPr/>
        </p:nvSpPr>
        <p:spPr>
          <a:xfrm>
            <a:off x="3634097" y="3326079"/>
            <a:ext cx="2174516" cy="1409126"/>
          </a:xfrm>
          <a:prstGeom prst="arc">
            <a:avLst>
              <a:gd name="adj1" fmla="val 11269841"/>
              <a:gd name="adj2" fmla="val 572674"/>
            </a:avLst>
          </a:prstGeom>
          <a:ln w="28575">
            <a:solidFill>
              <a:schemeClr val="accent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Franklin Gothic Book" panose="020B0503020102020204"/>
              <a:ea typeface="+mn-ea"/>
              <a:cs typeface="+mn-cs"/>
            </a:endParaRPr>
          </a:p>
        </p:txBody>
      </p:sp>
      <p:sp>
        <p:nvSpPr>
          <p:cNvPr id="6" name="Arc 5">
            <a:extLst>
              <a:ext uri="{FF2B5EF4-FFF2-40B4-BE49-F238E27FC236}">
                <a16:creationId xmlns:a16="http://schemas.microsoft.com/office/drawing/2014/main" id="{A6EE3A0F-90BD-9F72-CB46-C0F926DB4703}"/>
              </a:ext>
            </a:extLst>
          </p:cNvPr>
          <p:cNvSpPr/>
          <p:nvPr/>
        </p:nvSpPr>
        <p:spPr>
          <a:xfrm>
            <a:off x="4641440" y="3326078"/>
            <a:ext cx="1153078" cy="1020507"/>
          </a:xfrm>
          <a:prstGeom prst="arc">
            <a:avLst>
              <a:gd name="adj1" fmla="val 11269841"/>
              <a:gd name="adj2" fmla="val 1908015"/>
            </a:avLst>
          </a:prstGeom>
          <a:ln w="28575">
            <a:solidFill>
              <a:schemeClr val="accent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Franklin Gothic Book" panose="020B0503020102020204"/>
              <a:ea typeface="+mn-ea"/>
              <a:cs typeface="+mn-cs"/>
            </a:endParaRPr>
          </a:p>
        </p:txBody>
      </p:sp>
      <p:sp>
        <p:nvSpPr>
          <p:cNvPr id="21" name="Title 1">
            <a:extLst>
              <a:ext uri="{FF2B5EF4-FFF2-40B4-BE49-F238E27FC236}">
                <a16:creationId xmlns:a16="http://schemas.microsoft.com/office/drawing/2014/main" id="{D2A2F507-17C8-A446-AB6D-F1B080E422E0}"/>
              </a:ext>
            </a:extLst>
          </p:cNvPr>
          <p:cNvSpPr txBox="1">
            <a:spLocks/>
          </p:cNvSpPr>
          <p:nvPr/>
        </p:nvSpPr>
        <p:spPr>
          <a:xfrm>
            <a:off x="1524000" y="734621"/>
            <a:ext cx="9362743" cy="1485900"/>
          </a:xfrm>
          <a:prstGeom prst="rect">
            <a:avLst/>
          </a:prstGeom>
          <a:solidFill>
            <a:schemeClr val="accent1">
              <a:lumMod val="20000"/>
              <a:lumOff val="80000"/>
            </a:schemeClr>
          </a:solidFill>
        </p:spPr>
        <p:txBody>
          <a:bodyPr vert="horz" lIns="91440" tIns="45720" rIns="91440" bIns="45720" rtlCol="0" anchor="t">
            <a:normAutofit/>
          </a:bodyPr>
          <a:lst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a:lstStyle>
          <a:p>
            <a:pPr algn="ctr"/>
            <a:r>
              <a:rPr lang="en-US" dirty="0"/>
              <a:t>Language structure may scaffold concept acquisition</a:t>
            </a:r>
          </a:p>
        </p:txBody>
      </p:sp>
    </p:spTree>
    <p:extLst>
      <p:ext uri="{BB962C8B-B14F-4D97-AF65-F5344CB8AC3E}">
        <p14:creationId xmlns:p14="http://schemas.microsoft.com/office/powerpoint/2010/main" val="41757969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28" grpId="0"/>
      <p:bldP spid="29" grpId="0"/>
      <p:bldP spid="31" grpId="0"/>
      <p:bldP spid="32" grpId="0"/>
      <p:bldP spid="33" grpId="0"/>
    </p:bldLst>
  </p:timing>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8CA7F7E-F563-8B74-BAF0-9F1B2F12DB35}"/>
            </a:ext>
          </a:extLst>
        </p:cNvPr>
        <p:cNvGrpSpPr/>
        <p:nvPr/>
      </p:nvGrpSpPr>
      <p:grpSpPr>
        <a:xfrm>
          <a:off x="0" y="0"/>
          <a:ext cx="0" cy="0"/>
          <a:chOff x="0" y="0"/>
          <a:chExt cx="0" cy="0"/>
        </a:xfrm>
      </p:grpSpPr>
      <p:cxnSp>
        <p:nvCxnSpPr>
          <p:cNvPr id="16" name="Straight Arrow Connector 15">
            <a:extLst>
              <a:ext uri="{FF2B5EF4-FFF2-40B4-BE49-F238E27FC236}">
                <a16:creationId xmlns:a16="http://schemas.microsoft.com/office/drawing/2014/main" id="{CB7C5E63-0EFA-2AB1-7813-DDED52F29D61}"/>
              </a:ext>
            </a:extLst>
          </p:cNvPr>
          <p:cNvCxnSpPr/>
          <p:nvPr/>
        </p:nvCxnSpPr>
        <p:spPr>
          <a:xfrm>
            <a:off x="3590227" y="3208719"/>
            <a:ext cx="5816049" cy="0"/>
          </a:xfrm>
          <a:prstGeom prst="straightConnector1">
            <a:avLst/>
          </a:prstGeom>
          <a:ln w="38100">
            <a:headEnd type="diamond" w="med" len="med"/>
            <a:tailEnd type="diamond" w="med" len="med"/>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E42CEFE8-C232-3AD1-F35C-0EA5401C361A}"/>
              </a:ext>
            </a:extLst>
          </p:cNvPr>
          <p:cNvSpPr txBox="1"/>
          <p:nvPr/>
        </p:nvSpPr>
        <p:spPr>
          <a:xfrm>
            <a:off x="2755320" y="4414327"/>
            <a:ext cx="1765862" cy="6463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Franklin Gothic Book" panose="020B0503020102020204"/>
                <a:ea typeface="+mn-ea"/>
                <a:cs typeface="+mn-cs"/>
              </a:rPr>
              <a:t>This side learns negation faster</a:t>
            </a:r>
          </a:p>
        </p:txBody>
      </p:sp>
      <p:sp>
        <p:nvSpPr>
          <p:cNvPr id="11" name="TextBox 10">
            <a:extLst>
              <a:ext uri="{FF2B5EF4-FFF2-40B4-BE49-F238E27FC236}">
                <a16:creationId xmlns:a16="http://schemas.microsoft.com/office/drawing/2014/main" id="{9680AB19-74E8-260A-A82F-1439030E4AD5}"/>
              </a:ext>
            </a:extLst>
          </p:cNvPr>
          <p:cNvSpPr txBox="1"/>
          <p:nvPr/>
        </p:nvSpPr>
        <p:spPr>
          <a:xfrm>
            <a:off x="3299346" y="2409858"/>
            <a:ext cx="922047"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Franklin Gothic Book" panose="020B0503020102020204"/>
                <a:ea typeface="+mn-ea"/>
                <a:cs typeface="+mn-cs"/>
              </a:rPr>
              <a:t>English</a:t>
            </a:r>
          </a:p>
        </p:txBody>
      </p:sp>
      <p:sp>
        <p:nvSpPr>
          <p:cNvPr id="12" name="TextBox 11">
            <a:extLst>
              <a:ext uri="{FF2B5EF4-FFF2-40B4-BE49-F238E27FC236}">
                <a16:creationId xmlns:a16="http://schemas.microsoft.com/office/drawing/2014/main" id="{75EC1462-0C86-A3CC-D940-DD4FE5A8732C}"/>
              </a:ext>
            </a:extLst>
          </p:cNvPr>
          <p:cNvSpPr txBox="1"/>
          <p:nvPr/>
        </p:nvSpPr>
        <p:spPr>
          <a:xfrm>
            <a:off x="8735329" y="2409858"/>
            <a:ext cx="959750"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Franklin Gothic Book" panose="020B0503020102020204"/>
                <a:ea typeface="+mn-ea"/>
                <a:cs typeface="+mn-cs"/>
              </a:rPr>
              <a:t>Tagalog</a:t>
            </a:r>
          </a:p>
        </p:txBody>
      </p:sp>
      <p:sp>
        <p:nvSpPr>
          <p:cNvPr id="3" name="Right Arrow 2">
            <a:extLst>
              <a:ext uri="{FF2B5EF4-FFF2-40B4-BE49-F238E27FC236}">
                <a16:creationId xmlns:a16="http://schemas.microsoft.com/office/drawing/2014/main" id="{864A9FDF-DB0A-A9D8-CF59-378D92EFC206}"/>
              </a:ext>
            </a:extLst>
          </p:cNvPr>
          <p:cNvSpPr/>
          <p:nvPr/>
        </p:nvSpPr>
        <p:spPr>
          <a:xfrm rot="16200000">
            <a:off x="2932352" y="2755459"/>
            <a:ext cx="1385690" cy="3585932"/>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Franklin Gothic Book" panose="020B0503020102020204"/>
              <a:ea typeface="+mn-ea"/>
              <a:cs typeface="+mn-cs"/>
            </a:endParaRPr>
          </a:p>
        </p:txBody>
      </p:sp>
      <p:sp>
        <p:nvSpPr>
          <p:cNvPr id="13" name="TextBox 12">
            <a:extLst>
              <a:ext uri="{FF2B5EF4-FFF2-40B4-BE49-F238E27FC236}">
                <a16:creationId xmlns:a16="http://schemas.microsoft.com/office/drawing/2014/main" id="{EFB679CB-3FFB-6DCA-D6E1-E350BAC46967}"/>
              </a:ext>
            </a:extLst>
          </p:cNvPr>
          <p:cNvSpPr txBox="1"/>
          <p:nvPr/>
        </p:nvSpPr>
        <p:spPr>
          <a:xfrm>
            <a:off x="2771329" y="4228295"/>
            <a:ext cx="1765862" cy="92333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Franklin Gothic Book" panose="020B0503020102020204"/>
                <a:ea typeface="+mn-ea"/>
                <a:cs typeface="+mn-cs"/>
              </a:rPr>
              <a:t>This side learns denial negation language earlier</a:t>
            </a:r>
          </a:p>
        </p:txBody>
      </p:sp>
      <p:sp>
        <p:nvSpPr>
          <p:cNvPr id="6" name="TextBox 5">
            <a:extLst>
              <a:ext uri="{FF2B5EF4-FFF2-40B4-BE49-F238E27FC236}">
                <a16:creationId xmlns:a16="http://schemas.microsoft.com/office/drawing/2014/main" id="{C07A721D-C209-8638-9358-62B84D48553A}"/>
              </a:ext>
            </a:extLst>
          </p:cNvPr>
          <p:cNvSpPr txBox="1"/>
          <p:nvPr/>
        </p:nvSpPr>
        <p:spPr>
          <a:xfrm>
            <a:off x="2060831" y="2912999"/>
            <a:ext cx="1588392" cy="92333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more shared negation  meanings</a:t>
            </a:r>
          </a:p>
        </p:txBody>
      </p:sp>
      <p:sp>
        <p:nvSpPr>
          <p:cNvPr id="7" name="TextBox 6">
            <a:extLst>
              <a:ext uri="{FF2B5EF4-FFF2-40B4-BE49-F238E27FC236}">
                <a16:creationId xmlns:a16="http://schemas.microsoft.com/office/drawing/2014/main" id="{86A27D7A-0A71-4BA0-E9B8-B1B11F905C67}"/>
              </a:ext>
            </a:extLst>
          </p:cNvPr>
          <p:cNvSpPr txBox="1"/>
          <p:nvPr/>
        </p:nvSpPr>
        <p:spPr>
          <a:xfrm>
            <a:off x="9444717" y="2908415"/>
            <a:ext cx="1588392" cy="92333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fewer shared negation  meanings</a:t>
            </a:r>
          </a:p>
        </p:txBody>
      </p:sp>
      <p:pic>
        <p:nvPicPr>
          <p:cNvPr id="17" name="Picture 16">
            <a:extLst>
              <a:ext uri="{FF2B5EF4-FFF2-40B4-BE49-F238E27FC236}">
                <a16:creationId xmlns:a16="http://schemas.microsoft.com/office/drawing/2014/main" id="{ED15BDBD-CBCC-0BAF-23AD-D3C0EC280F65}"/>
              </a:ext>
            </a:extLst>
          </p:cNvPr>
          <p:cNvPicPr>
            <a:picLocks noChangeAspect="1"/>
          </p:cNvPicPr>
          <p:nvPr/>
        </p:nvPicPr>
        <p:blipFill rotWithShape="1">
          <a:blip r:embed="rId3"/>
          <a:srcRect t="351" b="351"/>
          <a:stretch/>
        </p:blipFill>
        <p:spPr>
          <a:xfrm>
            <a:off x="1582929" y="625138"/>
            <a:ext cx="8112150" cy="2315718"/>
          </a:xfrm>
          <a:prstGeom prst="rect">
            <a:avLst/>
          </a:prstGeom>
        </p:spPr>
      </p:pic>
      <p:sp>
        <p:nvSpPr>
          <p:cNvPr id="18" name="Rectangle 17">
            <a:extLst>
              <a:ext uri="{FF2B5EF4-FFF2-40B4-BE49-F238E27FC236}">
                <a16:creationId xmlns:a16="http://schemas.microsoft.com/office/drawing/2014/main" id="{99B39540-3D2B-B5B9-ED08-7F8E5F7EC9B1}"/>
              </a:ext>
            </a:extLst>
          </p:cNvPr>
          <p:cNvSpPr/>
          <p:nvPr/>
        </p:nvSpPr>
        <p:spPr>
          <a:xfrm>
            <a:off x="3760369" y="1470065"/>
            <a:ext cx="1065631" cy="13179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sp>
        <p:nvSpPr>
          <p:cNvPr id="20" name="Rectangle 19">
            <a:extLst>
              <a:ext uri="{FF2B5EF4-FFF2-40B4-BE49-F238E27FC236}">
                <a16:creationId xmlns:a16="http://schemas.microsoft.com/office/drawing/2014/main" id="{BB8A5E8A-8AF7-0E4E-3839-454BEFCD2F19}"/>
              </a:ext>
            </a:extLst>
          </p:cNvPr>
          <p:cNvSpPr/>
          <p:nvPr/>
        </p:nvSpPr>
        <p:spPr>
          <a:xfrm>
            <a:off x="6359202" y="1444665"/>
            <a:ext cx="1268503" cy="139459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sp>
        <p:nvSpPr>
          <p:cNvPr id="21" name="Rectangle 20">
            <a:extLst>
              <a:ext uri="{FF2B5EF4-FFF2-40B4-BE49-F238E27FC236}">
                <a16:creationId xmlns:a16="http://schemas.microsoft.com/office/drawing/2014/main" id="{9254211F-2B6A-3249-73E0-6AFAA3E5921A}"/>
              </a:ext>
            </a:extLst>
          </p:cNvPr>
          <p:cNvSpPr/>
          <p:nvPr/>
        </p:nvSpPr>
        <p:spPr>
          <a:xfrm>
            <a:off x="7687708" y="1457131"/>
            <a:ext cx="908362" cy="139459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sp>
        <p:nvSpPr>
          <p:cNvPr id="25" name="Rectangle 24">
            <a:extLst>
              <a:ext uri="{FF2B5EF4-FFF2-40B4-BE49-F238E27FC236}">
                <a16:creationId xmlns:a16="http://schemas.microsoft.com/office/drawing/2014/main" id="{16763E0A-3AD7-4036-BE93-929906701A68}"/>
              </a:ext>
            </a:extLst>
          </p:cNvPr>
          <p:cNvSpPr/>
          <p:nvPr/>
        </p:nvSpPr>
        <p:spPr>
          <a:xfrm>
            <a:off x="3759012" y="1089711"/>
            <a:ext cx="1065631" cy="289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sp>
        <p:nvSpPr>
          <p:cNvPr id="27" name="Rectangle 26">
            <a:extLst>
              <a:ext uri="{FF2B5EF4-FFF2-40B4-BE49-F238E27FC236}">
                <a16:creationId xmlns:a16="http://schemas.microsoft.com/office/drawing/2014/main" id="{92495DBC-838E-8C82-18B6-2306B2E97C4C}"/>
              </a:ext>
            </a:extLst>
          </p:cNvPr>
          <p:cNvSpPr/>
          <p:nvPr/>
        </p:nvSpPr>
        <p:spPr>
          <a:xfrm>
            <a:off x="6467910" y="1089711"/>
            <a:ext cx="1065631" cy="289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sp>
        <p:nvSpPr>
          <p:cNvPr id="28" name="Rectangle 27">
            <a:extLst>
              <a:ext uri="{FF2B5EF4-FFF2-40B4-BE49-F238E27FC236}">
                <a16:creationId xmlns:a16="http://schemas.microsoft.com/office/drawing/2014/main" id="{1D43FE4F-47D8-1212-69B5-638AC61DE4A1}"/>
              </a:ext>
            </a:extLst>
          </p:cNvPr>
          <p:cNvSpPr/>
          <p:nvPr/>
        </p:nvSpPr>
        <p:spPr>
          <a:xfrm>
            <a:off x="7725808" y="1097673"/>
            <a:ext cx="870261" cy="28142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sp>
        <p:nvSpPr>
          <p:cNvPr id="24" name="Content Placeholder 4">
            <a:extLst>
              <a:ext uri="{FF2B5EF4-FFF2-40B4-BE49-F238E27FC236}">
                <a16:creationId xmlns:a16="http://schemas.microsoft.com/office/drawing/2014/main" id="{70A5027F-A7E7-F1E0-2CDA-1D9E17FCE9DA}"/>
              </a:ext>
            </a:extLst>
          </p:cNvPr>
          <p:cNvSpPr txBox="1">
            <a:spLocks/>
          </p:cNvSpPr>
          <p:nvPr/>
        </p:nvSpPr>
        <p:spPr>
          <a:xfrm>
            <a:off x="1122774" y="5666236"/>
            <a:ext cx="5052898" cy="923330"/>
          </a:xfrm>
          <a:prstGeom prst="rect">
            <a:avLst/>
          </a:prstGeom>
          <a:solidFill>
            <a:schemeClr val="accent1">
              <a:lumMod val="20000"/>
              <a:lumOff val="80000"/>
            </a:schemeClr>
          </a:solidFill>
        </p:spPr>
        <p:txBody>
          <a:bodyPr vert="horz" lIns="91440" tIns="45720" rIns="91440" bIns="45720" rtlCol="0" anchor="ctr">
            <a:normAutofit lnSpcReduction="10000"/>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marL="0" indent="0" algn="ctr">
              <a:spcBef>
                <a:spcPts val="0"/>
              </a:spcBef>
              <a:spcAft>
                <a:spcPts val="0"/>
              </a:spcAft>
              <a:buFont typeface="Franklin Gothic Book" panose="020B0503020102020204" pitchFamily="34" charset="0"/>
              <a:buNone/>
            </a:pPr>
            <a:r>
              <a:rPr lang="en-US" dirty="0"/>
              <a:t>Learning the </a:t>
            </a:r>
            <a:r>
              <a:rPr lang="en-US" b="1" dirty="0"/>
              <a:t>concept</a:t>
            </a:r>
            <a:r>
              <a:rPr lang="en-US" dirty="0"/>
              <a:t> </a:t>
            </a:r>
            <a:r>
              <a:rPr lang="en-US" sz="1800" dirty="0"/>
              <a:t>NEGATION</a:t>
            </a:r>
            <a:r>
              <a:rPr lang="en-US" dirty="0"/>
              <a:t> is </a:t>
            </a:r>
          </a:p>
          <a:p>
            <a:pPr marL="0" indent="0" algn="ctr">
              <a:spcBef>
                <a:spcPts val="0"/>
              </a:spcBef>
              <a:spcAft>
                <a:spcPts val="0"/>
              </a:spcAft>
              <a:buFont typeface="Franklin Gothic Book" panose="020B0503020102020204" pitchFamily="34" charset="0"/>
              <a:buNone/>
            </a:pPr>
            <a:r>
              <a:rPr lang="en-US" dirty="0">
                <a:solidFill>
                  <a:schemeClr val="accent6"/>
                </a:solidFill>
              </a:rPr>
              <a:t>scaffolded </a:t>
            </a:r>
            <a:r>
              <a:rPr lang="en-US" dirty="0">
                <a:solidFill>
                  <a:schemeClr val="tx1"/>
                </a:solidFill>
              </a:rPr>
              <a:t>by</a:t>
            </a:r>
            <a:r>
              <a:rPr lang="en-US" dirty="0">
                <a:solidFill>
                  <a:schemeClr val="accent6"/>
                </a:solidFill>
              </a:rPr>
              <a:t> </a:t>
            </a:r>
            <a:r>
              <a:rPr lang="en-US" dirty="0">
                <a:solidFill>
                  <a:schemeClr val="tx1"/>
                </a:solidFill>
              </a:rPr>
              <a:t>mappings to </a:t>
            </a:r>
            <a:r>
              <a:rPr lang="en-US" sz="1800" dirty="0"/>
              <a:t>REJECTION</a:t>
            </a:r>
            <a:r>
              <a:rPr lang="en-US" dirty="0"/>
              <a:t>, </a:t>
            </a:r>
            <a:r>
              <a:rPr lang="en-US" sz="1800" dirty="0"/>
              <a:t>NONEXISTENCE</a:t>
            </a:r>
            <a:r>
              <a:rPr lang="en-US" dirty="0"/>
              <a:t>, and </a:t>
            </a:r>
            <a:r>
              <a:rPr lang="en-US" sz="1800" dirty="0"/>
              <a:t>PROHIBITION</a:t>
            </a:r>
            <a:endParaRPr lang="en-US" dirty="0"/>
          </a:p>
        </p:txBody>
      </p:sp>
      <p:sp>
        <p:nvSpPr>
          <p:cNvPr id="26" name="TextBox 25">
            <a:extLst>
              <a:ext uri="{FF2B5EF4-FFF2-40B4-BE49-F238E27FC236}">
                <a16:creationId xmlns:a16="http://schemas.microsoft.com/office/drawing/2014/main" id="{AC0D51F5-3CCB-3ECE-8506-50E92CF7D5D6}"/>
              </a:ext>
            </a:extLst>
          </p:cNvPr>
          <p:cNvSpPr txBox="1"/>
          <p:nvPr/>
        </p:nvSpPr>
        <p:spPr>
          <a:xfrm>
            <a:off x="2553410" y="5296903"/>
            <a:ext cx="2191626" cy="369332"/>
          </a:xfrm>
          <a:prstGeom prst="rect">
            <a:avLst/>
          </a:prstGeom>
          <a:noFill/>
        </p:spPr>
        <p:txBody>
          <a:bodyPr wrap="none" rtlCol="0">
            <a:spAutoFit/>
          </a:bodyPr>
          <a:lstStyle/>
          <a:p>
            <a:r>
              <a:rPr lang="en-US" dirty="0">
                <a:solidFill>
                  <a:srgbClr val="3799C8"/>
                </a:solidFill>
              </a:rPr>
              <a:t>CONCEPT LEARNING</a:t>
            </a:r>
          </a:p>
        </p:txBody>
      </p:sp>
    </p:spTree>
    <p:extLst>
      <p:ext uri="{BB962C8B-B14F-4D97-AF65-F5344CB8AC3E}">
        <p14:creationId xmlns:p14="http://schemas.microsoft.com/office/powerpoint/2010/main" val="24400446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3" grpId="0" animBg="1"/>
      <p:bldP spid="13" grpId="0"/>
      <p:bldP spid="24" grpId="0" animBg="1"/>
      <p:bldP spid="26" grpId="0"/>
    </p:bldLst>
  </p:timing>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F003890-673A-F7CE-4A52-94C7E368ED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F8D3C3-3404-3DE1-F56D-6E3E5114CDA2}"/>
              </a:ext>
            </a:extLst>
          </p:cNvPr>
          <p:cNvSpPr>
            <a:spLocks noGrp="1"/>
          </p:cNvSpPr>
          <p:nvPr>
            <p:ph type="title"/>
          </p:nvPr>
        </p:nvSpPr>
        <p:spPr>
          <a:solidFill>
            <a:schemeClr val="accent2">
              <a:lumMod val="20000"/>
              <a:lumOff val="80000"/>
            </a:schemeClr>
          </a:solidFill>
        </p:spPr>
        <p:txBody>
          <a:bodyPr>
            <a:normAutofit/>
          </a:bodyPr>
          <a:lstStyle/>
          <a:p>
            <a:pPr algn="ctr"/>
            <a:r>
              <a:rPr lang="en-US" dirty="0"/>
              <a:t>Clustered meanings could inhibit mapping </a:t>
            </a:r>
            <a:r>
              <a:rPr lang="en-US" sz="3600" dirty="0"/>
              <a:t>NEGATION </a:t>
            </a:r>
            <a:r>
              <a:rPr lang="en-US" dirty="0"/>
              <a:t>to language</a:t>
            </a:r>
          </a:p>
        </p:txBody>
      </p:sp>
      <p:pic>
        <p:nvPicPr>
          <p:cNvPr id="4" name="Picture 3">
            <a:extLst>
              <a:ext uri="{FF2B5EF4-FFF2-40B4-BE49-F238E27FC236}">
                <a16:creationId xmlns:a16="http://schemas.microsoft.com/office/drawing/2014/main" id="{BCCE942F-5761-1291-499E-2218302D2952}"/>
              </a:ext>
            </a:extLst>
          </p:cNvPr>
          <p:cNvPicPr>
            <a:picLocks noChangeAspect="1"/>
          </p:cNvPicPr>
          <p:nvPr/>
        </p:nvPicPr>
        <p:blipFill>
          <a:blip r:embed="rId3"/>
          <a:stretch>
            <a:fillRect/>
          </a:stretch>
        </p:blipFill>
        <p:spPr>
          <a:xfrm>
            <a:off x="763755" y="4331922"/>
            <a:ext cx="1326314" cy="1326314"/>
          </a:xfrm>
          <a:prstGeom prst="rect">
            <a:avLst/>
          </a:prstGeom>
        </p:spPr>
      </p:pic>
      <p:sp>
        <p:nvSpPr>
          <p:cNvPr id="6" name="TextBox 5">
            <a:extLst>
              <a:ext uri="{FF2B5EF4-FFF2-40B4-BE49-F238E27FC236}">
                <a16:creationId xmlns:a16="http://schemas.microsoft.com/office/drawing/2014/main" id="{92A2DEFE-6F35-522C-364B-C1FEA71D7D88}"/>
              </a:ext>
            </a:extLst>
          </p:cNvPr>
          <p:cNvSpPr txBox="1"/>
          <p:nvPr/>
        </p:nvSpPr>
        <p:spPr>
          <a:xfrm>
            <a:off x="8019738" y="5126636"/>
            <a:ext cx="184731"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endParaRPr>
          </a:p>
        </p:txBody>
      </p:sp>
      <p:sp>
        <p:nvSpPr>
          <p:cNvPr id="7" name="TextBox 6">
            <a:extLst>
              <a:ext uri="{FF2B5EF4-FFF2-40B4-BE49-F238E27FC236}">
                <a16:creationId xmlns:a16="http://schemas.microsoft.com/office/drawing/2014/main" id="{C50B4309-2C85-E152-7191-5C58936EF0F2}"/>
              </a:ext>
            </a:extLst>
          </p:cNvPr>
          <p:cNvSpPr txBox="1"/>
          <p:nvPr/>
        </p:nvSpPr>
        <p:spPr>
          <a:xfrm>
            <a:off x="6846838" y="2340941"/>
            <a:ext cx="4581177" cy="3477875"/>
          </a:xfrm>
          <a:prstGeom prst="rect">
            <a:avLst/>
          </a:prstGeom>
          <a:noFill/>
        </p:spPr>
        <p:txBody>
          <a:bodyPr wrap="square" rtlCol="0">
            <a:spAutoFit/>
          </a:bodyPr>
          <a:lstStyle/>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Franklin Gothic Book" panose="020B0503020102020204"/>
              </a:rPr>
              <a:t>Children resist mapping new meanings to a word they have a meaning for (</a:t>
            </a:r>
            <a:r>
              <a:rPr kumimoji="0" lang="en-US" sz="2000" b="0" i="0" u="none" strike="noStrike" kern="1200" cap="none" spc="0" normalizeH="0" baseline="0" noProof="0" dirty="0" err="1">
                <a:ln>
                  <a:noFill/>
                </a:ln>
                <a:solidFill>
                  <a:prstClr val="black"/>
                </a:solidFill>
                <a:effectLst/>
                <a:uLnTx/>
                <a:uFillTx/>
                <a:latin typeface="Franklin Gothic Book" panose="020B0503020102020204"/>
              </a:rPr>
              <a:t>Casenheiser</a:t>
            </a:r>
            <a:r>
              <a:rPr kumimoji="0" lang="en-US" sz="2000" b="0" i="0" u="none" strike="noStrike" kern="1200" cap="none" spc="0" normalizeH="0" baseline="0" noProof="0" dirty="0">
                <a:ln>
                  <a:noFill/>
                </a:ln>
                <a:solidFill>
                  <a:prstClr val="black"/>
                </a:solidFill>
                <a:effectLst/>
                <a:uLnTx/>
                <a:uFillTx/>
                <a:latin typeface="Franklin Gothic Book" panose="020B0503020102020204"/>
              </a:rPr>
              <a:t>, 2005; Mazzocco, 1997)</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000" b="0" i="0" u="none" strike="noStrike" kern="1200" cap="none" spc="0" normalizeH="0" baseline="0" noProof="0" dirty="0">
              <a:ln>
                <a:noFill/>
              </a:ln>
              <a:solidFill>
                <a:prstClr val="black"/>
              </a:solidFill>
              <a:effectLst/>
              <a:uLnTx/>
              <a:uFillTx/>
              <a:latin typeface="Franklin Gothic Book" panose="020B0503020102020204"/>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Franklin Gothic Book" panose="020B0503020102020204"/>
              </a:rPr>
              <a:t>Children have an easier time learning homophonous mappings when the meanings are syntactically or semantically distinct (</a:t>
            </a:r>
            <a:r>
              <a:rPr lang="en-US" sz="2000" dirty="0">
                <a:solidFill>
                  <a:prstClr val="black"/>
                </a:solidFill>
                <a:latin typeface="Franklin Gothic Book" panose="020B0503020102020204"/>
              </a:rPr>
              <a:t>D</a:t>
            </a:r>
            <a:r>
              <a:rPr kumimoji="0" lang="en-US" sz="2000" b="0" i="0" u="none" strike="noStrike" kern="1200" cap="none" spc="0" normalizeH="0" baseline="0" noProof="0" dirty="0" err="1">
                <a:ln>
                  <a:noFill/>
                </a:ln>
                <a:solidFill>
                  <a:prstClr val="black"/>
                </a:solidFill>
                <a:effectLst/>
                <a:uLnTx/>
                <a:uFillTx/>
                <a:latin typeface="Franklin Gothic Book" panose="020B0503020102020204"/>
              </a:rPr>
              <a:t>autriche</a:t>
            </a:r>
            <a:r>
              <a:rPr kumimoji="0" lang="en-US" sz="2000" b="0" i="0" u="none" strike="noStrike" kern="1200" cap="none" spc="0" normalizeH="0" baseline="0" noProof="0" dirty="0">
                <a:ln>
                  <a:noFill/>
                </a:ln>
                <a:solidFill>
                  <a:prstClr val="black"/>
                </a:solidFill>
                <a:effectLst/>
                <a:uLnTx/>
                <a:uFillTx/>
                <a:latin typeface="Franklin Gothic Book" panose="020B0503020102020204"/>
              </a:rPr>
              <a:t> et al., 2018)</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000" b="0" i="0" u="none" strike="noStrike" kern="1200" cap="none" spc="0" normalizeH="0" baseline="0" noProof="0" dirty="0">
              <a:ln>
                <a:noFill/>
              </a:ln>
              <a:solidFill>
                <a:prstClr val="black"/>
              </a:solidFill>
              <a:effectLst/>
              <a:uLnTx/>
              <a:uFillTx/>
              <a:latin typeface="Franklin Gothic Book" panose="020B0503020102020204"/>
            </a:endParaRPr>
          </a:p>
        </p:txBody>
      </p:sp>
      <p:sp>
        <p:nvSpPr>
          <p:cNvPr id="32" name="Oval Callout 31">
            <a:extLst>
              <a:ext uri="{FF2B5EF4-FFF2-40B4-BE49-F238E27FC236}">
                <a16:creationId xmlns:a16="http://schemas.microsoft.com/office/drawing/2014/main" id="{271783A5-808E-855D-2594-1D6FD3B8EB4E}"/>
              </a:ext>
            </a:extLst>
          </p:cNvPr>
          <p:cNvSpPr/>
          <p:nvPr/>
        </p:nvSpPr>
        <p:spPr>
          <a:xfrm>
            <a:off x="3122223" y="4915383"/>
            <a:ext cx="1812680" cy="981433"/>
          </a:xfrm>
          <a:prstGeom prst="wedgeEllipseCallout">
            <a:avLst>
              <a:gd name="adj1" fmla="val -102359"/>
              <a:gd name="adj2" fmla="val -38298"/>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“no”</a:t>
            </a:r>
          </a:p>
        </p:txBody>
      </p:sp>
      <p:sp>
        <p:nvSpPr>
          <p:cNvPr id="33" name="Cloud Callout 32">
            <a:extLst>
              <a:ext uri="{FF2B5EF4-FFF2-40B4-BE49-F238E27FC236}">
                <a16:creationId xmlns:a16="http://schemas.microsoft.com/office/drawing/2014/main" id="{85A1AB29-D90A-3F4E-44DC-16590F1D5EF0}"/>
              </a:ext>
            </a:extLst>
          </p:cNvPr>
          <p:cNvSpPr/>
          <p:nvPr/>
        </p:nvSpPr>
        <p:spPr>
          <a:xfrm>
            <a:off x="2090069" y="2598370"/>
            <a:ext cx="4773621" cy="1733552"/>
          </a:xfrm>
          <a:prstGeom prst="cloudCallout">
            <a:avLst>
              <a:gd name="adj1" fmla="val -51421"/>
              <a:gd name="adj2" fmla="val 65068"/>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Franklin Gothic Book" panose="020B0503020102020204"/>
              <a:ea typeface="+mn-ea"/>
              <a:cs typeface="+mn-cs"/>
            </a:endParaRPr>
          </a:p>
        </p:txBody>
      </p:sp>
      <p:sp>
        <p:nvSpPr>
          <p:cNvPr id="34" name="TextBox 33">
            <a:extLst>
              <a:ext uri="{FF2B5EF4-FFF2-40B4-BE49-F238E27FC236}">
                <a16:creationId xmlns:a16="http://schemas.microsoft.com/office/drawing/2014/main" id="{E871BE7B-0A2D-0526-4C93-0C707A675CC0}"/>
              </a:ext>
            </a:extLst>
          </p:cNvPr>
          <p:cNvSpPr txBox="1"/>
          <p:nvPr/>
        </p:nvSpPr>
        <p:spPr>
          <a:xfrm>
            <a:off x="2418908" y="3234058"/>
            <a:ext cx="1144865" cy="33855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Franklin Gothic Book" panose="020B0503020102020204"/>
                <a:ea typeface="+mn-ea"/>
                <a:cs typeface="+mn-cs"/>
              </a:rPr>
              <a:t>REJECTION</a:t>
            </a:r>
          </a:p>
        </p:txBody>
      </p:sp>
      <p:cxnSp>
        <p:nvCxnSpPr>
          <p:cNvPr id="35" name="Straight Arrow Connector 34">
            <a:extLst>
              <a:ext uri="{FF2B5EF4-FFF2-40B4-BE49-F238E27FC236}">
                <a16:creationId xmlns:a16="http://schemas.microsoft.com/office/drawing/2014/main" id="{C9982A57-7B24-2BF1-70B0-F07C47E2DBF6}"/>
              </a:ext>
            </a:extLst>
          </p:cNvPr>
          <p:cNvCxnSpPr>
            <a:cxnSpLocks/>
            <a:stCxn id="34" idx="2"/>
          </p:cNvCxnSpPr>
          <p:nvPr/>
        </p:nvCxnSpPr>
        <p:spPr>
          <a:xfrm>
            <a:off x="2991341" y="3572612"/>
            <a:ext cx="987444" cy="1664869"/>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EE4B19A1-6DD8-1461-0711-F946F0F263B2}"/>
              </a:ext>
            </a:extLst>
          </p:cNvPr>
          <p:cNvSpPr txBox="1"/>
          <p:nvPr/>
        </p:nvSpPr>
        <p:spPr>
          <a:xfrm>
            <a:off x="3117460" y="3537087"/>
            <a:ext cx="1324914" cy="33855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Franklin Gothic Book" panose="020B0503020102020204"/>
                <a:ea typeface="+mn-ea"/>
                <a:cs typeface="+mn-cs"/>
              </a:rPr>
              <a:t>PROHIBITION</a:t>
            </a:r>
          </a:p>
        </p:txBody>
      </p:sp>
      <p:sp>
        <p:nvSpPr>
          <p:cNvPr id="37" name="TextBox 36">
            <a:extLst>
              <a:ext uri="{FF2B5EF4-FFF2-40B4-BE49-F238E27FC236}">
                <a16:creationId xmlns:a16="http://schemas.microsoft.com/office/drawing/2014/main" id="{BD2FD2F0-E899-019E-8A38-6182338A14FC}"/>
              </a:ext>
            </a:extLst>
          </p:cNvPr>
          <p:cNvSpPr txBox="1"/>
          <p:nvPr/>
        </p:nvSpPr>
        <p:spPr>
          <a:xfrm>
            <a:off x="4001774" y="3104751"/>
            <a:ext cx="1544718" cy="33855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Franklin Gothic Book" panose="020B0503020102020204"/>
                <a:ea typeface="+mn-ea"/>
                <a:cs typeface="+mn-cs"/>
              </a:rPr>
              <a:t>NONEXISTENCE</a:t>
            </a:r>
          </a:p>
        </p:txBody>
      </p:sp>
      <p:cxnSp>
        <p:nvCxnSpPr>
          <p:cNvPr id="38" name="Straight Arrow Connector 37">
            <a:extLst>
              <a:ext uri="{FF2B5EF4-FFF2-40B4-BE49-F238E27FC236}">
                <a16:creationId xmlns:a16="http://schemas.microsoft.com/office/drawing/2014/main" id="{A8F057CF-2E65-6645-1F63-0F1BE4EDE09E}"/>
              </a:ext>
            </a:extLst>
          </p:cNvPr>
          <p:cNvCxnSpPr>
            <a:cxnSpLocks/>
            <a:stCxn id="36" idx="2"/>
          </p:cNvCxnSpPr>
          <p:nvPr/>
        </p:nvCxnSpPr>
        <p:spPr>
          <a:xfrm>
            <a:off x="3779917" y="3875641"/>
            <a:ext cx="198868" cy="1361840"/>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232F2342-57DD-253C-6CB2-088E5D525F59}"/>
              </a:ext>
            </a:extLst>
          </p:cNvPr>
          <p:cNvCxnSpPr>
            <a:cxnSpLocks/>
            <a:stCxn id="37" idx="2"/>
          </p:cNvCxnSpPr>
          <p:nvPr/>
        </p:nvCxnSpPr>
        <p:spPr>
          <a:xfrm flipH="1">
            <a:off x="3978785" y="3443305"/>
            <a:ext cx="795348" cy="1794176"/>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BE174BAD-9EA9-5859-2FB4-08C636322681}"/>
              </a:ext>
            </a:extLst>
          </p:cNvPr>
          <p:cNvSpPr txBox="1"/>
          <p:nvPr/>
        </p:nvSpPr>
        <p:spPr>
          <a:xfrm>
            <a:off x="4944996" y="3557288"/>
            <a:ext cx="1077474" cy="33855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Franklin Gothic Book" panose="020B0503020102020204"/>
                <a:ea typeface="+mn-ea"/>
                <a:cs typeface="+mn-cs"/>
              </a:rPr>
              <a:t>NEGATION</a:t>
            </a:r>
          </a:p>
        </p:txBody>
      </p:sp>
      <p:cxnSp>
        <p:nvCxnSpPr>
          <p:cNvPr id="42" name="Straight Arrow Connector 41">
            <a:extLst>
              <a:ext uri="{FF2B5EF4-FFF2-40B4-BE49-F238E27FC236}">
                <a16:creationId xmlns:a16="http://schemas.microsoft.com/office/drawing/2014/main" id="{3905081A-E5E8-BA4B-577B-198D7F588963}"/>
              </a:ext>
            </a:extLst>
          </p:cNvPr>
          <p:cNvCxnSpPr>
            <a:cxnSpLocks/>
          </p:cNvCxnSpPr>
          <p:nvPr/>
        </p:nvCxnSpPr>
        <p:spPr>
          <a:xfrm flipH="1">
            <a:off x="4275790" y="3895842"/>
            <a:ext cx="1077474" cy="1341639"/>
          </a:xfrm>
          <a:prstGeom prst="straightConnector1">
            <a:avLst/>
          </a:prstGeom>
          <a:ln w="28575">
            <a:solidFill>
              <a:schemeClr val="accent1">
                <a:alpha val="54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 name="Freeform 42">
            <a:extLst>
              <a:ext uri="{FF2B5EF4-FFF2-40B4-BE49-F238E27FC236}">
                <a16:creationId xmlns:a16="http://schemas.microsoft.com/office/drawing/2014/main" id="{BC64B671-BF78-485F-AED3-4717FDBC0F36}"/>
              </a:ext>
            </a:extLst>
          </p:cNvPr>
          <p:cNvSpPr/>
          <p:nvPr/>
        </p:nvSpPr>
        <p:spPr>
          <a:xfrm rot="159957">
            <a:off x="2636253" y="3602501"/>
            <a:ext cx="1973017" cy="1239689"/>
          </a:xfrm>
          <a:custGeom>
            <a:avLst/>
            <a:gdLst>
              <a:gd name="connsiteX0" fmla="*/ 0 w 1965277"/>
              <a:gd name="connsiteY0" fmla="*/ 0 h 1267322"/>
              <a:gd name="connsiteX1" fmla="*/ 1037230 w 1965277"/>
              <a:gd name="connsiteY1" fmla="*/ 1160060 h 1267322"/>
              <a:gd name="connsiteX2" fmla="*/ 1965277 w 1965277"/>
              <a:gd name="connsiteY2" fmla="*/ 1146412 h 1267322"/>
            </a:gdLst>
            <a:ahLst/>
            <a:cxnLst>
              <a:cxn ang="0">
                <a:pos x="connsiteX0" y="connsiteY0"/>
              </a:cxn>
              <a:cxn ang="0">
                <a:pos x="connsiteX1" y="connsiteY1"/>
              </a:cxn>
              <a:cxn ang="0">
                <a:pos x="connsiteX2" y="connsiteY2"/>
              </a:cxn>
            </a:cxnLst>
            <a:rect l="l" t="t" r="r" b="b"/>
            <a:pathLst>
              <a:path w="1965277" h="1267322">
                <a:moveTo>
                  <a:pt x="0" y="0"/>
                </a:moveTo>
                <a:cubicBezTo>
                  <a:pt x="354842" y="484495"/>
                  <a:pt x="709684" y="968991"/>
                  <a:pt x="1037230" y="1160060"/>
                </a:cubicBezTo>
                <a:cubicBezTo>
                  <a:pt x="1364776" y="1351129"/>
                  <a:pt x="1665026" y="1248770"/>
                  <a:pt x="1965277" y="1146412"/>
                </a:cubicBezTo>
              </a:path>
            </a:pathLst>
          </a:custGeom>
          <a:noFill/>
          <a:ln>
            <a:solidFill>
              <a:srgbClr val="FF0000"/>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sp>
        <p:nvSpPr>
          <p:cNvPr id="44" name="Freeform 43">
            <a:extLst>
              <a:ext uri="{FF2B5EF4-FFF2-40B4-BE49-F238E27FC236}">
                <a16:creationId xmlns:a16="http://schemas.microsoft.com/office/drawing/2014/main" id="{60CCA876-AB10-753F-38B1-C2ED177D8E91}"/>
              </a:ext>
            </a:extLst>
          </p:cNvPr>
          <p:cNvSpPr/>
          <p:nvPr/>
        </p:nvSpPr>
        <p:spPr>
          <a:xfrm>
            <a:off x="4074403" y="3849131"/>
            <a:ext cx="557551" cy="821345"/>
          </a:xfrm>
          <a:custGeom>
            <a:avLst/>
            <a:gdLst>
              <a:gd name="connsiteX0" fmla="*/ 0 w 504968"/>
              <a:gd name="connsiteY0" fmla="*/ 0 h 764275"/>
              <a:gd name="connsiteX1" fmla="*/ 272956 w 504968"/>
              <a:gd name="connsiteY1" fmla="*/ 559559 h 764275"/>
              <a:gd name="connsiteX2" fmla="*/ 504968 w 504968"/>
              <a:gd name="connsiteY2" fmla="*/ 764275 h 764275"/>
              <a:gd name="connsiteX3" fmla="*/ 504968 w 504968"/>
              <a:gd name="connsiteY3" fmla="*/ 764275 h 764275"/>
            </a:gdLst>
            <a:ahLst/>
            <a:cxnLst>
              <a:cxn ang="0">
                <a:pos x="connsiteX0" y="connsiteY0"/>
              </a:cxn>
              <a:cxn ang="0">
                <a:pos x="connsiteX1" y="connsiteY1"/>
              </a:cxn>
              <a:cxn ang="0">
                <a:pos x="connsiteX2" y="connsiteY2"/>
              </a:cxn>
              <a:cxn ang="0">
                <a:pos x="connsiteX3" y="connsiteY3"/>
              </a:cxn>
            </a:cxnLst>
            <a:rect l="l" t="t" r="r" b="b"/>
            <a:pathLst>
              <a:path w="504968" h="764275">
                <a:moveTo>
                  <a:pt x="0" y="0"/>
                </a:moveTo>
                <a:cubicBezTo>
                  <a:pt x="94397" y="216090"/>
                  <a:pt x="188795" y="432180"/>
                  <a:pt x="272956" y="559559"/>
                </a:cubicBezTo>
                <a:cubicBezTo>
                  <a:pt x="357117" y="686938"/>
                  <a:pt x="504968" y="764275"/>
                  <a:pt x="504968" y="764275"/>
                </a:cubicBezTo>
                <a:lnTo>
                  <a:pt x="504968" y="764275"/>
                </a:lnTo>
              </a:path>
            </a:pathLst>
          </a:custGeom>
          <a:noFill/>
          <a:ln>
            <a:solidFill>
              <a:srgbClr val="FF0000"/>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sp>
        <p:nvSpPr>
          <p:cNvPr id="45" name="Freeform 44">
            <a:extLst>
              <a:ext uri="{FF2B5EF4-FFF2-40B4-BE49-F238E27FC236}">
                <a16:creationId xmlns:a16="http://schemas.microsoft.com/office/drawing/2014/main" id="{CD1BECE1-7220-4807-3D75-D4A14C6B8BDE}"/>
              </a:ext>
            </a:extLst>
          </p:cNvPr>
          <p:cNvSpPr/>
          <p:nvPr/>
        </p:nvSpPr>
        <p:spPr>
          <a:xfrm>
            <a:off x="4452394" y="3443305"/>
            <a:ext cx="278093" cy="1142123"/>
          </a:xfrm>
          <a:custGeom>
            <a:avLst/>
            <a:gdLst>
              <a:gd name="connsiteX0" fmla="*/ 0 w 245660"/>
              <a:gd name="connsiteY0" fmla="*/ 0 h 1064525"/>
              <a:gd name="connsiteX1" fmla="*/ 109182 w 245660"/>
              <a:gd name="connsiteY1" fmla="*/ 736979 h 1064525"/>
              <a:gd name="connsiteX2" fmla="*/ 245660 w 245660"/>
              <a:gd name="connsiteY2" fmla="*/ 1064525 h 1064525"/>
            </a:gdLst>
            <a:ahLst/>
            <a:cxnLst>
              <a:cxn ang="0">
                <a:pos x="connsiteX0" y="connsiteY0"/>
              </a:cxn>
              <a:cxn ang="0">
                <a:pos x="connsiteX1" y="connsiteY1"/>
              </a:cxn>
              <a:cxn ang="0">
                <a:pos x="connsiteX2" y="connsiteY2"/>
              </a:cxn>
            </a:cxnLst>
            <a:rect l="l" t="t" r="r" b="b"/>
            <a:pathLst>
              <a:path w="245660" h="1064525">
                <a:moveTo>
                  <a:pt x="0" y="0"/>
                </a:moveTo>
                <a:cubicBezTo>
                  <a:pt x="34119" y="279779"/>
                  <a:pt x="68239" y="559558"/>
                  <a:pt x="109182" y="736979"/>
                </a:cubicBezTo>
                <a:cubicBezTo>
                  <a:pt x="150125" y="914400"/>
                  <a:pt x="197892" y="989462"/>
                  <a:pt x="245660" y="1064525"/>
                </a:cubicBezTo>
              </a:path>
            </a:pathLst>
          </a:custGeom>
          <a:noFill/>
          <a:ln>
            <a:solidFill>
              <a:srgbClr val="FF0000"/>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spTree>
    <p:extLst>
      <p:ext uri="{BB962C8B-B14F-4D97-AF65-F5344CB8AC3E}">
        <p14:creationId xmlns:p14="http://schemas.microsoft.com/office/powerpoint/2010/main" val="10989809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4"/>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32" grpId="0" animBg="1"/>
      <p:bldP spid="33" grpId="0" animBg="1"/>
      <p:bldP spid="34" grpId="0"/>
      <p:bldP spid="36" grpId="0"/>
      <p:bldP spid="37" grpId="0"/>
      <p:bldP spid="40" grpId="0"/>
      <p:bldP spid="43" grpId="0" animBg="1"/>
      <p:bldP spid="44" grpId="0" animBg="1"/>
      <p:bldP spid="45" grpId="0" animBg="1"/>
    </p:bldLst>
  </p:timing>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8890CE5-0F95-B932-B30A-B958569CFE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1644C3-1935-5F6B-DF39-43CF56B074CE}"/>
              </a:ext>
            </a:extLst>
          </p:cNvPr>
          <p:cNvSpPr>
            <a:spLocks noGrp="1"/>
          </p:cNvSpPr>
          <p:nvPr>
            <p:ph type="title"/>
          </p:nvPr>
        </p:nvSpPr>
        <p:spPr>
          <a:solidFill>
            <a:schemeClr val="accent2">
              <a:lumMod val="20000"/>
              <a:lumOff val="80000"/>
            </a:schemeClr>
          </a:solidFill>
        </p:spPr>
        <p:txBody>
          <a:bodyPr>
            <a:normAutofit/>
          </a:bodyPr>
          <a:lstStyle/>
          <a:p>
            <a:pPr algn="ctr"/>
            <a:r>
              <a:rPr lang="en-US" dirty="0"/>
              <a:t>Clustered meanings could inhibit mapping </a:t>
            </a:r>
            <a:r>
              <a:rPr lang="en-US" sz="3600" dirty="0"/>
              <a:t>NEGATION </a:t>
            </a:r>
            <a:r>
              <a:rPr lang="en-US" dirty="0"/>
              <a:t>to language</a:t>
            </a:r>
          </a:p>
        </p:txBody>
      </p:sp>
      <p:pic>
        <p:nvPicPr>
          <p:cNvPr id="4" name="Picture 3">
            <a:extLst>
              <a:ext uri="{FF2B5EF4-FFF2-40B4-BE49-F238E27FC236}">
                <a16:creationId xmlns:a16="http://schemas.microsoft.com/office/drawing/2014/main" id="{381F4B2B-CD6D-54CF-8951-259FE109668C}"/>
              </a:ext>
            </a:extLst>
          </p:cNvPr>
          <p:cNvPicPr>
            <a:picLocks noChangeAspect="1"/>
          </p:cNvPicPr>
          <p:nvPr/>
        </p:nvPicPr>
        <p:blipFill>
          <a:blip r:embed="rId3"/>
          <a:stretch>
            <a:fillRect/>
          </a:stretch>
        </p:blipFill>
        <p:spPr>
          <a:xfrm>
            <a:off x="763755" y="4331922"/>
            <a:ext cx="1326314" cy="1326314"/>
          </a:xfrm>
          <a:prstGeom prst="rect">
            <a:avLst/>
          </a:prstGeom>
        </p:spPr>
      </p:pic>
      <p:sp>
        <p:nvSpPr>
          <p:cNvPr id="6" name="TextBox 5">
            <a:extLst>
              <a:ext uri="{FF2B5EF4-FFF2-40B4-BE49-F238E27FC236}">
                <a16:creationId xmlns:a16="http://schemas.microsoft.com/office/drawing/2014/main" id="{6578BA8B-AA4F-334C-294A-047171D5825F}"/>
              </a:ext>
            </a:extLst>
          </p:cNvPr>
          <p:cNvSpPr txBox="1"/>
          <p:nvPr/>
        </p:nvSpPr>
        <p:spPr>
          <a:xfrm>
            <a:off x="8125396" y="5162782"/>
            <a:ext cx="184731"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endParaRPr>
          </a:p>
        </p:txBody>
      </p:sp>
      <p:sp>
        <p:nvSpPr>
          <p:cNvPr id="32" name="Oval Callout 31">
            <a:extLst>
              <a:ext uri="{FF2B5EF4-FFF2-40B4-BE49-F238E27FC236}">
                <a16:creationId xmlns:a16="http://schemas.microsoft.com/office/drawing/2014/main" id="{714BD0E6-F9CF-6C59-D9D2-E08A066D996E}"/>
              </a:ext>
            </a:extLst>
          </p:cNvPr>
          <p:cNvSpPr/>
          <p:nvPr/>
        </p:nvSpPr>
        <p:spPr>
          <a:xfrm>
            <a:off x="3122223" y="4915383"/>
            <a:ext cx="1812680" cy="981433"/>
          </a:xfrm>
          <a:prstGeom prst="wedgeEllipseCallout">
            <a:avLst>
              <a:gd name="adj1" fmla="val -102359"/>
              <a:gd name="adj2" fmla="val -38298"/>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“no”</a:t>
            </a:r>
          </a:p>
        </p:txBody>
      </p:sp>
      <p:sp>
        <p:nvSpPr>
          <p:cNvPr id="33" name="Cloud Callout 32">
            <a:extLst>
              <a:ext uri="{FF2B5EF4-FFF2-40B4-BE49-F238E27FC236}">
                <a16:creationId xmlns:a16="http://schemas.microsoft.com/office/drawing/2014/main" id="{6984B69E-0166-5E54-F2E2-695DCB32D3CC}"/>
              </a:ext>
            </a:extLst>
          </p:cNvPr>
          <p:cNvSpPr/>
          <p:nvPr/>
        </p:nvSpPr>
        <p:spPr>
          <a:xfrm>
            <a:off x="2090069" y="2598370"/>
            <a:ext cx="4773621" cy="1733552"/>
          </a:xfrm>
          <a:prstGeom prst="cloudCallout">
            <a:avLst>
              <a:gd name="adj1" fmla="val -51421"/>
              <a:gd name="adj2" fmla="val 65068"/>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Franklin Gothic Book" panose="020B0503020102020204"/>
              <a:ea typeface="+mn-ea"/>
              <a:cs typeface="+mn-cs"/>
            </a:endParaRPr>
          </a:p>
        </p:txBody>
      </p:sp>
      <p:sp>
        <p:nvSpPr>
          <p:cNvPr id="34" name="TextBox 33">
            <a:extLst>
              <a:ext uri="{FF2B5EF4-FFF2-40B4-BE49-F238E27FC236}">
                <a16:creationId xmlns:a16="http://schemas.microsoft.com/office/drawing/2014/main" id="{987491E9-BD9F-4012-71B9-24F814D44C17}"/>
              </a:ext>
            </a:extLst>
          </p:cNvPr>
          <p:cNvSpPr txBox="1"/>
          <p:nvPr/>
        </p:nvSpPr>
        <p:spPr>
          <a:xfrm>
            <a:off x="2418908" y="3234058"/>
            <a:ext cx="1144865" cy="33855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Franklin Gothic Book" panose="020B0503020102020204"/>
                <a:ea typeface="+mn-ea"/>
                <a:cs typeface="+mn-cs"/>
              </a:rPr>
              <a:t>REJECTION</a:t>
            </a:r>
          </a:p>
        </p:txBody>
      </p:sp>
      <p:cxnSp>
        <p:nvCxnSpPr>
          <p:cNvPr id="35" name="Straight Arrow Connector 34">
            <a:extLst>
              <a:ext uri="{FF2B5EF4-FFF2-40B4-BE49-F238E27FC236}">
                <a16:creationId xmlns:a16="http://schemas.microsoft.com/office/drawing/2014/main" id="{63726C57-CC0D-DF03-1A65-AF9D135692F7}"/>
              </a:ext>
            </a:extLst>
          </p:cNvPr>
          <p:cNvCxnSpPr>
            <a:cxnSpLocks/>
            <a:stCxn id="34" idx="2"/>
          </p:cNvCxnSpPr>
          <p:nvPr/>
        </p:nvCxnSpPr>
        <p:spPr>
          <a:xfrm>
            <a:off x="2991341" y="3572612"/>
            <a:ext cx="987444" cy="1664869"/>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148555B8-04E5-E783-8434-5B7485FDF79D}"/>
              </a:ext>
            </a:extLst>
          </p:cNvPr>
          <p:cNvSpPr txBox="1"/>
          <p:nvPr/>
        </p:nvSpPr>
        <p:spPr>
          <a:xfrm>
            <a:off x="3117460" y="3537087"/>
            <a:ext cx="1324914" cy="33855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Franklin Gothic Book" panose="020B0503020102020204"/>
                <a:ea typeface="+mn-ea"/>
                <a:cs typeface="+mn-cs"/>
              </a:rPr>
              <a:t>PROHIBITION</a:t>
            </a:r>
          </a:p>
        </p:txBody>
      </p:sp>
      <p:sp>
        <p:nvSpPr>
          <p:cNvPr id="37" name="TextBox 36">
            <a:extLst>
              <a:ext uri="{FF2B5EF4-FFF2-40B4-BE49-F238E27FC236}">
                <a16:creationId xmlns:a16="http://schemas.microsoft.com/office/drawing/2014/main" id="{FACE2CA5-CB48-2448-E658-25402D6A167F}"/>
              </a:ext>
            </a:extLst>
          </p:cNvPr>
          <p:cNvSpPr txBox="1"/>
          <p:nvPr/>
        </p:nvSpPr>
        <p:spPr>
          <a:xfrm>
            <a:off x="4001774" y="3104751"/>
            <a:ext cx="1544718" cy="33855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Franklin Gothic Book" panose="020B0503020102020204"/>
                <a:ea typeface="+mn-ea"/>
                <a:cs typeface="+mn-cs"/>
              </a:rPr>
              <a:t>NONEXISTENCE</a:t>
            </a:r>
          </a:p>
        </p:txBody>
      </p:sp>
      <p:cxnSp>
        <p:nvCxnSpPr>
          <p:cNvPr id="38" name="Straight Arrow Connector 37">
            <a:extLst>
              <a:ext uri="{FF2B5EF4-FFF2-40B4-BE49-F238E27FC236}">
                <a16:creationId xmlns:a16="http://schemas.microsoft.com/office/drawing/2014/main" id="{1B3C2C5B-0AF9-9719-2DCF-4979D9970016}"/>
              </a:ext>
            </a:extLst>
          </p:cNvPr>
          <p:cNvCxnSpPr>
            <a:cxnSpLocks/>
            <a:stCxn id="36" idx="2"/>
          </p:cNvCxnSpPr>
          <p:nvPr/>
        </p:nvCxnSpPr>
        <p:spPr>
          <a:xfrm>
            <a:off x="3779917" y="3875641"/>
            <a:ext cx="198868" cy="1361840"/>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9EFE71E2-4C02-7349-8FBE-7D7E9E07BAB8}"/>
              </a:ext>
            </a:extLst>
          </p:cNvPr>
          <p:cNvCxnSpPr>
            <a:cxnSpLocks/>
            <a:stCxn id="37" idx="2"/>
          </p:cNvCxnSpPr>
          <p:nvPr/>
        </p:nvCxnSpPr>
        <p:spPr>
          <a:xfrm flipH="1">
            <a:off x="3978785" y="3443305"/>
            <a:ext cx="795348" cy="1794176"/>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415C21A4-FE3B-9BFE-FB8F-86F9000FA6FD}"/>
              </a:ext>
            </a:extLst>
          </p:cNvPr>
          <p:cNvSpPr txBox="1"/>
          <p:nvPr/>
        </p:nvSpPr>
        <p:spPr>
          <a:xfrm>
            <a:off x="4944996" y="3557288"/>
            <a:ext cx="1077474" cy="33855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Franklin Gothic Book" panose="020B0503020102020204"/>
                <a:ea typeface="+mn-ea"/>
                <a:cs typeface="+mn-cs"/>
              </a:rPr>
              <a:t>NEGATION</a:t>
            </a:r>
          </a:p>
        </p:txBody>
      </p:sp>
      <p:cxnSp>
        <p:nvCxnSpPr>
          <p:cNvPr id="42" name="Straight Arrow Connector 41">
            <a:extLst>
              <a:ext uri="{FF2B5EF4-FFF2-40B4-BE49-F238E27FC236}">
                <a16:creationId xmlns:a16="http://schemas.microsoft.com/office/drawing/2014/main" id="{86777DEC-E9BF-B679-986E-C6DBD9CAE687}"/>
              </a:ext>
            </a:extLst>
          </p:cNvPr>
          <p:cNvCxnSpPr>
            <a:cxnSpLocks/>
          </p:cNvCxnSpPr>
          <p:nvPr/>
        </p:nvCxnSpPr>
        <p:spPr>
          <a:xfrm flipH="1">
            <a:off x="4275790" y="3895842"/>
            <a:ext cx="1077474" cy="1341639"/>
          </a:xfrm>
          <a:prstGeom prst="straightConnector1">
            <a:avLst/>
          </a:prstGeom>
          <a:ln w="28575">
            <a:solidFill>
              <a:schemeClr val="accent1">
                <a:alpha val="54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 name="Freeform 42">
            <a:extLst>
              <a:ext uri="{FF2B5EF4-FFF2-40B4-BE49-F238E27FC236}">
                <a16:creationId xmlns:a16="http://schemas.microsoft.com/office/drawing/2014/main" id="{5AA95CB1-7F6E-CBCA-91DA-8542BDAA4727}"/>
              </a:ext>
            </a:extLst>
          </p:cNvPr>
          <p:cNvSpPr/>
          <p:nvPr/>
        </p:nvSpPr>
        <p:spPr>
          <a:xfrm rot="159957">
            <a:off x="2636253" y="3602501"/>
            <a:ext cx="1973017" cy="1239689"/>
          </a:xfrm>
          <a:custGeom>
            <a:avLst/>
            <a:gdLst>
              <a:gd name="connsiteX0" fmla="*/ 0 w 1965277"/>
              <a:gd name="connsiteY0" fmla="*/ 0 h 1267322"/>
              <a:gd name="connsiteX1" fmla="*/ 1037230 w 1965277"/>
              <a:gd name="connsiteY1" fmla="*/ 1160060 h 1267322"/>
              <a:gd name="connsiteX2" fmla="*/ 1965277 w 1965277"/>
              <a:gd name="connsiteY2" fmla="*/ 1146412 h 1267322"/>
            </a:gdLst>
            <a:ahLst/>
            <a:cxnLst>
              <a:cxn ang="0">
                <a:pos x="connsiteX0" y="connsiteY0"/>
              </a:cxn>
              <a:cxn ang="0">
                <a:pos x="connsiteX1" y="connsiteY1"/>
              </a:cxn>
              <a:cxn ang="0">
                <a:pos x="connsiteX2" y="connsiteY2"/>
              </a:cxn>
            </a:cxnLst>
            <a:rect l="l" t="t" r="r" b="b"/>
            <a:pathLst>
              <a:path w="1965277" h="1267322">
                <a:moveTo>
                  <a:pt x="0" y="0"/>
                </a:moveTo>
                <a:cubicBezTo>
                  <a:pt x="354842" y="484495"/>
                  <a:pt x="709684" y="968991"/>
                  <a:pt x="1037230" y="1160060"/>
                </a:cubicBezTo>
                <a:cubicBezTo>
                  <a:pt x="1364776" y="1351129"/>
                  <a:pt x="1665026" y="1248770"/>
                  <a:pt x="1965277" y="1146412"/>
                </a:cubicBezTo>
              </a:path>
            </a:pathLst>
          </a:custGeom>
          <a:noFill/>
          <a:ln>
            <a:solidFill>
              <a:srgbClr val="FF0000"/>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sp>
        <p:nvSpPr>
          <p:cNvPr id="44" name="Freeform 43">
            <a:extLst>
              <a:ext uri="{FF2B5EF4-FFF2-40B4-BE49-F238E27FC236}">
                <a16:creationId xmlns:a16="http://schemas.microsoft.com/office/drawing/2014/main" id="{EEFB7E26-9E6B-177A-8B36-26F4436147FD}"/>
              </a:ext>
            </a:extLst>
          </p:cNvPr>
          <p:cNvSpPr/>
          <p:nvPr/>
        </p:nvSpPr>
        <p:spPr>
          <a:xfrm>
            <a:off x="4074403" y="3849131"/>
            <a:ext cx="557551" cy="821345"/>
          </a:xfrm>
          <a:custGeom>
            <a:avLst/>
            <a:gdLst>
              <a:gd name="connsiteX0" fmla="*/ 0 w 504968"/>
              <a:gd name="connsiteY0" fmla="*/ 0 h 764275"/>
              <a:gd name="connsiteX1" fmla="*/ 272956 w 504968"/>
              <a:gd name="connsiteY1" fmla="*/ 559559 h 764275"/>
              <a:gd name="connsiteX2" fmla="*/ 504968 w 504968"/>
              <a:gd name="connsiteY2" fmla="*/ 764275 h 764275"/>
              <a:gd name="connsiteX3" fmla="*/ 504968 w 504968"/>
              <a:gd name="connsiteY3" fmla="*/ 764275 h 764275"/>
            </a:gdLst>
            <a:ahLst/>
            <a:cxnLst>
              <a:cxn ang="0">
                <a:pos x="connsiteX0" y="connsiteY0"/>
              </a:cxn>
              <a:cxn ang="0">
                <a:pos x="connsiteX1" y="connsiteY1"/>
              </a:cxn>
              <a:cxn ang="0">
                <a:pos x="connsiteX2" y="connsiteY2"/>
              </a:cxn>
              <a:cxn ang="0">
                <a:pos x="connsiteX3" y="connsiteY3"/>
              </a:cxn>
            </a:cxnLst>
            <a:rect l="l" t="t" r="r" b="b"/>
            <a:pathLst>
              <a:path w="504968" h="764275">
                <a:moveTo>
                  <a:pt x="0" y="0"/>
                </a:moveTo>
                <a:cubicBezTo>
                  <a:pt x="94397" y="216090"/>
                  <a:pt x="188795" y="432180"/>
                  <a:pt x="272956" y="559559"/>
                </a:cubicBezTo>
                <a:cubicBezTo>
                  <a:pt x="357117" y="686938"/>
                  <a:pt x="504968" y="764275"/>
                  <a:pt x="504968" y="764275"/>
                </a:cubicBezTo>
                <a:lnTo>
                  <a:pt x="504968" y="764275"/>
                </a:lnTo>
              </a:path>
            </a:pathLst>
          </a:custGeom>
          <a:noFill/>
          <a:ln>
            <a:solidFill>
              <a:srgbClr val="FF0000"/>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sp>
        <p:nvSpPr>
          <p:cNvPr id="45" name="Freeform 44">
            <a:extLst>
              <a:ext uri="{FF2B5EF4-FFF2-40B4-BE49-F238E27FC236}">
                <a16:creationId xmlns:a16="http://schemas.microsoft.com/office/drawing/2014/main" id="{7B447E7A-6E39-6358-8649-5BE1C9465B60}"/>
              </a:ext>
            </a:extLst>
          </p:cNvPr>
          <p:cNvSpPr/>
          <p:nvPr/>
        </p:nvSpPr>
        <p:spPr>
          <a:xfrm>
            <a:off x="4452394" y="3443305"/>
            <a:ext cx="278093" cy="1142123"/>
          </a:xfrm>
          <a:custGeom>
            <a:avLst/>
            <a:gdLst>
              <a:gd name="connsiteX0" fmla="*/ 0 w 245660"/>
              <a:gd name="connsiteY0" fmla="*/ 0 h 1064525"/>
              <a:gd name="connsiteX1" fmla="*/ 109182 w 245660"/>
              <a:gd name="connsiteY1" fmla="*/ 736979 h 1064525"/>
              <a:gd name="connsiteX2" fmla="*/ 245660 w 245660"/>
              <a:gd name="connsiteY2" fmla="*/ 1064525 h 1064525"/>
            </a:gdLst>
            <a:ahLst/>
            <a:cxnLst>
              <a:cxn ang="0">
                <a:pos x="connsiteX0" y="connsiteY0"/>
              </a:cxn>
              <a:cxn ang="0">
                <a:pos x="connsiteX1" y="connsiteY1"/>
              </a:cxn>
              <a:cxn ang="0">
                <a:pos x="connsiteX2" y="connsiteY2"/>
              </a:cxn>
            </a:cxnLst>
            <a:rect l="l" t="t" r="r" b="b"/>
            <a:pathLst>
              <a:path w="245660" h="1064525">
                <a:moveTo>
                  <a:pt x="0" y="0"/>
                </a:moveTo>
                <a:cubicBezTo>
                  <a:pt x="34119" y="279779"/>
                  <a:pt x="68239" y="559558"/>
                  <a:pt x="109182" y="736979"/>
                </a:cubicBezTo>
                <a:cubicBezTo>
                  <a:pt x="150125" y="914400"/>
                  <a:pt x="197892" y="989462"/>
                  <a:pt x="245660" y="1064525"/>
                </a:cubicBezTo>
              </a:path>
            </a:pathLst>
          </a:custGeom>
          <a:noFill/>
          <a:ln>
            <a:solidFill>
              <a:srgbClr val="FF0000"/>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sp>
        <p:nvSpPr>
          <p:cNvPr id="5" name="Oval Callout 4">
            <a:extLst>
              <a:ext uri="{FF2B5EF4-FFF2-40B4-BE49-F238E27FC236}">
                <a16:creationId xmlns:a16="http://schemas.microsoft.com/office/drawing/2014/main" id="{F44D7406-67E5-441D-FC42-2820B1FEE1A7}"/>
              </a:ext>
            </a:extLst>
          </p:cNvPr>
          <p:cNvSpPr/>
          <p:nvPr/>
        </p:nvSpPr>
        <p:spPr>
          <a:xfrm>
            <a:off x="7543455" y="4967610"/>
            <a:ext cx="4169184" cy="981433"/>
          </a:xfrm>
          <a:prstGeom prst="wedgeEllipseCallout">
            <a:avLst>
              <a:gd name="adj1" fmla="val -62196"/>
              <a:gd name="adj2" fmla="val -2026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Cloud Callout 7">
            <a:extLst>
              <a:ext uri="{FF2B5EF4-FFF2-40B4-BE49-F238E27FC236}">
                <a16:creationId xmlns:a16="http://schemas.microsoft.com/office/drawing/2014/main" id="{830B0D28-A91F-443D-59F9-2C67321C04DA}"/>
              </a:ext>
            </a:extLst>
          </p:cNvPr>
          <p:cNvSpPr/>
          <p:nvPr/>
        </p:nvSpPr>
        <p:spPr>
          <a:xfrm>
            <a:off x="7265859" y="2598370"/>
            <a:ext cx="4773621" cy="1733552"/>
          </a:xfrm>
          <a:prstGeom prst="cloudCallout">
            <a:avLst>
              <a:gd name="adj1" fmla="val -48959"/>
              <a:gd name="adj2" fmla="val 63684"/>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9" name="TextBox 8">
            <a:extLst>
              <a:ext uri="{FF2B5EF4-FFF2-40B4-BE49-F238E27FC236}">
                <a16:creationId xmlns:a16="http://schemas.microsoft.com/office/drawing/2014/main" id="{5A0DFBBE-07AB-3A92-5267-C87F5B37DC5E}"/>
              </a:ext>
            </a:extLst>
          </p:cNvPr>
          <p:cNvSpPr txBox="1"/>
          <p:nvPr/>
        </p:nvSpPr>
        <p:spPr>
          <a:xfrm>
            <a:off x="7594698" y="3234058"/>
            <a:ext cx="1144865" cy="338554"/>
          </a:xfrm>
          <a:prstGeom prst="rect">
            <a:avLst/>
          </a:prstGeom>
          <a:noFill/>
        </p:spPr>
        <p:txBody>
          <a:bodyPr wrap="none" rtlCol="0">
            <a:spAutoFit/>
          </a:bodyPr>
          <a:lstStyle/>
          <a:p>
            <a:r>
              <a:rPr lang="en-US" sz="1600" dirty="0"/>
              <a:t>REJECTION</a:t>
            </a:r>
          </a:p>
        </p:txBody>
      </p:sp>
      <p:sp>
        <p:nvSpPr>
          <p:cNvPr id="10" name="TextBox 9">
            <a:extLst>
              <a:ext uri="{FF2B5EF4-FFF2-40B4-BE49-F238E27FC236}">
                <a16:creationId xmlns:a16="http://schemas.microsoft.com/office/drawing/2014/main" id="{DCF9F0B9-95A2-6F7A-2929-C41D06A7DBE5}"/>
              </a:ext>
            </a:extLst>
          </p:cNvPr>
          <p:cNvSpPr txBox="1"/>
          <p:nvPr/>
        </p:nvSpPr>
        <p:spPr>
          <a:xfrm>
            <a:off x="8293250" y="3537087"/>
            <a:ext cx="1324914" cy="338554"/>
          </a:xfrm>
          <a:prstGeom prst="rect">
            <a:avLst/>
          </a:prstGeom>
          <a:noFill/>
        </p:spPr>
        <p:txBody>
          <a:bodyPr wrap="none" rtlCol="0">
            <a:spAutoFit/>
          </a:bodyPr>
          <a:lstStyle/>
          <a:p>
            <a:r>
              <a:rPr lang="en-US" sz="1600" dirty="0"/>
              <a:t>PROHIBITION</a:t>
            </a:r>
          </a:p>
        </p:txBody>
      </p:sp>
      <p:sp>
        <p:nvSpPr>
          <p:cNvPr id="11" name="TextBox 10">
            <a:extLst>
              <a:ext uri="{FF2B5EF4-FFF2-40B4-BE49-F238E27FC236}">
                <a16:creationId xmlns:a16="http://schemas.microsoft.com/office/drawing/2014/main" id="{622A742B-9A22-DA0E-0089-640FA8B9CB02}"/>
              </a:ext>
            </a:extLst>
          </p:cNvPr>
          <p:cNvSpPr txBox="1"/>
          <p:nvPr/>
        </p:nvSpPr>
        <p:spPr>
          <a:xfrm>
            <a:off x="9177564" y="3104751"/>
            <a:ext cx="1544718" cy="338554"/>
          </a:xfrm>
          <a:prstGeom prst="rect">
            <a:avLst/>
          </a:prstGeom>
          <a:noFill/>
        </p:spPr>
        <p:txBody>
          <a:bodyPr wrap="none" rtlCol="0">
            <a:spAutoFit/>
          </a:bodyPr>
          <a:lstStyle/>
          <a:p>
            <a:r>
              <a:rPr lang="en-US" sz="1600" dirty="0"/>
              <a:t>NONEXISTENCE</a:t>
            </a:r>
          </a:p>
        </p:txBody>
      </p:sp>
      <p:sp>
        <p:nvSpPr>
          <p:cNvPr id="12" name="TextBox 11">
            <a:extLst>
              <a:ext uri="{FF2B5EF4-FFF2-40B4-BE49-F238E27FC236}">
                <a16:creationId xmlns:a16="http://schemas.microsoft.com/office/drawing/2014/main" id="{8CBE5D48-65FD-703B-55B3-7EF615F7ECA5}"/>
              </a:ext>
            </a:extLst>
          </p:cNvPr>
          <p:cNvSpPr txBox="1"/>
          <p:nvPr/>
        </p:nvSpPr>
        <p:spPr>
          <a:xfrm>
            <a:off x="10120786" y="3557288"/>
            <a:ext cx="1077474" cy="338554"/>
          </a:xfrm>
          <a:prstGeom prst="rect">
            <a:avLst/>
          </a:prstGeom>
          <a:noFill/>
        </p:spPr>
        <p:txBody>
          <a:bodyPr wrap="none" rtlCol="0">
            <a:spAutoFit/>
          </a:bodyPr>
          <a:lstStyle/>
          <a:p>
            <a:r>
              <a:rPr lang="en-US" sz="1600" dirty="0"/>
              <a:t>NEGATION</a:t>
            </a:r>
          </a:p>
        </p:txBody>
      </p:sp>
      <p:sp>
        <p:nvSpPr>
          <p:cNvPr id="13" name="TextBox 12">
            <a:extLst>
              <a:ext uri="{FF2B5EF4-FFF2-40B4-BE49-F238E27FC236}">
                <a16:creationId xmlns:a16="http://schemas.microsoft.com/office/drawing/2014/main" id="{D8B43EDF-5EE6-08F4-0054-7CE2ACD179B9}"/>
              </a:ext>
            </a:extLst>
          </p:cNvPr>
          <p:cNvSpPr txBox="1"/>
          <p:nvPr/>
        </p:nvSpPr>
        <p:spPr>
          <a:xfrm>
            <a:off x="7817831" y="5270639"/>
            <a:ext cx="3600666" cy="646331"/>
          </a:xfrm>
          <a:prstGeom prst="rect">
            <a:avLst/>
          </a:prstGeom>
          <a:noFill/>
        </p:spPr>
        <p:txBody>
          <a:bodyPr wrap="none" rtlCol="0">
            <a:spAutoFit/>
          </a:bodyPr>
          <a:lstStyle/>
          <a:p>
            <a:r>
              <a:rPr lang="en-US" dirty="0">
                <a:solidFill>
                  <a:schemeClr val="tx1"/>
                </a:solidFill>
              </a:rPr>
              <a:t>“</a:t>
            </a:r>
            <a:r>
              <a:rPr lang="en-US" dirty="0" err="1">
                <a:solidFill>
                  <a:schemeClr val="tx1"/>
                </a:solidFill>
              </a:rPr>
              <a:t>ayaw</a:t>
            </a:r>
            <a:r>
              <a:rPr lang="en-US" dirty="0">
                <a:solidFill>
                  <a:schemeClr val="tx1"/>
                </a:solidFill>
              </a:rPr>
              <a:t>”	“</a:t>
            </a:r>
            <a:r>
              <a:rPr lang="en-US" dirty="0" err="1">
                <a:solidFill>
                  <a:schemeClr val="tx1"/>
                </a:solidFill>
              </a:rPr>
              <a:t>huwag</a:t>
            </a:r>
            <a:r>
              <a:rPr lang="en-US" dirty="0">
                <a:solidFill>
                  <a:schemeClr val="tx1"/>
                </a:solidFill>
              </a:rPr>
              <a:t>”	“</a:t>
            </a:r>
            <a:r>
              <a:rPr lang="en-US" dirty="0" err="1">
                <a:solidFill>
                  <a:schemeClr val="tx1"/>
                </a:solidFill>
              </a:rPr>
              <a:t>wala</a:t>
            </a:r>
            <a:r>
              <a:rPr lang="en-US" dirty="0">
                <a:solidFill>
                  <a:schemeClr val="tx1"/>
                </a:solidFill>
              </a:rPr>
              <a:t>”	“</a:t>
            </a:r>
            <a:r>
              <a:rPr lang="en-US" dirty="0" err="1">
                <a:solidFill>
                  <a:schemeClr val="tx1"/>
                </a:solidFill>
              </a:rPr>
              <a:t>hindi</a:t>
            </a:r>
            <a:r>
              <a:rPr lang="en-US" dirty="0">
                <a:solidFill>
                  <a:schemeClr val="tx1"/>
                </a:solidFill>
              </a:rPr>
              <a:t>"</a:t>
            </a:r>
          </a:p>
          <a:p>
            <a:endParaRPr lang="en-US" dirty="0"/>
          </a:p>
        </p:txBody>
      </p:sp>
      <p:cxnSp>
        <p:nvCxnSpPr>
          <p:cNvPr id="14" name="Straight Arrow Connector 13">
            <a:extLst>
              <a:ext uri="{FF2B5EF4-FFF2-40B4-BE49-F238E27FC236}">
                <a16:creationId xmlns:a16="http://schemas.microsoft.com/office/drawing/2014/main" id="{0DFD184C-133D-2876-7D83-C5EEE31D3CF0}"/>
              </a:ext>
            </a:extLst>
          </p:cNvPr>
          <p:cNvCxnSpPr>
            <a:cxnSpLocks/>
          </p:cNvCxnSpPr>
          <p:nvPr/>
        </p:nvCxnSpPr>
        <p:spPr>
          <a:xfrm>
            <a:off x="8137300" y="3605770"/>
            <a:ext cx="62301" cy="1664869"/>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44BADB42-B71F-EA05-5597-51A78B9BF1CD}"/>
              </a:ext>
            </a:extLst>
          </p:cNvPr>
          <p:cNvCxnSpPr>
            <a:cxnSpLocks/>
          </p:cNvCxnSpPr>
          <p:nvPr/>
        </p:nvCxnSpPr>
        <p:spPr>
          <a:xfrm>
            <a:off x="8955707" y="3817332"/>
            <a:ext cx="271285" cy="1537222"/>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B68458D9-1278-4A83-724B-164FF9E3C310}"/>
              </a:ext>
            </a:extLst>
          </p:cNvPr>
          <p:cNvCxnSpPr>
            <a:cxnSpLocks/>
          </p:cNvCxnSpPr>
          <p:nvPr/>
        </p:nvCxnSpPr>
        <p:spPr>
          <a:xfrm>
            <a:off x="9939843" y="3449727"/>
            <a:ext cx="67780" cy="1904827"/>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83AD5A26-CC65-F168-40E2-8B625128D71A}"/>
              </a:ext>
            </a:extLst>
          </p:cNvPr>
          <p:cNvCxnSpPr>
            <a:cxnSpLocks/>
          </p:cNvCxnSpPr>
          <p:nvPr/>
        </p:nvCxnSpPr>
        <p:spPr>
          <a:xfrm>
            <a:off x="10689323" y="3875641"/>
            <a:ext cx="303078" cy="1415199"/>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6563879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DBF9225-5855-2D3B-9ED0-BC1B703B3FE0}"/>
            </a:ext>
          </a:extLst>
        </p:cNvPr>
        <p:cNvGrpSpPr/>
        <p:nvPr/>
      </p:nvGrpSpPr>
      <p:grpSpPr>
        <a:xfrm>
          <a:off x="0" y="0"/>
          <a:ext cx="0" cy="0"/>
          <a:chOff x="0" y="0"/>
          <a:chExt cx="0" cy="0"/>
        </a:xfrm>
      </p:grpSpPr>
      <p:sp>
        <p:nvSpPr>
          <p:cNvPr id="10" name="Right Arrow 9">
            <a:extLst>
              <a:ext uri="{FF2B5EF4-FFF2-40B4-BE49-F238E27FC236}">
                <a16:creationId xmlns:a16="http://schemas.microsoft.com/office/drawing/2014/main" id="{145681B1-8C97-0CB0-6613-BAF3AE98ACF5}"/>
              </a:ext>
            </a:extLst>
          </p:cNvPr>
          <p:cNvSpPr/>
          <p:nvPr/>
        </p:nvSpPr>
        <p:spPr>
          <a:xfrm rot="16200000">
            <a:off x="8547298" y="2755459"/>
            <a:ext cx="1385690" cy="3585932"/>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Franklin Gothic Book" panose="020B0503020102020204"/>
              <a:ea typeface="+mn-ea"/>
              <a:cs typeface="+mn-cs"/>
            </a:endParaRPr>
          </a:p>
        </p:txBody>
      </p:sp>
      <p:sp>
        <p:nvSpPr>
          <p:cNvPr id="14" name="TextBox 13">
            <a:extLst>
              <a:ext uri="{FF2B5EF4-FFF2-40B4-BE49-F238E27FC236}">
                <a16:creationId xmlns:a16="http://schemas.microsoft.com/office/drawing/2014/main" id="{1C0CCEFB-F79A-59D7-FE85-5E54E69A8512}"/>
              </a:ext>
            </a:extLst>
          </p:cNvPr>
          <p:cNvSpPr txBox="1"/>
          <p:nvPr/>
        </p:nvSpPr>
        <p:spPr>
          <a:xfrm>
            <a:off x="8391495" y="4254698"/>
            <a:ext cx="1765862" cy="92333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Franklin Gothic Book" panose="020B0503020102020204"/>
                <a:ea typeface="+mn-ea"/>
                <a:cs typeface="+mn-cs"/>
              </a:rPr>
              <a:t>This side learns denial negation language earlier</a:t>
            </a:r>
          </a:p>
        </p:txBody>
      </p:sp>
      <p:sp>
        <p:nvSpPr>
          <p:cNvPr id="15" name="Content Placeholder 4">
            <a:extLst>
              <a:ext uri="{FF2B5EF4-FFF2-40B4-BE49-F238E27FC236}">
                <a16:creationId xmlns:a16="http://schemas.microsoft.com/office/drawing/2014/main" id="{C664D099-0719-A547-E207-5AA3C516ACD3}"/>
              </a:ext>
            </a:extLst>
          </p:cNvPr>
          <p:cNvSpPr txBox="1">
            <a:spLocks/>
          </p:cNvSpPr>
          <p:nvPr/>
        </p:nvSpPr>
        <p:spPr>
          <a:xfrm>
            <a:off x="6688755" y="5666235"/>
            <a:ext cx="5052898" cy="923331"/>
          </a:xfrm>
          <a:prstGeom prst="rect">
            <a:avLst/>
          </a:prstGeom>
          <a:solidFill>
            <a:schemeClr val="accent2">
              <a:lumMod val="20000"/>
              <a:lumOff val="80000"/>
            </a:schemeClr>
          </a:solidFill>
        </p:spPr>
        <p:txBody>
          <a:bodyPr vert="horz" lIns="91440" tIns="45720" rIns="91440" bIns="45720" rtlCol="0" anchor="ctr">
            <a:normAutofit lnSpcReduction="10000"/>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marL="0" marR="0" lvl="0" indent="0" algn="ctr" defTabSz="914400" rtl="0" eaLnBrk="1" fontAlgn="auto" latinLnBrk="0" hangingPunct="1">
              <a:lnSpc>
                <a:spcPct val="94000"/>
              </a:lnSpc>
              <a:spcBef>
                <a:spcPts val="0"/>
              </a:spcBef>
              <a:spcAft>
                <a:spcPts val="0"/>
              </a:spcAft>
              <a:buClrTx/>
              <a:buSzTx/>
              <a:buFont typeface="Franklin Gothic Book" panose="020B0503020102020204" pitchFamily="34" charset="0"/>
              <a:buNone/>
              <a:tabLst/>
              <a:defRPr/>
            </a:pPr>
            <a:r>
              <a:rPr kumimoji="0" lang="en-US" sz="2000" b="0" i="0" u="none" strike="noStrike" kern="1200" cap="none" spc="0" normalizeH="0" baseline="0" noProof="0" dirty="0">
                <a:ln>
                  <a:noFill/>
                </a:ln>
                <a:solidFill>
                  <a:srgbClr val="0E2841"/>
                </a:solidFill>
                <a:effectLst/>
                <a:uLnTx/>
                <a:uFillTx/>
                <a:latin typeface="Franklin Gothic Book" panose="020B0503020102020204"/>
                <a:ea typeface="+mn-ea"/>
                <a:cs typeface="+mn-cs"/>
              </a:rPr>
              <a:t>Learning the </a:t>
            </a:r>
            <a:r>
              <a:rPr kumimoji="0" lang="en-US" sz="1800" b="0" i="0" u="none" strike="noStrike" kern="1200" cap="none" spc="0" normalizeH="0" baseline="0" noProof="0" dirty="0">
                <a:ln>
                  <a:noFill/>
                </a:ln>
                <a:solidFill>
                  <a:srgbClr val="0E2841"/>
                </a:solidFill>
                <a:effectLst/>
                <a:uLnTx/>
                <a:uFillTx/>
                <a:latin typeface="Franklin Gothic Book" panose="020B0503020102020204"/>
                <a:ea typeface="+mn-ea"/>
                <a:cs typeface="+mn-cs"/>
              </a:rPr>
              <a:t>NEGATION </a:t>
            </a:r>
            <a:r>
              <a:rPr kumimoji="0" lang="en-US" i="0" u="none" strike="noStrike" kern="1200" cap="none" spc="0" normalizeH="0" baseline="0" noProof="0" dirty="0">
                <a:ln>
                  <a:noFill/>
                </a:ln>
                <a:solidFill>
                  <a:srgbClr val="0E2841"/>
                </a:solidFill>
                <a:effectLst/>
                <a:uLnTx/>
                <a:uFillTx/>
                <a:latin typeface="Franklin Gothic Book" panose="020B0503020102020204"/>
                <a:ea typeface="+mn-ea"/>
                <a:cs typeface="+mn-cs"/>
              </a:rPr>
              <a:t>meaning of </a:t>
            </a:r>
            <a:r>
              <a:rPr kumimoji="0" lang="en-US" b="1" i="0" u="none" strike="noStrike" kern="1200" cap="none" spc="0" normalizeH="0" baseline="0" noProof="0" dirty="0">
                <a:ln>
                  <a:noFill/>
                </a:ln>
                <a:solidFill>
                  <a:srgbClr val="0E2841"/>
                </a:solidFill>
                <a:effectLst/>
                <a:uLnTx/>
                <a:uFillTx/>
                <a:latin typeface="Franklin Gothic Book" panose="020B0503020102020204"/>
                <a:ea typeface="+mn-ea"/>
                <a:cs typeface="+mn-cs"/>
              </a:rPr>
              <a:t>words</a:t>
            </a:r>
            <a:r>
              <a:rPr kumimoji="0" lang="en-US" b="0" i="0" u="none" strike="noStrike" kern="1200" cap="none" spc="0" normalizeH="0" baseline="0" noProof="0" dirty="0">
                <a:ln>
                  <a:noFill/>
                </a:ln>
                <a:solidFill>
                  <a:srgbClr val="0E2841"/>
                </a:solidFill>
                <a:effectLst/>
                <a:uLnTx/>
                <a:uFillTx/>
                <a:latin typeface="Franklin Gothic Book" panose="020B0503020102020204"/>
                <a:ea typeface="+mn-ea"/>
                <a:cs typeface="+mn-cs"/>
              </a:rPr>
              <a:t> is</a:t>
            </a:r>
            <a:r>
              <a:rPr kumimoji="0" lang="en-US" b="0" i="0" u="none" strike="noStrike" kern="1200" cap="none" spc="0" normalizeH="0" baseline="0" noProof="0" dirty="0">
                <a:ln>
                  <a:noFill/>
                </a:ln>
                <a:solidFill>
                  <a:srgbClr val="FF0000"/>
                </a:solidFill>
                <a:effectLst/>
                <a:uLnTx/>
                <a:uFillTx/>
                <a:latin typeface="Franklin Gothic Book" panose="020B0503020102020204"/>
                <a:ea typeface="+mn-ea"/>
                <a:cs typeface="+mn-cs"/>
              </a:rPr>
              <a:t> </a:t>
            </a:r>
          </a:p>
          <a:p>
            <a:pPr marL="0" marR="0" lvl="0" indent="0" algn="ctr" defTabSz="914400" rtl="0" eaLnBrk="1" fontAlgn="auto" latinLnBrk="0" hangingPunct="1">
              <a:lnSpc>
                <a:spcPct val="94000"/>
              </a:lnSpc>
              <a:spcBef>
                <a:spcPts val="0"/>
              </a:spcBef>
              <a:spcAft>
                <a:spcPts val="0"/>
              </a:spcAft>
              <a:buClrTx/>
              <a:buSzTx/>
              <a:buFont typeface="Franklin Gothic Book" panose="020B0503020102020204" pitchFamily="34" charset="0"/>
              <a:buNone/>
              <a:tabLst/>
              <a:defRPr/>
            </a:pPr>
            <a:r>
              <a:rPr kumimoji="0" lang="en-US" sz="2000" b="0" i="0" u="none" strike="noStrike" kern="1200" cap="none" spc="0" normalizeH="0" baseline="0" noProof="0" dirty="0">
                <a:ln>
                  <a:noFill/>
                </a:ln>
                <a:solidFill>
                  <a:srgbClr val="FF0000"/>
                </a:solidFill>
                <a:effectLst/>
                <a:uLnTx/>
                <a:uFillTx/>
                <a:latin typeface="Franklin Gothic Book" panose="020B0503020102020204"/>
                <a:ea typeface="+mn-ea"/>
                <a:cs typeface="+mn-cs"/>
              </a:rPr>
              <a:t>inhibited </a:t>
            </a:r>
            <a:r>
              <a:rPr kumimoji="0" lang="en-US" sz="2000" b="0" i="0" u="none" strike="noStrike" kern="1200" cap="none" spc="0" normalizeH="0" baseline="0" noProof="0" dirty="0">
                <a:ln>
                  <a:noFill/>
                </a:ln>
                <a:solidFill>
                  <a:srgbClr val="0E2841"/>
                </a:solidFill>
                <a:effectLst/>
                <a:uLnTx/>
                <a:uFillTx/>
                <a:latin typeface="Franklin Gothic Book" panose="020B0503020102020204"/>
                <a:ea typeface="+mn-ea"/>
                <a:cs typeface="+mn-cs"/>
              </a:rPr>
              <a:t>by mappings to </a:t>
            </a:r>
            <a:r>
              <a:rPr kumimoji="0" lang="en-US" sz="1800" b="0" i="0" u="none" strike="noStrike" kern="1200" cap="none" spc="0" normalizeH="0" baseline="0" noProof="0" dirty="0">
                <a:ln>
                  <a:noFill/>
                </a:ln>
                <a:solidFill>
                  <a:srgbClr val="0E2841"/>
                </a:solidFill>
                <a:effectLst/>
                <a:uLnTx/>
                <a:uFillTx/>
                <a:latin typeface="Franklin Gothic Book" panose="020B0503020102020204"/>
                <a:ea typeface="+mn-ea"/>
                <a:cs typeface="+mn-cs"/>
              </a:rPr>
              <a:t>REJECTION</a:t>
            </a:r>
            <a:r>
              <a:rPr kumimoji="0" lang="en-US" sz="2000" b="0" i="0" u="none" strike="noStrike" kern="1200" cap="none" spc="0" normalizeH="0" baseline="0" noProof="0" dirty="0">
                <a:ln>
                  <a:noFill/>
                </a:ln>
                <a:solidFill>
                  <a:srgbClr val="0E2841"/>
                </a:solidFill>
                <a:effectLst/>
                <a:uLnTx/>
                <a:uFillTx/>
                <a:latin typeface="Franklin Gothic Book" panose="020B0503020102020204"/>
                <a:ea typeface="+mn-ea"/>
                <a:cs typeface="+mn-cs"/>
              </a:rPr>
              <a:t>, </a:t>
            </a:r>
            <a:r>
              <a:rPr kumimoji="0" lang="en-US" sz="1800" b="0" i="0" u="none" strike="noStrike" kern="1200" cap="none" spc="0" normalizeH="0" baseline="0" noProof="0" dirty="0">
                <a:ln>
                  <a:noFill/>
                </a:ln>
                <a:solidFill>
                  <a:srgbClr val="0E2841"/>
                </a:solidFill>
                <a:effectLst/>
                <a:uLnTx/>
                <a:uFillTx/>
                <a:latin typeface="Franklin Gothic Book" panose="020B0503020102020204"/>
                <a:ea typeface="+mn-ea"/>
                <a:cs typeface="+mn-cs"/>
              </a:rPr>
              <a:t>NONEXISTENCE</a:t>
            </a:r>
            <a:r>
              <a:rPr kumimoji="0" lang="en-US" sz="2000" b="0" i="0" u="none" strike="noStrike" kern="1200" cap="none" spc="0" normalizeH="0" baseline="0" noProof="0" dirty="0">
                <a:ln>
                  <a:noFill/>
                </a:ln>
                <a:solidFill>
                  <a:srgbClr val="0E2841"/>
                </a:solidFill>
                <a:effectLst/>
                <a:uLnTx/>
                <a:uFillTx/>
                <a:latin typeface="Franklin Gothic Book" panose="020B0503020102020204"/>
                <a:ea typeface="+mn-ea"/>
                <a:cs typeface="+mn-cs"/>
              </a:rPr>
              <a:t>, and </a:t>
            </a:r>
            <a:r>
              <a:rPr kumimoji="0" lang="en-US" sz="1800" b="0" i="0" u="none" strike="noStrike" kern="1200" cap="none" spc="0" normalizeH="0" baseline="0" noProof="0" dirty="0">
                <a:ln>
                  <a:noFill/>
                </a:ln>
                <a:solidFill>
                  <a:srgbClr val="0E2841"/>
                </a:solidFill>
                <a:effectLst/>
                <a:uLnTx/>
                <a:uFillTx/>
                <a:latin typeface="Franklin Gothic Book" panose="020B0503020102020204"/>
                <a:ea typeface="+mn-ea"/>
                <a:cs typeface="+mn-cs"/>
              </a:rPr>
              <a:t>PROHIBITION</a:t>
            </a:r>
          </a:p>
        </p:txBody>
      </p:sp>
      <p:sp>
        <p:nvSpPr>
          <p:cNvPr id="8" name="TextBox 7">
            <a:extLst>
              <a:ext uri="{FF2B5EF4-FFF2-40B4-BE49-F238E27FC236}">
                <a16:creationId xmlns:a16="http://schemas.microsoft.com/office/drawing/2014/main" id="{D74972DF-0619-397B-E876-BDEAB913DEF5}"/>
              </a:ext>
            </a:extLst>
          </p:cNvPr>
          <p:cNvSpPr txBox="1"/>
          <p:nvPr/>
        </p:nvSpPr>
        <p:spPr>
          <a:xfrm>
            <a:off x="8052097" y="5296903"/>
            <a:ext cx="2326214" cy="369332"/>
          </a:xfrm>
          <a:prstGeom prst="rect">
            <a:avLst/>
          </a:prstGeom>
          <a:noFill/>
        </p:spPr>
        <p:txBody>
          <a:bodyPr wrap="none" rtlCol="0">
            <a:spAutoFit/>
          </a:bodyPr>
          <a:lstStyle/>
          <a:p>
            <a:r>
              <a:rPr lang="en-US" dirty="0">
                <a:solidFill>
                  <a:schemeClr val="accent2">
                    <a:lumMod val="75000"/>
                  </a:schemeClr>
                </a:solidFill>
              </a:rPr>
              <a:t>LANGUAGE LEARNING</a:t>
            </a:r>
          </a:p>
        </p:txBody>
      </p:sp>
      <p:cxnSp>
        <p:nvCxnSpPr>
          <p:cNvPr id="26" name="Straight Arrow Connector 25">
            <a:extLst>
              <a:ext uri="{FF2B5EF4-FFF2-40B4-BE49-F238E27FC236}">
                <a16:creationId xmlns:a16="http://schemas.microsoft.com/office/drawing/2014/main" id="{F9EFF1B7-94EA-BB7C-C10F-5E5FC508C14F}"/>
              </a:ext>
            </a:extLst>
          </p:cNvPr>
          <p:cNvCxnSpPr/>
          <p:nvPr/>
        </p:nvCxnSpPr>
        <p:spPr>
          <a:xfrm>
            <a:off x="3590227" y="3208719"/>
            <a:ext cx="5816049" cy="0"/>
          </a:xfrm>
          <a:prstGeom prst="straightConnector1">
            <a:avLst/>
          </a:prstGeom>
          <a:ln w="38100">
            <a:headEnd type="diamond" w="med" len="med"/>
            <a:tailEnd type="diamond" w="med" len="med"/>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F6418505-A222-E6BC-44E9-0E6B004DD2CC}"/>
              </a:ext>
            </a:extLst>
          </p:cNvPr>
          <p:cNvSpPr txBox="1"/>
          <p:nvPr/>
        </p:nvSpPr>
        <p:spPr>
          <a:xfrm>
            <a:off x="2755320" y="4414327"/>
            <a:ext cx="1765862" cy="6463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Franklin Gothic Book" panose="020B0503020102020204"/>
                <a:ea typeface="+mn-ea"/>
                <a:cs typeface="+mn-cs"/>
              </a:rPr>
              <a:t>This side learns negation faster</a:t>
            </a:r>
          </a:p>
        </p:txBody>
      </p:sp>
      <p:sp>
        <p:nvSpPr>
          <p:cNvPr id="30" name="TextBox 29">
            <a:extLst>
              <a:ext uri="{FF2B5EF4-FFF2-40B4-BE49-F238E27FC236}">
                <a16:creationId xmlns:a16="http://schemas.microsoft.com/office/drawing/2014/main" id="{D7BBB1E3-726C-5ED8-F67A-5F3614E9AE67}"/>
              </a:ext>
            </a:extLst>
          </p:cNvPr>
          <p:cNvSpPr txBox="1"/>
          <p:nvPr/>
        </p:nvSpPr>
        <p:spPr>
          <a:xfrm>
            <a:off x="3299346" y="2409858"/>
            <a:ext cx="922047"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Franklin Gothic Book" panose="020B0503020102020204"/>
                <a:ea typeface="+mn-ea"/>
                <a:cs typeface="+mn-cs"/>
              </a:rPr>
              <a:t>English</a:t>
            </a:r>
          </a:p>
        </p:txBody>
      </p:sp>
      <p:sp>
        <p:nvSpPr>
          <p:cNvPr id="31" name="TextBox 30">
            <a:extLst>
              <a:ext uri="{FF2B5EF4-FFF2-40B4-BE49-F238E27FC236}">
                <a16:creationId xmlns:a16="http://schemas.microsoft.com/office/drawing/2014/main" id="{9982578F-7C30-5A8A-78C3-D30ECEE0E252}"/>
              </a:ext>
            </a:extLst>
          </p:cNvPr>
          <p:cNvSpPr txBox="1"/>
          <p:nvPr/>
        </p:nvSpPr>
        <p:spPr>
          <a:xfrm>
            <a:off x="8735329" y="2409858"/>
            <a:ext cx="959750"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Franklin Gothic Book" panose="020B0503020102020204"/>
                <a:ea typeface="+mn-ea"/>
                <a:cs typeface="+mn-cs"/>
              </a:rPr>
              <a:t>Tagalog</a:t>
            </a:r>
          </a:p>
        </p:txBody>
      </p:sp>
      <p:sp>
        <p:nvSpPr>
          <p:cNvPr id="32" name="Right Arrow 31">
            <a:extLst>
              <a:ext uri="{FF2B5EF4-FFF2-40B4-BE49-F238E27FC236}">
                <a16:creationId xmlns:a16="http://schemas.microsoft.com/office/drawing/2014/main" id="{5BCD0290-E7AE-1C78-73AC-E3D491ED5E64}"/>
              </a:ext>
            </a:extLst>
          </p:cNvPr>
          <p:cNvSpPr/>
          <p:nvPr/>
        </p:nvSpPr>
        <p:spPr>
          <a:xfrm rot="16200000">
            <a:off x="2932352" y="2755459"/>
            <a:ext cx="1385690" cy="3585932"/>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Franklin Gothic Book" panose="020B0503020102020204"/>
              <a:ea typeface="+mn-ea"/>
              <a:cs typeface="+mn-cs"/>
            </a:endParaRPr>
          </a:p>
        </p:txBody>
      </p:sp>
      <p:sp>
        <p:nvSpPr>
          <p:cNvPr id="33" name="TextBox 32">
            <a:extLst>
              <a:ext uri="{FF2B5EF4-FFF2-40B4-BE49-F238E27FC236}">
                <a16:creationId xmlns:a16="http://schemas.microsoft.com/office/drawing/2014/main" id="{01096309-DB1D-D6AD-D07E-3D5E80874A07}"/>
              </a:ext>
            </a:extLst>
          </p:cNvPr>
          <p:cNvSpPr txBox="1"/>
          <p:nvPr/>
        </p:nvSpPr>
        <p:spPr>
          <a:xfrm>
            <a:off x="2771329" y="4228295"/>
            <a:ext cx="1765862" cy="92333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Franklin Gothic Book" panose="020B0503020102020204"/>
                <a:ea typeface="+mn-ea"/>
                <a:cs typeface="+mn-cs"/>
              </a:rPr>
              <a:t>This side learns denial negation language earlier</a:t>
            </a:r>
          </a:p>
        </p:txBody>
      </p:sp>
      <p:sp>
        <p:nvSpPr>
          <p:cNvPr id="34" name="TextBox 33">
            <a:extLst>
              <a:ext uri="{FF2B5EF4-FFF2-40B4-BE49-F238E27FC236}">
                <a16:creationId xmlns:a16="http://schemas.microsoft.com/office/drawing/2014/main" id="{3B9E6948-25B5-024A-FDAE-2ACC0717A5EE}"/>
              </a:ext>
            </a:extLst>
          </p:cNvPr>
          <p:cNvSpPr txBox="1"/>
          <p:nvPr/>
        </p:nvSpPr>
        <p:spPr>
          <a:xfrm>
            <a:off x="2060831" y="2912999"/>
            <a:ext cx="1588392" cy="92333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more shared negation  meanings</a:t>
            </a:r>
          </a:p>
        </p:txBody>
      </p:sp>
      <p:sp>
        <p:nvSpPr>
          <p:cNvPr id="35" name="TextBox 34">
            <a:extLst>
              <a:ext uri="{FF2B5EF4-FFF2-40B4-BE49-F238E27FC236}">
                <a16:creationId xmlns:a16="http://schemas.microsoft.com/office/drawing/2014/main" id="{0575B9CC-DA93-FE40-2CF2-5284EA1DA464}"/>
              </a:ext>
            </a:extLst>
          </p:cNvPr>
          <p:cNvSpPr txBox="1"/>
          <p:nvPr/>
        </p:nvSpPr>
        <p:spPr>
          <a:xfrm>
            <a:off x="9444717" y="2908415"/>
            <a:ext cx="1588392" cy="92333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fewer shared negation  meanings</a:t>
            </a:r>
          </a:p>
        </p:txBody>
      </p:sp>
      <p:pic>
        <p:nvPicPr>
          <p:cNvPr id="36" name="Picture 35">
            <a:extLst>
              <a:ext uri="{FF2B5EF4-FFF2-40B4-BE49-F238E27FC236}">
                <a16:creationId xmlns:a16="http://schemas.microsoft.com/office/drawing/2014/main" id="{28D4FB65-E858-B7CD-838B-6A9BA7C85A39}"/>
              </a:ext>
            </a:extLst>
          </p:cNvPr>
          <p:cNvPicPr>
            <a:picLocks noChangeAspect="1"/>
          </p:cNvPicPr>
          <p:nvPr/>
        </p:nvPicPr>
        <p:blipFill rotWithShape="1">
          <a:blip r:embed="rId3"/>
          <a:srcRect t="351" b="351"/>
          <a:stretch/>
        </p:blipFill>
        <p:spPr>
          <a:xfrm>
            <a:off x="1582929" y="625138"/>
            <a:ext cx="8112150" cy="2315718"/>
          </a:xfrm>
          <a:prstGeom prst="rect">
            <a:avLst/>
          </a:prstGeom>
        </p:spPr>
      </p:pic>
      <p:sp>
        <p:nvSpPr>
          <p:cNvPr id="37" name="Rectangle 36">
            <a:extLst>
              <a:ext uri="{FF2B5EF4-FFF2-40B4-BE49-F238E27FC236}">
                <a16:creationId xmlns:a16="http://schemas.microsoft.com/office/drawing/2014/main" id="{2A69E6E3-6F11-AF47-8625-6A9F87A18B0A}"/>
              </a:ext>
            </a:extLst>
          </p:cNvPr>
          <p:cNvSpPr/>
          <p:nvPr/>
        </p:nvSpPr>
        <p:spPr>
          <a:xfrm>
            <a:off x="3760369" y="1470065"/>
            <a:ext cx="1065631" cy="13179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sp>
        <p:nvSpPr>
          <p:cNvPr id="38" name="Rectangle 37">
            <a:extLst>
              <a:ext uri="{FF2B5EF4-FFF2-40B4-BE49-F238E27FC236}">
                <a16:creationId xmlns:a16="http://schemas.microsoft.com/office/drawing/2014/main" id="{A8F0B647-1226-DE1D-0DE7-F0E4CF89808C}"/>
              </a:ext>
            </a:extLst>
          </p:cNvPr>
          <p:cNvSpPr/>
          <p:nvPr/>
        </p:nvSpPr>
        <p:spPr>
          <a:xfrm>
            <a:off x="6359202" y="1444665"/>
            <a:ext cx="1268503" cy="139459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sp>
        <p:nvSpPr>
          <p:cNvPr id="39" name="Rectangle 38">
            <a:extLst>
              <a:ext uri="{FF2B5EF4-FFF2-40B4-BE49-F238E27FC236}">
                <a16:creationId xmlns:a16="http://schemas.microsoft.com/office/drawing/2014/main" id="{79C348D0-3CBD-A698-46FA-9F219B41CF12}"/>
              </a:ext>
            </a:extLst>
          </p:cNvPr>
          <p:cNvSpPr/>
          <p:nvPr/>
        </p:nvSpPr>
        <p:spPr>
          <a:xfrm>
            <a:off x="7687708" y="1457131"/>
            <a:ext cx="908362" cy="139459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sp>
        <p:nvSpPr>
          <p:cNvPr id="40" name="Rectangle 39">
            <a:extLst>
              <a:ext uri="{FF2B5EF4-FFF2-40B4-BE49-F238E27FC236}">
                <a16:creationId xmlns:a16="http://schemas.microsoft.com/office/drawing/2014/main" id="{A0BE1647-76C7-F542-F652-E31C3E898E25}"/>
              </a:ext>
            </a:extLst>
          </p:cNvPr>
          <p:cNvSpPr/>
          <p:nvPr/>
        </p:nvSpPr>
        <p:spPr>
          <a:xfrm>
            <a:off x="3759012" y="1089711"/>
            <a:ext cx="1065631" cy="289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sp>
        <p:nvSpPr>
          <p:cNvPr id="41" name="Rectangle 40">
            <a:extLst>
              <a:ext uri="{FF2B5EF4-FFF2-40B4-BE49-F238E27FC236}">
                <a16:creationId xmlns:a16="http://schemas.microsoft.com/office/drawing/2014/main" id="{56F5A4A6-7A13-52B1-F617-815AD56CFEC8}"/>
              </a:ext>
            </a:extLst>
          </p:cNvPr>
          <p:cNvSpPr/>
          <p:nvPr/>
        </p:nvSpPr>
        <p:spPr>
          <a:xfrm>
            <a:off x="6467910" y="1089711"/>
            <a:ext cx="1065631" cy="289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sp>
        <p:nvSpPr>
          <p:cNvPr id="42" name="Rectangle 41">
            <a:extLst>
              <a:ext uri="{FF2B5EF4-FFF2-40B4-BE49-F238E27FC236}">
                <a16:creationId xmlns:a16="http://schemas.microsoft.com/office/drawing/2014/main" id="{1F0F3FF9-4544-0945-5F83-5D6C5BB80256}"/>
              </a:ext>
            </a:extLst>
          </p:cNvPr>
          <p:cNvSpPr/>
          <p:nvPr/>
        </p:nvSpPr>
        <p:spPr>
          <a:xfrm>
            <a:off x="7725808" y="1097673"/>
            <a:ext cx="870261" cy="28142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sp>
        <p:nvSpPr>
          <p:cNvPr id="43" name="Content Placeholder 4">
            <a:extLst>
              <a:ext uri="{FF2B5EF4-FFF2-40B4-BE49-F238E27FC236}">
                <a16:creationId xmlns:a16="http://schemas.microsoft.com/office/drawing/2014/main" id="{9B4A3F3C-CC6E-B8E4-CD84-F35671C165EB}"/>
              </a:ext>
            </a:extLst>
          </p:cNvPr>
          <p:cNvSpPr txBox="1">
            <a:spLocks/>
          </p:cNvSpPr>
          <p:nvPr/>
        </p:nvSpPr>
        <p:spPr>
          <a:xfrm>
            <a:off x="1122774" y="5666236"/>
            <a:ext cx="5052898" cy="923330"/>
          </a:xfrm>
          <a:prstGeom prst="rect">
            <a:avLst/>
          </a:prstGeom>
          <a:solidFill>
            <a:schemeClr val="accent1">
              <a:lumMod val="20000"/>
              <a:lumOff val="80000"/>
            </a:schemeClr>
          </a:solidFill>
        </p:spPr>
        <p:txBody>
          <a:bodyPr vert="horz" lIns="91440" tIns="45720" rIns="91440" bIns="45720" rtlCol="0" anchor="ctr">
            <a:normAutofit lnSpcReduction="10000"/>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marL="0" indent="0" algn="ctr">
              <a:spcBef>
                <a:spcPts val="0"/>
              </a:spcBef>
              <a:spcAft>
                <a:spcPts val="0"/>
              </a:spcAft>
              <a:buFont typeface="Franklin Gothic Book" panose="020B0503020102020204" pitchFamily="34" charset="0"/>
              <a:buNone/>
            </a:pPr>
            <a:r>
              <a:rPr lang="en-US" dirty="0"/>
              <a:t>Learning the </a:t>
            </a:r>
            <a:r>
              <a:rPr lang="en-US" b="1" dirty="0"/>
              <a:t>concept</a:t>
            </a:r>
            <a:r>
              <a:rPr lang="en-US" dirty="0"/>
              <a:t> </a:t>
            </a:r>
            <a:r>
              <a:rPr lang="en-US" sz="1800" dirty="0"/>
              <a:t>NEGATION</a:t>
            </a:r>
            <a:r>
              <a:rPr lang="en-US" dirty="0"/>
              <a:t> is </a:t>
            </a:r>
          </a:p>
          <a:p>
            <a:pPr marL="0" indent="0" algn="ctr">
              <a:spcBef>
                <a:spcPts val="0"/>
              </a:spcBef>
              <a:spcAft>
                <a:spcPts val="0"/>
              </a:spcAft>
              <a:buFont typeface="Franklin Gothic Book" panose="020B0503020102020204" pitchFamily="34" charset="0"/>
              <a:buNone/>
            </a:pPr>
            <a:r>
              <a:rPr lang="en-US" dirty="0">
                <a:solidFill>
                  <a:schemeClr val="accent6"/>
                </a:solidFill>
              </a:rPr>
              <a:t>scaffolded </a:t>
            </a:r>
            <a:r>
              <a:rPr lang="en-US" dirty="0">
                <a:solidFill>
                  <a:schemeClr val="tx1"/>
                </a:solidFill>
              </a:rPr>
              <a:t>by</a:t>
            </a:r>
            <a:r>
              <a:rPr lang="en-US" dirty="0">
                <a:solidFill>
                  <a:schemeClr val="accent6"/>
                </a:solidFill>
              </a:rPr>
              <a:t> </a:t>
            </a:r>
            <a:r>
              <a:rPr lang="en-US" dirty="0">
                <a:solidFill>
                  <a:schemeClr val="tx1"/>
                </a:solidFill>
              </a:rPr>
              <a:t>mappings to </a:t>
            </a:r>
            <a:r>
              <a:rPr lang="en-US" sz="1800" dirty="0"/>
              <a:t>REJECTION</a:t>
            </a:r>
            <a:r>
              <a:rPr lang="en-US" dirty="0"/>
              <a:t>, </a:t>
            </a:r>
            <a:r>
              <a:rPr lang="en-US" sz="1800" dirty="0"/>
              <a:t>NONEXISTENCE</a:t>
            </a:r>
            <a:r>
              <a:rPr lang="en-US" dirty="0"/>
              <a:t>, and </a:t>
            </a:r>
            <a:r>
              <a:rPr lang="en-US" sz="1800" dirty="0"/>
              <a:t>PROHIBITION</a:t>
            </a:r>
            <a:endParaRPr lang="en-US" dirty="0"/>
          </a:p>
        </p:txBody>
      </p:sp>
      <p:sp>
        <p:nvSpPr>
          <p:cNvPr id="44" name="TextBox 43">
            <a:extLst>
              <a:ext uri="{FF2B5EF4-FFF2-40B4-BE49-F238E27FC236}">
                <a16:creationId xmlns:a16="http://schemas.microsoft.com/office/drawing/2014/main" id="{DF53CFAB-098F-A9CB-EBD2-24BA149B9611}"/>
              </a:ext>
            </a:extLst>
          </p:cNvPr>
          <p:cNvSpPr txBox="1"/>
          <p:nvPr/>
        </p:nvSpPr>
        <p:spPr>
          <a:xfrm>
            <a:off x="2553410" y="5296903"/>
            <a:ext cx="2191626" cy="369332"/>
          </a:xfrm>
          <a:prstGeom prst="rect">
            <a:avLst/>
          </a:prstGeom>
          <a:noFill/>
        </p:spPr>
        <p:txBody>
          <a:bodyPr wrap="none" rtlCol="0">
            <a:spAutoFit/>
          </a:bodyPr>
          <a:lstStyle/>
          <a:p>
            <a:r>
              <a:rPr lang="en-US" dirty="0">
                <a:solidFill>
                  <a:srgbClr val="3799C8"/>
                </a:solidFill>
              </a:rPr>
              <a:t>CONCEPT LEARNING</a:t>
            </a:r>
          </a:p>
        </p:txBody>
      </p:sp>
      <p:sp>
        <p:nvSpPr>
          <p:cNvPr id="5" name="Title 4">
            <a:extLst>
              <a:ext uri="{FF2B5EF4-FFF2-40B4-BE49-F238E27FC236}">
                <a16:creationId xmlns:a16="http://schemas.microsoft.com/office/drawing/2014/main" id="{ECF96A69-727D-AC06-8231-75350BF63F02}"/>
              </a:ext>
            </a:extLst>
          </p:cNvPr>
          <p:cNvSpPr>
            <a:spLocks noGrp="1"/>
          </p:cNvSpPr>
          <p:nvPr>
            <p:ph type="title"/>
          </p:nvPr>
        </p:nvSpPr>
        <p:spPr/>
        <p:txBody>
          <a:bodyPr/>
          <a:lstStyle/>
          <a:p>
            <a:endParaRPr lang="en-US" dirty="0"/>
          </a:p>
        </p:txBody>
      </p:sp>
    </p:spTree>
    <p:extLst>
      <p:ext uri="{BB962C8B-B14F-4D97-AF65-F5344CB8AC3E}">
        <p14:creationId xmlns:p14="http://schemas.microsoft.com/office/powerpoint/2010/main" val="2315317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p:bldP spid="15" grpId="0" animBg="1"/>
      <p:bldP spid="8" grpId="0"/>
    </p:bldLst>
  </p:timing>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B237877-D3F9-5ECE-0D66-7E51243EDADD}"/>
            </a:ext>
          </a:extLst>
        </p:cNvPr>
        <p:cNvGrpSpPr/>
        <p:nvPr/>
      </p:nvGrpSpPr>
      <p:grpSpPr>
        <a:xfrm>
          <a:off x="0" y="0"/>
          <a:ext cx="0" cy="0"/>
          <a:chOff x="0" y="0"/>
          <a:chExt cx="0" cy="0"/>
        </a:xfrm>
      </p:grpSpPr>
      <p:sp>
        <p:nvSpPr>
          <p:cNvPr id="10" name="Right Arrow 9">
            <a:extLst>
              <a:ext uri="{FF2B5EF4-FFF2-40B4-BE49-F238E27FC236}">
                <a16:creationId xmlns:a16="http://schemas.microsoft.com/office/drawing/2014/main" id="{64AB9ED4-104F-7057-D82B-DD3F1D7ABC65}"/>
              </a:ext>
            </a:extLst>
          </p:cNvPr>
          <p:cNvSpPr/>
          <p:nvPr/>
        </p:nvSpPr>
        <p:spPr>
          <a:xfrm rot="16200000">
            <a:off x="8581581" y="2755459"/>
            <a:ext cx="1385690" cy="3585932"/>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Franklin Gothic Book" panose="020B0503020102020204"/>
              <a:ea typeface="+mn-ea"/>
              <a:cs typeface="+mn-cs"/>
            </a:endParaRPr>
          </a:p>
        </p:txBody>
      </p:sp>
      <p:sp>
        <p:nvSpPr>
          <p:cNvPr id="14" name="TextBox 13">
            <a:extLst>
              <a:ext uri="{FF2B5EF4-FFF2-40B4-BE49-F238E27FC236}">
                <a16:creationId xmlns:a16="http://schemas.microsoft.com/office/drawing/2014/main" id="{B70FA205-336E-E5F9-A817-D9A51A17C0CC}"/>
              </a:ext>
            </a:extLst>
          </p:cNvPr>
          <p:cNvSpPr txBox="1"/>
          <p:nvPr/>
        </p:nvSpPr>
        <p:spPr>
          <a:xfrm>
            <a:off x="8391495" y="4254698"/>
            <a:ext cx="1765862" cy="92333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Franklin Gothic Book" panose="020B0503020102020204"/>
                <a:ea typeface="+mn-ea"/>
                <a:cs typeface="+mn-cs"/>
              </a:rPr>
              <a:t>This side learns denial negation language earlier</a:t>
            </a:r>
          </a:p>
        </p:txBody>
      </p:sp>
      <p:sp>
        <p:nvSpPr>
          <p:cNvPr id="15" name="Content Placeholder 4">
            <a:extLst>
              <a:ext uri="{FF2B5EF4-FFF2-40B4-BE49-F238E27FC236}">
                <a16:creationId xmlns:a16="http://schemas.microsoft.com/office/drawing/2014/main" id="{E3B4BC98-480E-3DBB-345B-947FBADA7745}"/>
              </a:ext>
            </a:extLst>
          </p:cNvPr>
          <p:cNvSpPr txBox="1">
            <a:spLocks/>
          </p:cNvSpPr>
          <p:nvPr/>
        </p:nvSpPr>
        <p:spPr>
          <a:xfrm>
            <a:off x="7322106" y="5613985"/>
            <a:ext cx="3904639" cy="646330"/>
          </a:xfrm>
          <a:prstGeom prst="rect">
            <a:avLst/>
          </a:prstGeom>
          <a:solidFill>
            <a:schemeClr val="accent2">
              <a:lumMod val="20000"/>
              <a:lumOff val="80000"/>
            </a:schemeClr>
          </a:solidFill>
        </p:spPr>
        <p:txBody>
          <a:bodyPr vert="horz" lIns="91440" tIns="45720" rIns="91440" bIns="45720" rtlCol="0" anchor="ctr">
            <a:norm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marL="0" marR="0" lvl="0" indent="0" algn="ctr" defTabSz="914400" rtl="0" eaLnBrk="1" fontAlgn="auto" latinLnBrk="0" hangingPunct="1">
              <a:lnSpc>
                <a:spcPct val="94000"/>
              </a:lnSpc>
              <a:spcBef>
                <a:spcPts val="0"/>
              </a:spcBef>
              <a:spcAft>
                <a:spcPts val="0"/>
              </a:spcAft>
              <a:buClrTx/>
              <a:buSzTx/>
              <a:buFont typeface="Franklin Gothic Book" panose="020B0503020102020204" pitchFamily="34" charset="0"/>
              <a:buNone/>
              <a:tabLst/>
              <a:defRPr/>
            </a:pPr>
            <a:r>
              <a:rPr kumimoji="0" lang="en-US" sz="1800" b="0" i="0" u="none" strike="noStrike" kern="1200" cap="none" spc="0" normalizeH="0" baseline="0" noProof="0" dirty="0">
                <a:ln>
                  <a:noFill/>
                </a:ln>
                <a:solidFill>
                  <a:srgbClr val="0E2841"/>
                </a:solidFill>
                <a:effectLst/>
                <a:uLnTx/>
                <a:uFillTx/>
                <a:latin typeface="Franklin Gothic Book" panose="020B0503020102020204"/>
                <a:ea typeface="+mn-ea"/>
                <a:cs typeface="+mn-cs"/>
              </a:rPr>
              <a:t>        </a:t>
            </a:r>
          </a:p>
        </p:txBody>
      </p:sp>
      <p:sp>
        <p:nvSpPr>
          <p:cNvPr id="8" name="TextBox 7">
            <a:extLst>
              <a:ext uri="{FF2B5EF4-FFF2-40B4-BE49-F238E27FC236}">
                <a16:creationId xmlns:a16="http://schemas.microsoft.com/office/drawing/2014/main" id="{69499B02-EC4B-4296-6D5C-25CC1F71B5A7}"/>
              </a:ext>
            </a:extLst>
          </p:cNvPr>
          <p:cNvSpPr txBox="1"/>
          <p:nvPr/>
        </p:nvSpPr>
        <p:spPr>
          <a:xfrm>
            <a:off x="7856410" y="5752484"/>
            <a:ext cx="2912913" cy="369332"/>
          </a:xfrm>
          <a:prstGeom prst="rect">
            <a:avLst/>
          </a:prstGeom>
          <a:noFill/>
        </p:spPr>
        <p:txBody>
          <a:bodyPr wrap="none" rtlCol="0">
            <a:spAutoFit/>
          </a:bodyPr>
          <a:lstStyle/>
          <a:p>
            <a:r>
              <a:rPr lang="en-US" dirty="0">
                <a:solidFill>
                  <a:schemeClr val="accent2">
                    <a:lumMod val="75000"/>
                  </a:schemeClr>
                </a:solidFill>
              </a:rPr>
              <a:t>LANGUAGE LEARNING LIMIT</a:t>
            </a:r>
          </a:p>
        </p:txBody>
      </p:sp>
      <p:cxnSp>
        <p:nvCxnSpPr>
          <p:cNvPr id="26" name="Straight Arrow Connector 25">
            <a:extLst>
              <a:ext uri="{FF2B5EF4-FFF2-40B4-BE49-F238E27FC236}">
                <a16:creationId xmlns:a16="http://schemas.microsoft.com/office/drawing/2014/main" id="{17D6805C-3D3A-8881-B1AD-FB8D96152BC4}"/>
              </a:ext>
            </a:extLst>
          </p:cNvPr>
          <p:cNvCxnSpPr/>
          <p:nvPr/>
        </p:nvCxnSpPr>
        <p:spPr>
          <a:xfrm>
            <a:off x="3590227" y="3208719"/>
            <a:ext cx="5816049" cy="0"/>
          </a:xfrm>
          <a:prstGeom prst="straightConnector1">
            <a:avLst/>
          </a:prstGeom>
          <a:ln w="38100">
            <a:headEnd type="diamond" w="med" len="med"/>
            <a:tailEnd type="diamond" w="med" len="med"/>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3AC8CD86-6744-85F4-F7E0-4DE82BAC0CDB}"/>
              </a:ext>
            </a:extLst>
          </p:cNvPr>
          <p:cNvSpPr txBox="1"/>
          <p:nvPr/>
        </p:nvSpPr>
        <p:spPr>
          <a:xfrm>
            <a:off x="2755320" y="4414327"/>
            <a:ext cx="1765862" cy="6463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Franklin Gothic Book" panose="020B0503020102020204"/>
                <a:ea typeface="+mn-ea"/>
                <a:cs typeface="+mn-cs"/>
              </a:rPr>
              <a:t>This side learns negation faster</a:t>
            </a:r>
          </a:p>
        </p:txBody>
      </p:sp>
      <p:sp>
        <p:nvSpPr>
          <p:cNvPr id="30" name="TextBox 29">
            <a:extLst>
              <a:ext uri="{FF2B5EF4-FFF2-40B4-BE49-F238E27FC236}">
                <a16:creationId xmlns:a16="http://schemas.microsoft.com/office/drawing/2014/main" id="{5122EEC9-5CC9-FCB0-0B88-1E07AAE382AD}"/>
              </a:ext>
            </a:extLst>
          </p:cNvPr>
          <p:cNvSpPr txBox="1"/>
          <p:nvPr/>
        </p:nvSpPr>
        <p:spPr>
          <a:xfrm>
            <a:off x="3299346" y="2409858"/>
            <a:ext cx="922047"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Franklin Gothic Book" panose="020B0503020102020204"/>
                <a:ea typeface="+mn-ea"/>
                <a:cs typeface="+mn-cs"/>
              </a:rPr>
              <a:t>English</a:t>
            </a:r>
          </a:p>
        </p:txBody>
      </p:sp>
      <p:sp>
        <p:nvSpPr>
          <p:cNvPr id="31" name="TextBox 30">
            <a:extLst>
              <a:ext uri="{FF2B5EF4-FFF2-40B4-BE49-F238E27FC236}">
                <a16:creationId xmlns:a16="http://schemas.microsoft.com/office/drawing/2014/main" id="{3EA8649A-99ED-79A7-5E51-997E06B861AF}"/>
              </a:ext>
            </a:extLst>
          </p:cNvPr>
          <p:cNvSpPr txBox="1"/>
          <p:nvPr/>
        </p:nvSpPr>
        <p:spPr>
          <a:xfrm>
            <a:off x="8735329" y="2409858"/>
            <a:ext cx="959750"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Franklin Gothic Book" panose="020B0503020102020204"/>
                <a:ea typeface="+mn-ea"/>
                <a:cs typeface="+mn-cs"/>
              </a:rPr>
              <a:t>Tagalog</a:t>
            </a:r>
          </a:p>
        </p:txBody>
      </p:sp>
      <p:sp>
        <p:nvSpPr>
          <p:cNvPr id="32" name="Right Arrow 31">
            <a:extLst>
              <a:ext uri="{FF2B5EF4-FFF2-40B4-BE49-F238E27FC236}">
                <a16:creationId xmlns:a16="http://schemas.microsoft.com/office/drawing/2014/main" id="{6291B90A-44CA-A45F-350B-74A074196C5C}"/>
              </a:ext>
            </a:extLst>
          </p:cNvPr>
          <p:cNvSpPr/>
          <p:nvPr/>
        </p:nvSpPr>
        <p:spPr>
          <a:xfrm rot="16200000">
            <a:off x="2897382" y="2755459"/>
            <a:ext cx="1385690" cy="3585932"/>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Franklin Gothic Book" panose="020B0503020102020204"/>
              <a:ea typeface="+mn-ea"/>
              <a:cs typeface="+mn-cs"/>
            </a:endParaRPr>
          </a:p>
        </p:txBody>
      </p:sp>
      <p:sp>
        <p:nvSpPr>
          <p:cNvPr id="33" name="TextBox 32">
            <a:extLst>
              <a:ext uri="{FF2B5EF4-FFF2-40B4-BE49-F238E27FC236}">
                <a16:creationId xmlns:a16="http://schemas.microsoft.com/office/drawing/2014/main" id="{51C4002D-4547-55E9-3CB9-F386F218513B}"/>
              </a:ext>
            </a:extLst>
          </p:cNvPr>
          <p:cNvSpPr txBox="1"/>
          <p:nvPr/>
        </p:nvSpPr>
        <p:spPr>
          <a:xfrm>
            <a:off x="2771329" y="4228295"/>
            <a:ext cx="1765862" cy="92333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Franklin Gothic Book" panose="020B0503020102020204"/>
                <a:ea typeface="+mn-ea"/>
                <a:cs typeface="+mn-cs"/>
              </a:rPr>
              <a:t>This side learns denial negation language earlier</a:t>
            </a:r>
          </a:p>
        </p:txBody>
      </p:sp>
      <p:sp>
        <p:nvSpPr>
          <p:cNvPr id="34" name="TextBox 33">
            <a:extLst>
              <a:ext uri="{FF2B5EF4-FFF2-40B4-BE49-F238E27FC236}">
                <a16:creationId xmlns:a16="http://schemas.microsoft.com/office/drawing/2014/main" id="{1329AF59-6A66-6A60-869A-9908D78BA03B}"/>
              </a:ext>
            </a:extLst>
          </p:cNvPr>
          <p:cNvSpPr txBox="1"/>
          <p:nvPr/>
        </p:nvSpPr>
        <p:spPr>
          <a:xfrm>
            <a:off x="2060831" y="2912999"/>
            <a:ext cx="1588392" cy="92333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more shared negation  meanings</a:t>
            </a:r>
          </a:p>
        </p:txBody>
      </p:sp>
      <p:sp>
        <p:nvSpPr>
          <p:cNvPr id="35" name="TextBox 34">
            <a:extLst>
              <a:ext uri="{FF2B5EF4-FFF2-40B4-BE49-F238E27FC236}">
                <a16:creationId xmlns:a16="http://schemas.microsoft.com/office/drawing/2014/main" id="{3F965772-61FD-B8B3-54FD-C703B04D2DA8}"/>
              </a:ext>
            </a:extLst>
          </p:cNvPr>
          <p:cNvSpPr txBox="1"/>
          <p:nvPr/>
        </p:nvSpPr>
        <p:spPr>
          <a:xfrm>
            <a:off x="9444717" y="2908415"/>
            <a:ext cx="1588392" cy="92333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fewer shared negation  meanings</a:t>
            </a:r>
          </a:p>
        </p:txBody>
      </p:sp>
      <p:pic>
        <p:nvPicPr>
          <p:cNvPr id="36" name="Picture 35">
            <a:extLst>
              <a:ext uri="{FF2B5EF4-FFF2-40B4-BE49-F238E27FC236}">
                <a16:creationId xmlns:a16="http://schemas.microsoft.com/office/drawing/2014/main" id="{3B00BC46-E5C4-06DB-C474-350256C65022}"/>
              </a:ext>
            </a:extLst>
          </p:cNvPr>
          <p:cNvPicPr>
            <a:picLocks noChangeAspect="1"/>
          </p:cNvPicPr>
          <p:nvPr/>
        </p:nvPicPr>
        <p:blipFill rotWithShape="1">
          <a:blip r:embed="rId3"/>
          <a:srcRect t="351" b="351"/>
          <a:stretch/>
        </p:blipFill>
        <p:spPr>
          <a:xfrm>
            <a:off x="1582929" y="625138"/>
            <a:ext cx="8112150" cy="2315718"/>
          </a:xfrm>
          <a:prstGeom prst="rect">
            <a:avLst/>
          </a:prstGeom>
        </p:spPr>
      </p:pic>
      <p:sp>
        <p:nvSpPr>
          <p:cNvPr id="37" name="Rectangle 36">
            <a:extLst>
              <a:ext uri="{FF2B5EF4-FFF2-40B4-BE49-F238E27FC236}">
                <a16:creationId xmlns:a16="http://schemas.microsoft.com/office/drawing/2014/main" id="{54E3D0F5-789F-E9A1-2820-D955578D492E}"/>
              </a:ext>
            </a:extLst>
          </p:cNvPr>
          <p:cNvSpPr/>
          <p:nvPr/>
        </p:nvSpPr>
        <p:spPr>
          <a:xfrm>
            <a:off x="3760369" y="1470065"/>
            <a:ext cx="1065631" cy="13179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sp>
        <p:nvSpPr>
          <p:cNvPr id="38" name="Rectangle 37">
            <a:extLst>
              <a:ext uri="{FF2B5EF4-FFF2-40B4-BE49-F238E27FC236}">
                <a16:creationId xmlns:a16="http://schemas.microsoft.com/office/drawing/2014/main" id="{0DCA582B-06F9-A77E-D58B-0BB53A3386F7}"/>
              </a:ext>
            </a:extLst>
          </p:cNvPr>
          <p:cNvSpPr/>
          <p:nvPr/>
        </p:nvSpPr>
        <p:spPr>
          <a:xfrm>
            <a:off x="6359202" y="1444665"/>
            <a:ext cx="1268503" cy="139459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sp>
        <p:nvSpPr>
          <p:cNvPr id="39" name="Rectangle 38">
            <a:extLst>
              <a:ext uri="{FF2B5EF4-FFF2-40B4-BE49-F238E27FC236}">
                <a16:creationId xmlns:a16="http://schemas.microsoft.com/office/drawing/2014/main" id="{5A344E11-F130-C097-413C-F0BFF515D0FA}"/>
              </a:ext>
            </a:extLst>
          </p:cNvPr>
          <p:cNvSpPr/>
          <p:nvPr/>
        </p:nvSpPr>
        <p:spPr>
          <a:xfrm>
            <a:off x="7687708" y="1457131"/>
            <a:ext cx="908362" cy="139459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sp>
        <p:nvSpPr>
          <p:cNvPr id="40" name="Rectangle 39">
            <a:extLst>
              <a:ext uri="{FF2B5EF4-FFF2-40B4-BE49-F238E27FC236}">
                <a16:creationId xmlns:a16="http://schemas.microsoft.com/office/drawing/2014/main" id="{115FF2C4-857C-568F-DF50-FAD26C1750B5}"/>
              </a:ext>
            </a:extLst>
          </p:cNvPr>
          <p:cNvSpPr/>
          <p:nvPr/>
        </p:nvSpPr>
        <p:spPr>
          <a:xfrm>
            <a:off x="3759012" y="1089711"/>
            <a:ext cx="1065631" cy="289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sp>
        <p:nvSpPr>
          <p:cNvPr id="41" name="Rectangle 40">
            <a:extLst>
              <a:ext uri="{FF2B5EF4-FFF2-40B4-BE49-F238E27FC236}">
                <a16:creationId xmlns:a16="http://schemas.microsoft.com/office/drawing/2014/main" id="{F999DBF0-4406-A826-820C-9CF0787C1B8F}"/>
              </a:ext>
            </a:extLst>
          </p:cNvPr>
          <p:cNvSpPr/>
          <p:nvPr/>
        </p:nvSpPr>
        <p:spPr>
          <a:xfrm>
            <a:off x="6467910" y="1089711"/>
            <a:ext cx="1065631" cy="289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sp>
        <p:nvSpPr>
          <p:cNvPr id="42" name="Rectangle 41">
            <a:extLst>
              <a:ext uri="{FF2B5EF4-FFF2-40B4-BE49-F238E27FC236}">
                <a16:creationId xmlns:a16="http://schemas.microsoft.com/office/drawing/2014/main" id="{B23EDAA5-7C69-3E2B-9E8C-BBCB8A6569C0}"/>
              </a:ext>
            </a:extLst>
          </p:cNvPr>
          <p:cNvSpPr/>
          <p:nvPr/>
        </p:nvSpPr>
        <p:spPr>
          <a:xfrm>
            <a:off x="7725808" y="1097673"/>
            <a:ext cx="870261" cy="28142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sp>
        <p:nvSpPr>
          <p:cNvPr id="43" name="Content Placeholder 4">
            <a:extLst>
              <a:ext uri="{FF2B5EF4-FFF2-40B4-BE49-F238E27FC236}">
                <a16:creationId xmlns:a16="http://schemas.microsoft.com/office/drawing/2014/main" id="{43467297-F2C5-2575-EF34-C18EBF0F2BD1}"/>
              </a:ext>
            </a:extLst>
          </p:cNvPr>
          <p:cNvSpPr txBox="1">
            <a:spLocks/>
          </p:cNvSpPr>
          <p:nvPr/>
        </p:nvSpPr>
        <p:spPr>
          <a:xfrm>
            <a:off x="1637907" y="5613985"/>
            <a:ext cx="3904639" cy="646330"/>
          </a:xfrm>
          <a:prstGeom prst="rect">
            <a:avLst/>
          </a:prstGeom>
          <a:solidFill>
            <a:schemeClr val="accent1">
              <a:lumMod val="20000"/>
              <a:lumOff val="80000"/>
            </a:schemeClr>
          </a:solidFill>
        </p:spPr>
        <p:txBody>
          <a:bodyPr vert="horz" lIns="91440" tIns="45720" rIns="91440" bIns="45720" rtlCol="0" anchor="ctr">
            <a:norm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marL="0" indent="0" algn="ctr">
              <a:spcBef>
                <a:spcPts val="0"/>
              </a:spcBef>
              <a:spcAft>
                <a:spcPts val="0"/>
              </a:spcAft>
              <a:buFont typeface="Franklin Gothic Book" panose="020B0503020102020204" pitchFamily="34" charset="0"/>
              <a:buNone/>
            </a:pPr>
            <a:endParaRPr lang="en-US" dirty="0"/>
          </a:p>
        </p:txBody>
      </p:sp>
      <p:sp>
        <p:nvSpPr>
          <p:cNvPr id="44" name="TextBox 43">
            <a:extLst>
              <a:ext uri="{FF2B5EF4-FFF2-40B4-BE49-F238E27FC236}">
                <a16:creationId xmlns:a16="http://schemas.microsoft.com/office/drawing/2014/main" id="{F2139726-5451-018D-897D-8DC4E755ABF2}"/>
              </a:ext>
            </a:extLst>
          </p:cNvPr>
          <p:cNvSpPr txBox="1"/>
          <p:nvPr/>
        </p:nvSpPr>
        <p:spPr>
          <a:xfrm>
            <a:off x="2214118" y="5752484"/>
            <a:ext cx="2778325" cy="369332"/>
          </a:xfrm>
          <a:prstGeom prst="rect">
            <a:avLst/>
          </a:prstGeom>
          <a:noFill/>
        </p:spPr>
        <p:txBody>
          <a:bodyPr wrap="none" rtlCol="0">
            <a:spAutoFit/>
          </a:bodyPr>
          <a:lstStyle/>
          <a:p>
            <a:r>
              <a:rPr lang="en-US" dirty="0">
                <a:solidFill>
                  <a:srgbClr val="3799C8"/>
                </a:solidFill>
              </a:rPr>
              <a:t>CONCEPT LEARNING LIMIT</a:t>
            </a:r>
          </a:p>
        </p:txBody>
      </p:sp>
      <p:sp>
        <p:nvSpPr>
          <p:cNvPr id="45" name="Rectangle 44">
            <a:extLst>
              <a:ext uri="{FF2B5EF4-FFF2-40B4-BE49-F238E27FC236}">
                <a16:creationId xmlns:a16="http://schemas.microsoft.com/office/drawing/2014/main" id="{7515DBD6-9D5A-155E-2479-B8430EFDAA99}"/>
              </a:ext>
            </a:extLst>
          </p:cNvPr>
          <p:cNvSpPr/>
          <p:nvPr/>
        </p:nvSpPr>
        <p:spPr>
          <a:xfrm>
            <a:off x="8617973" y="1089711"/>
            <a:ext cx="984300" cy="1762649"/>
          </a:xfrm>
          <a:prstGeom prst="rect">
            <a:avLst/>
          </a:prstGeom>
          <a:solidFill>
            <a:schemeClr val="bg2">
              <a:lumMod val="75000"/>
              <a:alpha val="5621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sp>
        <p:nvSpPr>
          <p:cNvPr id="3" name="Title 2">
            <a:extLst>
              <a:ext uri="{FF2B5EF4-FFF2-40B4-BE49-F238E27FC236}">
                <a16:creationId xmlns:a16="http://schemas.microsoft.com/office/drawing/2014/main" id="{81E43E23-B7B5-0DB5-CF3A-81CC11443CC5}"/>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33242964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hidden"/>
                                      </p:to>
                                    </p:set>
                                  </p:childTnLst>
                                </p:cTn>
                              </p:par>
                              <p:par>
                                <p:cTn id="7" presetID="1" presetClass="exit" presetSubtype="0" fill="hold" grpId="0" nodeType="withEffect">
                                  <p:stCondLst>
                                    <p:cond delay="0"/>
                                  </p:stCondLst>
                                  <p:childTnLst>
                                    <p:set>
                                      <p:cBhvr>
                                        <p:cTn id="8" dur="1" fill="hold">
                                          <p:stCondLst>
                                            <p:cond delay="0"/>
                                          </p:stCondLst>
                                        </p:cTn>
                                        <p:tgtEl>
                                          <p:spTgt spid="40"/>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grpId="0" nodeType="clickEffect">
                                  <p:stCondLst>
                                    <p:cond delay="0"/>
                                  </p:stCondLst>
                                  <p:childTnLst>
                                    <p:set>
                                      <p:cBhvr>
                                        <p:cTn id="12" dur="1" fill="hold">
                                          <p:stCondLst>
                                            <p:cond delay="0"/>
                                          </p:stCondLst>
                                        </p:cTn>
                                        <p:tgtEl>
                                          <p:spTgt spid="41"/>
                                        </p:tgtEl>
                                        <p:attrNameLst>
                                          <p:attrName>style.visibility</p:attrName>
                                        </p:attrNameLst>
                                      </p:cBhvr>
                                      <p:to>
                                        <p:strVal val="hidden"/>
                                      </p:to>
                                    </p:set>
                                  </p:childTnLst>
                                </p:cTn>
                              </p:par>
                              <p:par>
                                <p:cTn id="13" presetID="1" presetClass="exit" presetSubtype="0" fill="hold" grpId="0" nodeType="withEffect">
                                  <p:stCondLst>
                                    <p:cond delay="0"/>
                                  </p:stCondLst>
                                  <p:childTnLst>
                                    <p:set>
                                      <p:cBhvr>
                                        <p:cTn id="14" dur="1" fill="hold">
                                          <p:stCondLst>
                                            <p:cond delay="0"/>
                                          </p:stCondLst>
                                        </p:cTn>
                                        <p:tgtEl>
                                          <p:spTgt spid="38"/>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0" nodeType="clickEffect">
                                  <p:stCondLst>
                                    <p:cond delay="0"/>
                                  </p:stCondLst>
                                  <p:childTnLst>
                                    <p:set>
                                      <p:cBhvr>
                                        <p:cTn id="18" dur="1" fill="hold">
                                          <p:stCondLst>
                                            <p:cond delay="0"/>
                                          </p:stCondLst>
                                        </p:cTn>
                                        <p:tgtEl>
                                          <p:spTgt spid="42"/>
                                        </p:tgtEl>
                                        <p:attrNameLst>
                                          <p:attrName>style.visibility</p:attrName>
                                        </p:attrNameLst>
                                      </p:cBhvr>
                                      <p:to>
                                        <p:strVal val="hidden"/>
                                      </p:to>
                                    </p:set>
                                  </p:childTnLst>
                                </p:cTn>
                              </p:par>
                              <p:par>
                                <p:cTn id="19" presetID="1" presetClass="exit" presetSubtype="0" fill="hold" grpId="0" nodeType="withEffect">
                                  <p:stCondLst>
                                    <p:cond delay="0"/>
                                  </p:stCondLst>
                                  <p:childTnLst>
                                    <p:set>
                                      <p:cBhvr>
                                        <p:cTn id="20" dur="1" fill="hold">
                                          <p:stCondLst>
                                            <p:cond delay="0"/>
                                          </p:stCondLst>
                                        </p:cTn>
                                        <p:tgtEl>
                                          <p:spTgt spid="39"/>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38" grpId="0" animBg="1"/>
      <p:bldP spid="39" grpId="0" animBg="1"/>
      <p:bldP spid="40" grpId="0" animBg="1"/>
      <p:bldP spid="41" grpId="0" animBg="1"/>
      <p:bldP spid="42" grpId="0" animBg="1"/>
      <p:bldP spid="45"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63</TotalTime>
  <Words>2293</Words>
  <Application>Microsoft Macintosh PowerPoint</Application>
  <PresentationFormat>Widescreen</PresentationFormat>
  <Paragraphs>280</Paragraphs>
  <Slides>42</Slides>
  <Notes>15</Notes>
  <HiddenSlides>11</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42</vt:i4>
      </vt:variant>
    </vt:vector>
  </HeadingPairs>
  <TitlesOfParts>
    <vt:vector size="49" baseType="lpstr">
      <vt:lpstr>Aptos</vt:lpstr>
      <vt:lpstr>Aptos Display</vt:lpstr>
      <vt:lpstr>Arial</vt:lpstr>
      <vt:lpstr>Franklin Gothic Book</vt:lpstr>
      <vt:lpstr>Times New Roman</vt:lpstr>
      <vt:lpstr>Wingdings</vt:lpstr>
      <vt:lpstr>Office Theme</vt:lpstr>
      <vt:lpstr>Using LLMs to semantically categorize children’s productions of negation</vt:lpstr>
      <vt:lpstr>Background: Cross-linguistic corpus analysis</vt:lpstr>
      <vt:lpstr>PowerPoint Presentation</vt:lpstr>
      <vt:lpstr>PowerPoint Presentation</vt:lpstr>
      <vt:lpstr>Human coded data</vt:lpstr>
      <vt:lpstr>Inter-coder reliability – theoretical ceiling</vt:lpstr>
      <vt:lpstr>Coding pipeline</vt:lpstr>
      <vt:lpstr>Prompt v1</vt:lpstr>
      <vt:lpstr>Prompt v1</vt:lpstr>
      <vt:lpstr>Prompt v1</vt:lpstr>
      <vt:lpstr>Examples v1</vt:lpstr>
      <vt:lpstr>LLM–human agreement across versions</vt:lpstr>
      <vt:lpstr>What changed: v1 → v2</vt:lpstr>
      <vt:lpstr>Prompt v2</vt:lpstr>
      <vt:lpstr>Prompt v2</vt:lpstr>
      <vt:lpstr>Prompt v2</vt:lpstr>
      <vt:lpstr>Prompt v2</vt:lpstr>
      <vt:lpstr>Examples v2</vt:lpstr>
      <vt:lpstr>Examples v2</vt:lpstr>
      <vt:lpstr>LLM–human agreement across versions</vt:lpstr>
      <vt:lpstr>What changed: v2 → v3</vt:lpstr>
      <vt:lpstr>Prompt v3</vt:lpstr>
      <vt:lpstr>Prompt v3</vt:lpstr>
      <vt:lpstr>Prompt v3</vt:lpstr>
      <vt:lpstr>Prompt v3</vt:lpstr>
      <vt:lpstr>Prompt v3</vt:lpstr>
      <vt:lpstr>Examples v3</vt:lpstr>
      <vt:lpstr>Examples v3</vt:lpstr>
      <vt:lpstr>Examples v3</vt:lpstr>
      <vt:lpstr>LLM–human agreement across versions</vt:lpstr>
      <vt:lpstr>References</vt:lpstr>
      <vt:lpstr>Origins of logical thought:  Two opposing views</vt:lpstr>
      <vt:lpstr>Logical negation emerges late</vt:lpstr>
      <vt:lpstr>Specific functions may imply specific meanings</vt:lpstr>
      <vt:lpstr>What makes negation hard?</vt:lpstr>
      <vt:lpstr>PowerPoint Presentation</vt:lpstr>
      <vt:lpstr>PowerPoint Presentation</vt:lpstr>
      <vt:lpstr>PowerPoint Presentation</vt:lpstr>
      <vt:lpstr>Clustered meanings could inhibit mapping NEGATION to language</vt:lpstr>
      <vt:lpstr>Clustered meanings could inhibit mapping NEGATION to language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McDermott-Hinman, Annika</dc:creator>
  <cp:lastModifiedBy>McDermott-Hinman, Annika</cp:lastModifiedBy>
  <cp:revision>8</cp:revision>
  <dcterms:created xsi:type="dcterms:W3CDTF">2026-06-23T20:25:02Z</dcterms:created>
  <dcterms:modified xsi:type="dcterms:W3CDTF">2026-06-26T15:11:00Z</dcterms:modified>
</cp:coreProperties>
</file>