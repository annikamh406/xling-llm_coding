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471" r:id="rId4"/>
    <p:sldId id="473" r:id="rId5"/>
    <p:sldId id="474" r:id="rId6"/>
    <p:sldId id="475" r:id="rId7"/>
    <p:sldId id="476" r:id="rId8"/>
    <p:sldId id="477" r:id="rId9"/>
    <p:sldId id="478" r:id="rId10"/>
    <p:sldId id="479" r:id="rId11"/>
    <p:sldId id="493" r:id="rId12"/>
    <p:sldId id="480" r:id="rId13"/>
    <p:sldId id="481" r:id="rId14"/>
    <p:sldId id="482" r:id="rId15"/>
    <p:sldId id="483" r:id="rId16"/>
    <p:sldId id="484" r:id="rId17"/>
    <p:sldId id="494" r:id="rId18"/>
    <p:sldId id="485" r:id="rId19"/>
    <p:sldId id="486" r:id="rId20"/>
    <p:sldId id="487" r:id="rId21"/>
    <p:sldId id="488" r:id="rId22"/>
    <p:sldId id="489" r:id="rId23"/>
    <p:sldId id="490" r:id="rId24"/>
    <p:sldId id="491" r:id="rId25"/>
    <p:sldId id="492" r:id="rId26"/>
    <p:sldId id="472" r:id="rId27"/>
    <p:sldId id="419" r:id="rId28"/>
    <p:sldId id="314" r:id="rId29"/>
    <p:sldId id="332" r:id="rId30"/>
    <p:sldId id="428" r:id="rId31"/>
    <p:sldId id="291" r:id="rId32"/>
    <p:sldId id="261" r:id="rId33"/>
    <p:sldId id="409" r:id="rId34"/>
    <p:sldId id="394" r:id="rId35"/>
    <p:sldId id="415" r:id="rId36"/>
    <p:sldId id="397" r:id="rId37"/>
    <p:sldId id="46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71"/>
    <p:restoredTop sz="94658"/>
  </p:normalViewPr>
  <p:slideViewPr>
    <p:cSldViewPr snapToGrid="0" showGuides="1">
      <p:cViewPr>
        <p:scale>
          <a:sx n="97" d="100"/>
          <a:sy n="97" d="100"/>
        </p:scale>
        <p:origin x="832" y="5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CB5296-7E33-5C47-B673-048D955D45B2}" type="datetimeFigureOut">
              <a:rPr lang="en-US" smtClean="0"/>
              <a:t>6/25/26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1BB7C-C147-7D4C-984C-FF89F0196791}" type="slidenum">
              <a:rPr lang="en-US" smtClean="0"/>
              <a:t>‹#›</a:t>
            </a:fld>
            <a:endParaRPr lang="en-US"/>
          </a:p>
        </p:txBody>
      </p:sp>
    </p:spTree>
    <p:extLst>
      <p:ext uri="{BB962C8B-B14F-4D97-AF65-F5344CB8AC3E}">
        <p14:creationId xmlns:p14="http://schemas.microsoft.com/office/powerpoint/2010/main" val="2847163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05FAE-331D-E807-8DB6-04D25679A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B9ECB-061B-DCBE-499F-F401F65C6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F6633E-6513-1D86-3101-78E3CF40364A}"/>
              </a:ext>
            </a:extLst>
          </p:cNvPr>
          <p:cNvSpPr>
            <a:spLocks noGrp="1"/>
          </p:cNvSpPr>
          <p:nvPr>
            <p:ph type="body" idx="1"/>
          </p:nvPr>
        </p:nvSpPr>
        <p:spPr/>
        <p:txBody>
          <a:bodyPr/>
          <a:lstStyle/>
          <a:p>
            <a:r>
              <a:rPr lang="en-US" dirty="0"/>
              <a:t>If that’s the way no behaves in the child’s lexicon, and if those early concepts, which are more perceptual and affective, are easier, then a child might end up with a meaning space for “no” that looks something like this</a:t>
            </a:r>
          </a:p>
          <a:p>
            <a:endParaRPr lang="en-US" dirty="0"/>
          </a:p>
          <a:p>
            <a:r>
              <a:rPr lang="en-US" dirty="0"/>
              <a:t>And this is what they would have to then add logical negation to</a:t>
            </a:r>
          </a:p>
          <a:p>
            <a:endParaRPr lang="en-US" dirty="0"/>
          </a:p>
          <a:p>
            <a:r>
              <a:rPr lang="en-US" dirty="0"/>
              <a:t>Compare this to a language like </a:t>
            </a:r>
            <a:r>
              <a:rPr lang="en-US" dirty="0" err="1"/>
              <a:t>tagalog</a:t>
            </a:r>
            <a:r>
              <a:rPr lang="en-US" dirty="0"/>
              <a:t>, where each of these communicative functions is expressed by a separate word</a:t>
            </a:r>
          </a:p>
        </p:txBody>
      </p:sp>
      <p:sp>
        <p:nvSpPr>
          <p:cNvPr id="4" name="Slide Number Placeholder 3">
            <a:extLst>
              <a:ext uri="{FF2B5EF4-FFF2-40B4-BE49-F238E27FC236}">
                <a16:creationId xmlns:a16="http://schemas.microsoft.com/office/drawing/2014/main" id="{B6F14495-6678-925A-CD81-C66A7E60FC1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8526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E580-60FD-FC83-02AF-6B4400223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77B49-FB12-6CC0-208A-33CFCE40D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F102DC-1DF1-E50A-DA44-43C467CC7E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F3DB66-E084-547B-9039-9A077AE8C1D7}"/>
              </a:ext>
            </a:extLst>
          </p:cNvPr>
          <p:cNvSpPr>
            <a:spLocks noGrp="1"/>
          </p:cNvSpPr>
          <p:nvPr>
            <p:ph type="sldNum" sz="quarter" idx="5"/>
          </p:nvPr>
        </p:nvSpPr>
        <p:spPr/>
        <p:txBody>
          <a:bodyPr/>
          <a:lstStyle/>
          <a:p>
            <a:fld id="{0271BB7C-C147-7D4C-984C-FF89F0196791}" type="slidenum">
              <a:rPr lang="en-US" smtClean="0"/>
              <a:t>11</a:t>
            </a:fld>
            <a:endParaRPr lang="en-US"/>
          </a:p>
        </p:txBody>
      </p:sp>
    </p:spTree>
    <p:extLst>
      <p:ext uri="{BB962C8B-B14F-4D97-AF65-F5344CB8AC3E}">
        <p14:creationId xmlns:p14="http://schemas.microsoft.com/office/powerpoint/2010/main" val="77032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CB84B-22B2-85E0-0481-2FDC2BD8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AB18E-3825-6C29-D5F0-7611459693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A6A0FF-F600-D0C1-DBC6-4CD34D2E28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CC6290-CFA1-6E90-1CBB-9453C54D4E3C}"/>
              </a:ext>
            </a:extLst>
          </p:cNvPr>
          <p:cNvSpPr>
            <a:spLocks noGrp="1"/>
          </p:cNvSpPr>
          <p:nvPr>
            <p:ph type="sldNum" sz="quarter" idx="5"/>
          </p:nvPr>
        </p:nvSpPr>
        <p:spPr/>
        <p:txBody>
          <a:bodyPr/>
          <a:lstStyle/>
          <a:p>
            <a:fld id="{0271BB7C-C147-7D4C-984C-FF89F0196791}" type="slidenum">
              <a:rPr lang="en-US" smtClean="0"/>
              <a:t>17</a:t>
            </a:fld>
            <a:endParaRPr lang="en-US"/>
          </a:p>
        </p:txBody>
      </p:sp>
    </p:spTree>
    <p:extLst>
      <p:ext uri="{BB962C8B-B14F-4D97-AF65-F5344CB8AC3E}">
        <p14:creationId xmlns:p14="http://schemas.microsoft.com/office/powerpoint/2010/main" val="3091073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271BB7C-C147-7D4C-984C-FF89F0196791}" type="slidenum">
              <a:rPr lang="en-US" smtClean="0"/>
              <a:t>24</a:t>
            </a:fld>
            <a:endParaRPr lang="en-US"/>
          </a:p>
        </p:txBody>
      </p:sp>
    </p:spTree>
    <p:extLst>
      <p:ext uri="{BB962C8B-B14F-4D97-AF65-F5344CB8AC3E}">
        <p14:creationId xmlns:p14="http://schemas.microsoft.com/office/powerpoint/2010/main" val="4098609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Negation as a test case</a:t>
            </a:r>
          </a:p>
          <a:p>
            <a:endParaRPr lang="en-US" dirty="0"/>
          </a:p>
          <a:p>
            <a:pPr>
              <a:buFont typeface="Wingdings" pitchFamily="2" charset="2"/>
              <a:buChar char="Ø"/>
            </a:pPr>
            <a:r>
              <a:rPr lang="en-US" sz="1200" dirty="0"/>
              <a:t>Logical content</a:t>
            </a:r>
          </a:p>
          <a:p>
            <a:pPr>
              <a:buFont typeface="Wingdings" pitchFamily="2" charset="2"/>
              <a:buChar char="Ø"/>
            </a:pPr>
            <a:r>
              <a:rPr lang="en-US" sz="1200" dirty="0"/>
              <a:t>Abstract, compositional meaning</a:t>
            </a:r>
          </a:p>
          <a:p>
            <a:pPr>
              <a:buFont typeface="Wingdings" pitchFamily="2" charset="2"/>
              <a:buChar char="Ø"/>
            </a:pPr>
            <a:r>
              <a:rPr lang="en-US" sz="1200" dirty="0"/>
              <a:t>Empirically, it seems hard to learn!</a:t>
            </a:r>
          </a:p>
          <a:p>
            <a:endParaRPr lang="en-US" dirty="0"/>
          </a:p>
        </p:txBody>
      </p:sp>
      <p:sp>
        <p:nvSpPr>
          <p:cNvPr id="4" name="Slide Number Placeholder 3"/>
          <p:cNvSpPr>
            <a:spLocks noGrp="1"/>
          </p:cNvSpPr>
          <p:nvPr>
            <p:ph type="sldNum" sz="quarter" idx="5"/>
          </p:nvPr>
        </p:nvSpPr>
        <p:spPr/>
        <p:txBody>
          <a:bodyPr/>
          <a:lstStyle/>
          <a:p>
            <a:fld id="{19302342-D82F-B746-8A55-FE9F04EC56A1}" type="slidenum">
              <a:rPr lang="en-US" smtClean="0"/>
              <a:t>27</a:t>
            </a:fld>
            <a:endParaRPr lang="en-US"/>
          </a:p>
        </p:txBody>
      </p:sp>
    </p:spTree>
    <p:extLst>
      <p:ext uri="{BB962C8B-B14F-4D97-AF65-F5344CB8AC3E}">
        <p14:creationId xmlns:p14="http://schemas.microsoft.com/office/powerpoint/2010/main" val="1124447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reason that negation is a good case study is that it seems to be hard– children don’t produce “no” to mean denial, nor understand “no” or “not” to mean denial, until after their second birthday (according to much of the existing body of work)</a:t>
            </a:r>
          </a:p>
          <a:p>
            <a:endParaRPr lang="en-US" dirty="0"/>
          </a:p>
          <a:p>
            <a:endParaRPr lang="en-US" dirty="0"/>
          </a:p>
          <a:p>
            <a:r>
              <a:rPr lang="en-US" dirty="0"/>
              <a:t>One reason to think these are separate concepts is that kids express them long before denial; another reason is that they’re separate words in </a:t>
            </a:r>
            <a:r>
              <a:rPr lang="en-US" dirty="0" err="1"/>
              <a:t>tagalog</a:t>
            </a:r>
            <a:endParaRPr lang="en-US" dirty="0"/>
          </a:p>
          <a:p>
            <a:endParaRPr lang="en-US" dirty="0"/>
          </a:p>
          <a:p>
            <a:endParaRPr lang="en-US" dirty="0"/>
          </a:p>
          <a:p>
            <a:r>
              <a:rPr lang="en-US" dirty="0"/>
              <a:t>Reasons to think early negation might be function-specific</a:t>
            </a:r>
          </a:p>
          <a:p>
            <a:pPr marL="171450" indent="-171450">
              <a:buFontTx/>
              <a:buChar char="-"/>
            </a:pPr>
            <a:r>
              <a:rPr lang="en-US" dirty="0"/>
              <a:t>They use it specifically, according to some accounts</a:t>
            </a:r>
          </a:p>
          <a:p>
            <a:pPr marL="171450" indent="-171450">
              <a:buFontTx/>
              <a:buChar char="-"/>
            </a:pPr>
            <a:r>
              <a:rPr lang="en-US" dirty="0"/>
              <a:t>They fail comprehension tasks until later</a:t>
            </a:r>
          </a:p>
          <a:p>
            <a:pPr marL="171450" indent="-171450">
              <a:buFontTx/>
              <a:buChar char="-"/>
            </a:pPr>
            <a:r>
              <a:rPr lang="en-US" dirty="0"/>
              <a:t>They hear no as a one-word rejection/prohibition, and it’s easier to identify in those contexts (</a:t>
            </a:r>
            <a:r>
              <a:rPr lang="en-US" dirty="0" err="1"/>
              <a:t>hsp</a:t>
            </a:r>
            <a:r>
              <a:rPr lang="en-US" dirty="0"/>
              <a: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4672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is not ‘no must have the meaning rejection’, it’s ‘children likely hypothesize that no means rejection’</a:t>
            </a:r>
          </a:p>
          <a:p>
            <a:r>
              <a:rPr lang="en-US" dirty="0"/>
              <a:t>And further, that this hypothesis is likely in English, but not Tagalog</a:t>
            </a:r>
          </a:p>
        </p:txBody>
      </p:sp>
      <p:sp>
        <p:nvSpPr>
          <p:cNvPr id="4" name="Slide Number Placeholder 3"/>
          <p:cNvSpPr>
            <a:spLocks noGrp="1"/>
          </p:cNvSpPr>
          <p:nvPr>
            <p:ph type="sldNum" sz="quarter" idx="5"/>
          </p:nvPr>
        </p:nvSpPr>
        <p:spPr/>
        <p:txBody>
          <a:bodyPr/>
          <a:lstStyle/>
          <a:p>
            <a:fld id="{19302342-D82F-B746-8A55-FE9F04EC56A1}" type="slidenum">
              <a:rPr lang="en-US" smtClean="0"/>
              <a:t>29</a:t>
            </a:fld>
            <a:endParaRPr lang="en-US"/>
          </a:p>
        </p:txBody>
      </p:sp>
    </p:spTree>
    <p:extLst>
      <p:ext uri="{BB962C8B-B14F-4D97-AF65-F5344CB8AC3E}">
        <p14:creationId xmlns:p14="http://schemas.microsoft.com/office/powerpoint/2010/main" val="1021465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D6295-9B90-E254-F2B0-07CFF934D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6B9503-5840-0667-B126-1F2899CFC9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AD3A57-3EF5-6297-4749-312F7823A219}"/>
              </a:ext>
            </a:extLst>
          </p:cNvPr>
          <p:cNvSpPr>
            <a:spLocks noGrp="1"/>
          </p:cNvSpPr>
          <p:nvPr>
            <p:ph type="body" idx="1"/>
          </p:nvPr>
        </p:nvSpPr>
        <p:spPr/>
        <p:txBody>
          <a:bodyPr/>
          <a:lstStyle/>
          <a:p>
            <a:r>
              <a:rPr lang="en-US" dirty="0"/>
              <a:t>Does the concept </a:t>
            </a:r>
            <a:r>
              <a:rPr lang="en-US" dirty="0" err="1"/>
              <a:t>preced</a:t>
            </a:r>
            <a:r>
              <a:rPr lang="en-US" dirty="0"/>
              <a:t> the language, or does the language precede the concept?</a:t>
            </a:r>
          </a:p>
        </p:txBody>
      </p:sp>
      <p:sp>
        <p:nvSpPr>
          <p:cNvPr id="4" name="Slide Number Placeholder 3">
            <a:extLst>
              <a:ext uri="{FF2B5EF4-FFF2-40B4-BE49-F238E27FC236}">
                <a16:creationId xmlns:a16="http://schemas.microsoft.com/office/drawing/2014/main" id="{060C5A8F-F6CA-AC0E-D13A-EC199FAA4959}"/>
              </a:ext>
            </a:extLst>
          </p:cNvPr>
          <p:cNvSpPr>
            <a:spLocks noGrp="1"/>
          </p:cNvSpPr>
          <p:nvPr>
            <p:ph type="sldNum" sz="quarter" idx="5"/>
          </p:nvPr>
        </p:nvSpPr>
        <p:spPr/>
        <p:txBody>
          <a:bodyPr/>
          <a:lstStyle/>
          <a:p>
            <a:fld id="{19302342-D82F-B746-8A55-FE9F04EC56A1}" type="slidenum">
              <a:rPr lang="en-US" smtClean="0"/>
              <a:t>30</a:t>
            </a:fld>
            <a:endParaRPr lang="en-US"/>
          </a:p>
        </p:txBody>
      </p:sp>
    </p:spTree>
    <p:extLst>
      <p:ext uri="{BB962C8B-B14F-4D97-AF65-F5344CB8AC3E}">
        <p14:creationId xmlns:p14="http://schemas.microsoft.com/office/powerpoint/2010/main" val="457147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a:t>
            </a:r>
          </a:p>
          <a:p>
            <a:r>
              <a:rPr lang="en-US" dirty="0"/>
              <a:t>Our argument is that this clustering of meanings might scaffold the process of concept acquisition, if that is what’s happening</a:t>
            </a:r>
          </a:p>
          <a:p>
            <a:endParaRPr lang="en-US" dirty="0"/>
          </a:p>
          <a:p>
            <a:r>
              <a:rPr lang="en-US" dirty="0"/>
              <a:t>So that could look something like a child noticing a sort of analogy: want has the same relationship to reject as allowed has to prohibited, and as exists has to nonexistence; then, they might abstract away from those specific concepts to discover that any proposition P and it’s negation are also in that same relation. To be very clear, this is not a mechanistically spelled out story, this is merely a way to give you an intuition for what this hypothesis might look like. This proposal has been made several times in the literature, and nobody has given a mechanistic account of how it might happen</a:t>
            </a:r>
          </a:p>
          <a:p>
            <a:endParaRPr lang="en-US" dirty="0"/>
          </a:p>
          <a:p>
            <a:r>
              <a:rPr lang="en-US" dirty="0"/>
              <a:t>The point is though that even without a mechanistic account, this class of proposals makes specific empirical predictions that we can test. In particular, it makes the following prediction:</a:t>
            </a:r>
          </a:p>
        </p:txBody>
      </p:sp>
      <p:sp>
        <p:nvSpPr>
          <p:cNvPr id="4" name="Slide Number Placeholder 3"/>
          <p:cNvSpPr>
            <a:spLocks noGrp="1"/>
          </p:cNvSpPr>
          <p:nvPr>
            <p:ph type="sldNum" sz="quarter" idx="5"/>
          </p:nvPr>
        </p:nvSpPr>
        <p:spPr/>
        <p:txBody>
          <a:bodyPr/>
          <a:lstStyle/>
          <a:p>
            <a:fld id="{19302342-D82F-B746-8A55-FE9F04EC56A1}" type="slidenum">
              <a:rPr lang="en-US" smtClean="0"/>
              <a:t>31</a:t>
            </a:fld>
            <a:endParaRPr lang="en-US"/>
          </a:p>
        </p:txBody>
      </p:sp>
    </p:spTree>
    <p:extLst>
      <p:ext uri="{BB962C8B-B14F-4D97-AF65-F5344CB8AC3E}">
        <p14:creationId xmlns:p14="http://schemas.microsoft.com/office/powerpoint/2010/main" val="2092766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a:t>
            </a:r>
          </a:p>
          <a:p>
            <a:r>
              <a:rPr lang="en-US" dirty="0"/>
              <a:t>In English, all of these specific negative concepts are expressed by a single word, “no”, and so the word ”no” offers a child a convenient pointer to just the concepts they need to be paying attention to in the process of learning negation. In contrast, in Tagalog each of these meanings is expressed by a different word, and so children learning Tagalog don’t get the same leg up in learning the concept negation</a:t>
            </a:r>
          </a:p>
        </p:txBody>
      </p:sp>
      <p:sp>
        <p:nvSpPr>
          <p:cNvPr id="4" name="Slide Number Placeholder 3"/>
          <p:cNvSpPr>
            <a:spLocks noGrp="1"/>
          </p:cNvSpPr>
          <p:nvPr>
            <p:ph type="sldNum" sz="quarter" idx="5"/>
          </p:nvPr>
        </p:nvSpPr>
        <p:spPr/>
        <p:txBody>
          <a:bodyPr/>
          <a:lstStyle/>
          <a:p>
            <a:fld id="{19302342-D82F-B746-8A55-FE9F04EC56A1}" type="slidenum">
              <a:rPr lang="en-US" smtClean="0"/>
              <a:t>32</a:t>
            </a:fld>
            <a:endParaRPr lang="en-US"/>
          </a:p>
        </p:txBody>
      </p:sp>
    </p:spTree>
    <p:extLst>
      <p:ext uri="{BB962C8B-B14F-4D97-AF65-F5344CB8AC3E}">
        <p14:creationId xmlns:p14="http://schemas.microsoft.com/office/powerpoint/2010/main" val="981902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BEEC4-04C7-5A54-504C-0B586B6BC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AF2D9-B2BE-82D7-9854-0679AC57B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23E74-0D42-1B0F-77B7-899537975D04}"/>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p>
          <a:p>
            <a:pPr marL="342900" marR="0" lvl="0" indent="-342900">
              <a:spcBef>
                <a:spcPts val="0"/>
              </a:spcBef>
              <a:spcAft>
                <a:spcPts val="0"/>
              </a:spcAft>
              <a:buFont typeface="Times New Roman" panose="02020603050405020304" pitchFamily="18" charset="0"/>
              <a:buChar char="-"/>
            </a:pPr>
            <a:r>
              <a:rPr lang="en-US" sz="1200" b="0" i="0" kern="1200" dirty="0">
                <a:solidFill>
                  <a:schemeClr val="tx1"/>
                </a:solidFill>
                <a:effectLst/>
                <a:latin typeface="+mn-lt"/>
                <a:ea typeface="+mn-ea"/>
                <a:cs typeface="+mn-cs"/>
              </a:rPr>
              <a:t>not can be used to express r, p, </a:t>
            </a:r>
            <a:r>
              <a:rPr lang="en-US" sz="1200" b="0" i="0" kern="1200" dirty="0" err="1">
                <a:solidFill>
                  <a:schemeClr val="tx1"/>
                </a:solidFill>
                <a:effectLst/>
                <a:latin typeface="+mn-lt"/>
                <a:ea typeface="+mn-ea"/>
                <a:cs typeface="+mn-cs"/>
              </a:rPr>
              <a:t>etc</a:t>
            </a:r>
            <a:r>
              <a:rPr lang="en-US" sz="1200" b="0" i="0" kern="1200" dirty="0">
                <a:solidFill>
                  <a:schemeClr val="tx1"/>
                </a:solidFill>
                <a:effectLst/>
                <a:latin typeface="+mn-lt"/>
                <a:ea typeface="+mn-ea"/>
                <a:cs typeface="+mn-cs"/>
              </a:rPr>
              <a:t>, but it must do so compositionally--</a:t>
            </a:r>
            <a:r>
              <a:rPr lang="en-US" sz="1200" b="0" i="0" kern="1200" dirty="0" err="1">
                <a:solidFill>
                  <a:schemeClr val="tx1"/>
                </a:solidFill>
                <a:effectLst/>
                <a:latin typeface="+mn-lt"/>
                <a:ea typeface="+mn-ea"/>
                <a:cs typeface="+mn-cs"/>
              </a:rPr>
              <a:t>ie</a:t>
            </a:r>
            <a:r>
              <a:rPr lang="en-US" sz="1200" b="0" i="0" kern="1200" dirty="0">
                <a:solidFill>
                  <a:schemeClr val="tx1"/>
                </a:solidFill>
                <a:effectLst/>
                <a:latin typeface="+mn-lt"/>
                <a:ea typeface="+mn-ea"/>
                <a:cs typeface="+mn-cs"/>
              </a:rPr>
              <a:t> by composing with want to express rejections-- this makes it less likely that not is mapped to a specific concept of rejection, etc.</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041F286E-E8E2-8EA2-268A-F257AC7D58B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62566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302342-D82F-B746-8A55-FE9F04EC56A1}" type="slidenum">
              <a:rPr lang="en-US" smtClean="0"/>
              <a:t>34</a:t>
            </a:fld>
            <a:endParaRPr lang="en-US"/>
          </a:p>
        </p:txBody>
      </p:sp>
    </p:spTree>
    <p:extLst>
      <p:ext uri="{BB962C8B-B14F-4D97-AF65-F5344CB8AC3E}">
        <p14:creationId xmlns:p14="http://schemas.microsoft.com/office/powerpoint/2010/main" val="2329757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7442F-CBC2-D131-510B-D93CEDB5B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83119-8147-4A4A-D63B-FDEB25F20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0ADC49-8D23-D49D-B37D-B33C98E931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F0602B-15FF-2880-8FE7-92D1D70D814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999888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AA8AD-1E50-E3BE-D764-604495C61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BB1BB-084F-955E-550F-EB1897583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A8AAFC-1564-3730-82CB-452B60CAE0F3}"/>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B070D4A4-8F89-0484-ADD6-D17F9DEABF0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444863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B27FF-5A4E-4554-9647-F9B92212C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C80A4-B47E-1313-0AD5-86855E769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1129A-6AC7-26D7-D230-F4D90FA17F27}"/>
              </a:ext>
            </a:extLst>
          </p:cNvPr>
          <p:cNvSpPr>
            <a:spLocks noGrp="1"/>
          </p:cNvSpPr>
          <p:nvPr>
            <p:ph type="body" idx="1"/>
          </p:nvPr>
        </p:nvSpPr>
        <p:spPr/>
        <p:txBody>
          <a:bodyPr/>
          <a:lstStyle/>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In a perfect world we would have multiple languages in each category, so this is a starting point and we will want to eventually add to it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Times New Roman" panose="02020603050405020304" pitchFamily="18" charset="0"/>
              <a:buChar char="-"/>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included both English and Spanish because we were additionally interested in the presence of a denial-only negator in a language with another multi-function negator, but with our current data it’s hard to get much foothold on that, so I’ll focus on the shared meanings for now, and I’ll briefly discuss the one-to-one negator question at the end/I’d be happy to talk more about that offline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6085C9D2-EC3F-BAF8-49D4-EFBEA207310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9302342-D82F-B746-8A55-FE9F04EC56A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8978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B96ED-0547-1397-D65A-76E1F4A550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801D02-2D54-898A-A063-74AB57CA37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A042A1-EE54-E327-8D7E-63C56055AAA3}"/>
              </a:ext>
            </a:extLst>
          </p:cNvPr>
          <p:cNvSpPr>
            <a:spLocks noGrp="1"/>
          </p:cNvSpPr>
          <p:nvPr>
            <p:ph type="dt" sz="half" idx="10"/>
          </p:nvPr>
        </p:nvSpPr>
        <p:spPr/>
        <p:txBody>
          <a:bodyPr/>
          <a:lstStyle/>
          <a:p>
            <a:fld id="{3DE51D5E-D8B5-794A-B1D0-EF01185CB4A7}" type="datetimeFigureOut">
              <a:rPr lang="en-US" smtClean="0"/>
              <a:t>6/25/26</a:t>
            </a:fld>
            <a:endParaRPr lang="en-US"/>
          </a:p>
        </p:txBody>
      </p:sp>
      <p:sp>
        <p:nvSpPr>
          <p:cNvPr id="5" name="Footer Placeholder 4">
            <a:extLst>
              <a:ext uri="{FF2B5EF4-FFF2-40B4-BE49-F238E27FC236}">
                <a16:creationId xmlns:a16="http://schemas.microsoft.com/office/drawing/2014/main" id="{3958B081-3050-58F8-AFA5-6129CB79A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25E87-857C-1FFA-E99E-2A24E54F1750}"/>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143656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F356C-EE7C-68A6-6C66-FB28B61B4D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EA0325-EA19-53A0-CAF6-BDF150640E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DA1AB6-C988-FE77-03E2-E41D0EF0E351}"/>
              </a:ext>
            </a:extLst>
          </p:cNvPr>
          <p:cNvSpPr>
            <a:spLocks noGrp="1"/>
          </p:cNvSpPr>
          <p:nvPr>
            <p:ph type="dt" sz="half" idx="10"/>
          </p:nvPr>
        </p:nvSpPr>
        <p:spPr/>
        <p:txBody>
          <a:bodyPr/>
          <a:lstStyle/>
          <a:p>
            <a:fld id="{3DE51D5E-D8B5-794A-B1D0-EF01185CB4A7}" type="datetimeFigureOut">
              <a:rPr lang="en-US" smtClean="0"/>
              <a:t>6/25/26</a:t>
            </a:fld>
            <a:endParaRPr lang="en-US"/>
          </a:p>
        </p:txBody>
      </p:sp>
      <p:sp>
        <p:nvSpPr>
          <p:cNvPr id="5" name="Footer Placeholder 4">
            <a:extLst>
              <a:ext uri="{FF2B5EF4-FFF2-40B4-BE49-F238E27FC236}">
                <a16:creationId xmlns:a16="http://schemas.microsoft.com/office/drawing/2014/main" id="{AE0887B7-276A-08A3-3F61-B4A8DBEED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4F24C2-48D4-51CD-C06A-01AD78A840FB}"/>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711078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6651A-673A-74CC-BD60-96BDFDCE31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A723C4-BFF2-5B2C-927A-4A306EABFE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A623CC-79C8-2A1A-9E62-24079CFD34AE}"/>
              </a:ext>
            </a:extLst>
          </p:cNvPr>
          <p:cNvSpPr>
            <a:spLocks noGrp="1"/>
          </p:cNvSpPr>
          <p:nvPr>
            <p:ph type="dt" sz="half" idx="10"/>
          </p:nvPr>
        </p:nvSpPr>
        <p:spPr/>
        <p:txBody>
          <a:bodyPr/>
          <a:lstStyle/>
          <a:p>
            <a:fld id="{3DE51D5E-D8B5-794A-B1D0-EF01185CB4A7}" type="datetimeFigureOut">
              <a:rPr lang="en-US" smtClean="0"/>
              <a:t>6/25/26</a:t>
            </a:fld>
            <a:endParaRPr lang="en-US"/>
          </a:p>
        </p:txBody>
      </p:sp>
      <p:sp>
        <p:nvSpPr>
          <p:cNvPr id="5" name="Footer Placeholder 4">
            <a:extLst>
              <a:ext uri="{FF2B5EF4-FFF2-40B4-BE49-F238E27FC236}">
                <a16:creationId xmlns:a16="http://schemas.microsoft.com/office/drawing/2014/main" id="{071C572E-FDA0-0AF8-E9D6-7404223C24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F05DDC-EB5E-6D1D-4864-B69789A9BF6D}"/>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38331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91F8-CC60-5E0E-1A9A-71397F0F8D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37D252-AB5D-68E0-C6B6-6425A66562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B87E39-E4B9-C5CD-72F9-97FE599153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154F3B-BE38-DDA4-9241-8E5ED60E2F06}"/>
              </a:ext>
            </a:extLst>
          </p:cNvPr>
          <p:cNvSpPr>
            <a:spLocks noGrp="1"/>
          </p:cNvSpPr>
          <p:nvPr>
            <p:ph type="dt" sz="half" idx="10"/>
          </p:nvPr>
        </p:nvSpPr>
        <p:spPr/>
        <p:txBody>
          <a:bodyPr/>
          <a:lstStyle/>
          <a:p>
            <a:fld id="{3DE51D5E-D8B5-794A-B1D0-EF01185CB4A7}" type="datetimeFigureOut">
              <a:rPr lang="en-US" smtClean="0"/>
              <a:t>6/25/26</a:t>
            </a:fld>
            <a:endParaRPr lang="en-US"/>
          </a:p>
        </p:txBody>
      </p:sp>
      <p:sp>
        <p:nvSpPr>
          <p:cNvPr id="6" name="Footer Placeholder 5">
            <a:extLst>
              <a:ext uri="{FF2B5EF4-FFF2-40B4-BE49-F238E27FC236}">
                <a16:creationId xmlns:a16="http://schemas.microsoft.com/office/drawing/2014/main" id="{A833EA60-8E74-C19C-2A7A-34A86D7879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387140-54B1-94DA-FFDF-A76EDE57144F}"/>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788216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8AC93-D3C4-D878-AC44-2747562475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BAFB80-B1EC-9E82-5614-7BB70BFDCE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81C482-0308-3281-295E-A3E963EA1B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50DDA7-F144-0C09-4E09-A6FC6D4ABC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D56FCA-921B-A935-A241-0E28C3D0AC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13E8E8-90FE-B61F-3AC2-EDB7338FDF66}"/>
              </a:ext>
            </a:extLst>
          </p:cNvPr>
          <p:cNvSpPr>
            <a:spLocks noGrp="1"/>
          </p:cNvSpPr>
          <p:nvPr>
            <p:ph type="dt" sz="half" idx="10"/>
          </p:nvPr>
        </p:nvSpPr>
        <p:spPr/>
        <p:txBody>
          <a:bodyPr/>
          <a:lstStyle/>
          <a:p>
            <a:fld id="{3DE51D5E-D8B5-794A-B1D0-EF01185CB4A7}" type="datetimeFigureOut">
              <a:rPr lang="en-US" smtClean="0"/>
              <a:t>6/25/26</a:t>
            </a:fld>
            <a:endParaRPr lang="en-US"/>
          </a:p>
        </p:txBody>
      </p:sp>
      <p:sp>
        <p:nvSpPr>
          <p:cNvPr id="8" name="Footer Placeholder 7">
            <a:extLst>
              <a:ext uri="{FF2B5EF4-FFF2-40B4-BE49-F238E27FC236}">
                <a16:creationId xmlns:a16="http://schemas.microsoft.com/office/drawing/2014/main" id="{CF8A08EF-C2C1-00E0-2249-0403E6F666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0918C6-AE8B-CC33-102F-5E49B56C0F9F}"/>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694609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AD89D-7707-8686-A8BD-49E24DC9ECB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75BA78-65A3-D90B-A96E-E6E1582B3DFD}"/>
              </a:ext>
            </a:extLst>
          </p:cNvPr>
          <p:cNvSpPr>
            <a:spLocks noGrp="1"/>
          </p:cNvSpPr>
          <p:nvPr>
            <p:ph type="dt" sz="half" idx="10"/>
          </p:nvPr>
        </p:nvSpPr>
        <p:spPr/>
        <p:txBody>
          <a:bodyPr/>
          <a:lstStyle/>
          <a:p>
            <a:fld id="{3DE51D5E-D8B5-794A-B1D0-EF01185CB4A7}" type="datetimeFigureOut">
              <a:rPr lang="en-US" smtClean="0"/>
              <a:t>6/25/26</a:t>
            </a:fld>
            <a:endParaRPr lang="en-US"/>
          </a:p>
        </p:txBody>
      </p:sp>
      <p:sp>
        <p:nvSpPr>
          <p:cNvPr id="4" name="Footer Placeholder 3">
            <a:extLst>
              <a:ext uri="{FF2B5EF4-FFF2-40B4-BE49-F238E27FC236}">
                <a16:creationId xmlns:a16="http://schemas.microsoft.com/office/drawing/2014/main" id="{51D7AAC8-8065-F1AF-E6F8-4E382C99C1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481449-A801-D5C9-729E-0CF9F1A5C2D2}"/>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690917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A7215E-3CF9-0B01-351C-4D483DC346F7}"/>
              </a:ext>
            </a:extLst>
          </p:cNvPr>
          <p:cNvSpPr>
            <a:spLocks noGrp="1"/>
          </p:cNvSpPr>
          <p:nvPr>
            <p:ph type="dt" sz="half" idx="10"/>
          </p:nvPr>
        </p:nvSpPr>
        <p:spPr/>
        <p:txBody>
          <a:bodyPr/>
          <a:lstStyle/>
          <a:p>
            <a:fld id="{3DE51D5E-D8B5-794A-B1D0-EF01185CB4A7}" type="datetimeFigureOut">
              <a:rPr lang="en-US" smtClean="0"/>
              <a:t>6/25/26</a:t>
            </a:fld>
            <a:endParaRPr lang="en-US"/>
          </a:p>
        </p:txBody>
      </p:sp>
      <p:sp>
        <p:nvSpPr>
          <p:cNvPr id="3" name="Footer Placeholder 2">
            <a:extLst>
              <a:ext uri="{FF2B5EF4-FFF2-40B4-BE49-F238E27FC236}">
                <a16:creationId xmlns:a16="http://schemas.microsoft.com/office/drawing/2014/main" id="{8E42D518-636A-6665-0E7A-1AE398C888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A7BEBB-4FC8-13C2-1584-05075190F12D}"/>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595384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AEFFB-0217-6EB4-7EB7-A5E3034322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CC07D9-329F-19AA-1F2C-97B3EA1B42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B65A64-B747-4057-9711-043D7FB06C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0782D0-34C2-117D-E295-9883BDAD2673}"/>
              </a:ext>
            </a:extLst>
          </p:cNvPr>
          <p:cNvSpPr>
            <a:spLocks noGrp="1"/>
          </p:cNvSpPr>
          <p:nvPr>
            <p:ph type="dt" sz="half" idx="10"/>
          </p:nvPr>
        </p:nvSpPr>
        <p:spPr/>
        <p:txBody>
          <a:bodyPr/>
          <a:lstStyle/>
          <a:p>
            <a:fld id="{3DE51D5E-D8B5-794A-B1D0-EF01185CB4A7}" type="datetimeFigureOut">
              <a:rPr lang="en-US" smtClean="0"/>
              <a:t>6/25/26</a:t>
            </a:fld>
            <a:endParaRPr lang="en-US"/>
          </a:p>
        </p:txBody>
      </p:sp>
      <p:sp>
        <p:nvSpPr>
          <p:cNvPr id="6" name="Footer Placeholder 5">
            <a:extLst>
              <a:ext uri="{FF2B5EF4-FFF2-40B4-BE49-F238E27FC236}">
                <a16:creationId xmlns:a16="http://schemas.microsoft.com/office/drawing/2014/main" id="{5955BF6F-0844-11C4-179B-3427F9B5AA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365EBF-E66D-3292-B671-4C5D8E953C06}"/>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581742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8B1BE-D34D-F95D-2CF8-AEC45A600D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C13DF3-D770-4513-E069-5B3F12BA1D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1B6897-8157-8695-BE39-D1EC2165A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28D6C4-2C6E-38A4-EAD7-AAA48460476A}"/>
              </a:ext>
            </a:extLst>
          </p:cNvPr>
          <p:cNvSpPr>
            <a:spLocks noGrp="1"/>
          </p:cNvSpPr>
          <p:nvPr>
            <p:ph type="dt" sz="half" idx="10"/>
          </p:nvPr>
        </p:nvSpPr>
        <p:spPr/>
        <p:txBody>
          <a:bodyPr/>
          <a:lstStyle/>
          <a:p>
            <a:fld id="{3DE51D5E-D8B5-794A-B1D0-EF01185CB4A7}" type="datetimeFigureOut">
              <a:rPr lang="en-US" smtClean="0"/>
              <a:t>6/25/26</a:t>
            </a:fld>
            <a:endParaRPr lang="en-US"/>
          </a:p>
        </p:txBody>
      </p:sp>
      <p:sp>
        <p:nvSpPr>
          <p:cNvPr id="6" name="Footer Placeholder 5">
            <a:extLst>
              <a:ext uri="{FF2B5EF4-FFF2-40B4-BE49-F238E27FC236}">
                <a16:creationId xmlns:a16="http://schemas.microsoft.com/office/drawing/2014/main" id="{E99D329E-CB82-9522-1D51-2606669A6C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D2BB2C-F75F-4AFB-FB72-4C3C1FA1EC9C}"/>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1507313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2A1DC-BA7A-57EF-4306-49D6B009D6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E0B629-09DF-C3EE-00B1-61A73A901E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7AB0AB-7D88-65EB-AD0E-B55135FEC8D8}"/>
              </a:ext>
            </a:extLst>
          </p:cNvPr>
          <p:cNvSpPr>
            <a:spLocks noGrp="1"/>
          </p:cNvSpPr>
          <p:nvPr>
            <p:ph type="dt" sz="half" idx="10"/>
          </p:nvPr>
        </p:nvSpPr>
        <p:spPr/>
        <p:txBody>
          <a:bodyPr/>
          <a:lstStyle/>
          <a:p>
            <a:fld id="{3DE51D5E-D8B5-794A-B1D0-EF01185CB4A7}" type="datetimeFigureOut">
              <a:rPr lang="en-US" smtClean="0"/>
              <a:t>6/25/26</a:t>
            </a:fld>
            <a:endParaRPr lang="en-US"/>
          </a:p>
        </p:txBody>
      </p:sp>
      <p:sp>
        <p:nvSpPr>
          <p:cNvPr id="5" name="Footer Placeholder 4">
            <a:extLst>
              <a:ext uri="{FF2B5EF4-FFF2-40B4-BE49-F238E27FC236}">
                <a16:creationId xmlns:a16="http://schemas.microsoft.com/office/drawing/2014/main" id="{15B8F3B7-B4AB-FAAB-517E-A002A2FF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D259C-DEDE-F7C8-4C5F-A2386723A453}"/>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1664624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80BE55-A368-34C7-8588-ECAAE60A2B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CEF658A-C85F-B2D6-AAFD-B1888FF237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9D4FC2-4C50-89E4-AB62-EB422CB87F81}"/>
              </a:ext>
            </a:extLst>
          </p:cNvPr>
          <p:cNvSpPr>
            <a:spLocks noGrp="1"/>
          </p:cNvSpPr>
          <p:nvPr>
            <p:ph type="dt" sz="half" idx="10"/>
          </p:nvPr>
        </p:nvSpPr>
        <p:spPr/>
        <p:txBody>
          <a:bodyPr/>
          <a:lstStyle/>
          <a:p>
            <a:fld id="{3DE51D5E-D8B5-794A-B1D0-EF01185CB4A7}" type="datetimeFigureOut">
              <a:rPr lang="en-US" smtClean="0"/>
              <a:t>6/25/26</a:t>
            </a:fld>
            <a:endParaRPr lang="en-US"/>
          </a:p>
        </p:txBody>
      </p:sp>
      <p:sp>
        <p:nvSpPr>
          <p:cNvPr id="5" name="Footer Placeholder 4">
            <a:extLst>
              <a:ext uri="{FF2B5EF4-FFF2-40B4-BE49-F238E27FC236}">
                <a16:creationId xmlns:a16="http://schemas.microsoft.com/office/drawing/2014/main" id="{274988C9-3FBA-EE70-03C0-9264878ECF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BEF1D1-803F-62B1-AC6F-06310AA19EAE}"/>
              </a:ext>
            </a:extLst>
          </p:cNvPr>
          <p:cNvSpPr>
            <a:spLocks noGrp="1"/>
          </p:cNvSpPr>
          <p:nvPr>
            <p:ph type="sldNum" sz="quarter" idx="12"/>
          </p:nvPr>
        </p:nvSpPr>
        <p:spPr/>
        <p:txBody>
          <a:bodyPr/>
          <a:lstStyle/>
          <a:p>
            <a:fld id="{C2572DB2-6813-A349-9FBC-83F6FB486039}" type="slidenum">
              <a:rPr lang="en-US" smtClean="0"/>
              <a:t>‹#›</a:t>
            </a:fld>
            <a:endParaRPr lang="en-US"/>
          </a:p>
        </p:txBody>
      </p:sp>
    </p:spTree>
    <p:extLst>
      <p:ext uri="{BB962C8B-B14F-4D97-AF65-F5344CB8AC3E}">
        <p14:creationId xmlns:p14="http://schemas.microsoft.com/office/powerpoint/2010/main" val="20079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09C69-A874-64A9-845B-185FC3EB66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4D691A-DCF4-E1C9-1E6C-5B9472435D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B88F63-4A66-A62A-EDC8-8735FBD076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E51D5E-D8B5-794A-B1D0-EF01185CB4A7}" type="datetimeFigureOut">
              <a:rPr lang="en-US" smtClean="0"/>
              <a:t>6/25/26</a:t>
            </a:fld>
            <a:endParaRPr lang="en-US"/>
          </a:p>
        </p:txBody>
      </p:sp>
      <p:sp>
        <p:nvSpPr>
          <p:cNvPr id="5" name="Footer Placeholder 4">
            <a:extLst>
              <a:ext uri="{FF2B5EF4-FFF2-40B4-BE49-F238E27FC236}">
                <a16:creationId xmlns:a16="http://schemas.microsoft.com/office/drawing/2014/main" id="{31D43CDD-7E2F-B5B7-438B-D613B8C9C0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CB2873-8876-5B79-787B-9B27210C9D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572DB2-6813-A349-9FBC-83F6FB486039}" type="slidenum">
              <a:rPr lang="en-US" smtClean="0"/>
              <a:t>‹#›</a:t>
            </a:fld>
            <a:endParaRPr lang="en-US"/>
          </a:p>
        </p:txBody>
      </p:sp>
    </p:spTree>
    <p:extLst>
      <p:ext uri="{BB962C8B-B14F-4D97-AF65-F5344CB8AC3E}">
        <p14:creationId xmlns:p14="http://schemas.microsoft.com/office/powerpoint/2010/main" val="3762896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23F87-F71C-3F5A-DC4D-846C327940F5}"/>
              </a:ext>
            </a:extLst>
          </p:cNvPr>
          <p:cNvSpPr>
            <a:spLocks noGrp="1"/>
          </p:cNvSpPr>
          <p:nvPr>
            <p:ph type="ctrTitle"/>
          </p:nvPr>
        </p:nvSpPr>
        <p:spPr>
          <a:xfrm>
            <a:off x="1524000" y="1122362"/>
            <a:ext cx="9144000" cy="3271838"/>
          </a:xfrm>
        </p:spPr>
        <p:txBody>
          <a:bodyPr>
            <a:normAutofit/>
          </a:bodyPr>
          <a:lstStyle/>
          <a:p>
            <a:r>
              <a:rPr lang="en-US" dirty="0"/>
              <a:t>Using LLMs to semantically categorize children’s productions of negation</a:t>
            </a:r>
          </a:p>
        </p:txBody>
      </p:sp>
      <p:sp>
        <p:nvSpPr>
          <p:cNvPr id="3" name="Subtitle 2">
            <a:extLst>
              <a:ext uri="{FF2B5EF4-FFF2-40B4-BE49-F238E27FC236}">
                <a16:creationId xmlns:a16="http://schemas.microsoft.com/office/drawing/2014/main" id="{59A651F7-B65A-2856-6DF4-E2ECB68B24CD}"/>
              </a:ext>
            </a:extLst>
          </p:cNvPr>
          <p:cNvSpPr>
            <a:spLocks noGrp="1"/>
          </p:cNvSpPr>
          <p:nvPr>
            <p:ph type="subTitle" idx="1"/>
          </p:nvPr>
        </p:nvSpPr>
        <p:spPr>
          <a:xfrm>
            <a:off x="1524000" y="4660900"/>
            <a:ext cx="9144000" cy="596900"/>
          </a:xfrm>
        </p:spPr>
        <p:txBody>
          <a:bodyPr>
            <a:normAutofit/>
          </a:bodyPr>
          <a:lstStyle/>
          <a:p>
            <a:r>
              <a:rPr lang="en-US" dirty="0"/>
              <a:t>Solar Lab, July 7</a:t>
            </a:r>
            <a:r>
              <a:rPr lang="en-US" baseline="30000" dirty="0"/>
              <a:t>th</a:t>
            </a:r>
            <a:r>
              <a:rPr lang="en-US" dirty="0"/>
              <a:t>, 2026</a:t>
            </a:r>
          </a:p>
        </p:txBody>
      </p:sp>
    </p:spTree>
    <p:extLst>
      <p:ext uri="{BB962C8B-B14F-4D97-AF65-F5344CB8AC3E}">
        <p14:creationId xmlns:p14="http://schemas.microsoft.com/office/powerpoint/2010/main" val="1643562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C2EA6-8310-C8D4-1DEC-6C53FFA46E78}"/>
              </a:ext>
            </a:extLst>
          </p:cNvPr>
          <p:cNvSpPr>
            <a:spLocks noGrp="1"/>
          </p:cNvSpPr>
          <p:nvPr>
            <p:ph type="title"/>
          </p:nvPr>
        </p:nvSpPr>
        <p:spPr>
          <a:xfrm>
            <a:off x="838200" y="69396"/>
            <a:ext cx="10515600" cy="1325563"/>
          </a:xfrm>
        </p:spPr>
        <p:txBody>
          <a:bodyPr/>
          <a:lstStyle/>
          <a:p>
            <a:r>
              <a:rPr lang="en-US" dirty="0"/>
              <a:t>Background: Cross-linguistic corpus analysis</a:t>
            </a:r>
          </a:p>
        </p:txBody>
      </p:sp>
      <p:sp>
        <p:nvSpPr>
          <p:cNvPr id="4" name="TextBox 3">
            <a:extLst>
              <a:ext uri="{FF2B5EF4-FFF2-40B4-BE49-F238E27FC236}">
                <a16:creationId xmlns:a16="http://schemas.microsoft.com/office/drawing/2014/main" id="{B93B3C3C-ACC3-CD71-A628-26872923FA67}"/>
              </a:ext>
            </a:extLst>
          </p:cNvPr>
          <p:cNvSpPr txBox="1"/>
          <p:nvPr/>
        </p:nvSpPr>
        <p:spPr>
          <a:xfrm>
            <a:off x="10889061" y="6514068"/>
            <a:ext cx="1304973"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50000"/>
                  </a:srgbClr>
                </a:solidFill>
                <a:effectLst/>
                <a:uLnTx/>
                <a:uFillTx/>
                <a:latin typeface="Franklin Gothic Book" panose="020B0503020102020204"/>
                <a:ea typeface="+mn-ea"/>
                <a:cs typeface="+mn-cs"/>
              </a:rPr>
              <a:t>Bloom, 1970</a:t>
            </a:r>
          </a:p>
        </p:txBody>
      </p:sp>
      <p:cxnSp>
        <p:nvCxnSpPr>
          <p:cNvPr id="5" name="Straight Arrow Connector 4">
            <a:extLst>
              <a:ext uri="{FF2B5EF4-FFF2-40B4-BE49-F238E27FC236}">
                <a16:creationId xmlns:a16="http://schemas.microsoft.com/office/drawing/2014/main" id="{27550855-0DA9-6E1A-62F1-70F69EEF416E}"/>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49B7700-A000-D738-C1E7-0B8E1BD03BD4}"/>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7" name="TextBox 6">
            <a:extLst>
              <a:ext uri="{FF2B5EF4-FFF2-40B4-BE49-F238E27FC236}">
                <a16:creationId xmlns:a16="http://schemas.microsoft.com/office/drawing/2014/main" id="{20EBF43D-D6A5-0073-F9F2-048D3E1863D4}"/>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8" name="TextBox 7">
            <a:extLst>
              <a:ext uri="{FF2B5EF4-FFF2-40B4-BE49-F238E27FC236}">
                <a16:creationId xmlns:a16="http://schemas.microsoft.com/office/drawing/2014/main" id="{BA8DD488-9B97-212C-B392-D0AC6D760F6A}"/>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9" name="Straight Connector 8">
            <a:extLst>
              <a:ext uri="{FF2B5EF4-FFF2-40B4-BE49-F238E27FC236}">
                <a16:creationId xmlns:a16="http://schemas.microsoft.com/office/drawing/2014/main" id="{70C7B270-4A18-6C74-2F88-614BC45438A5}"/>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5BA3C3A-D1C7-67C4-DCE5-FCF1F49AE9B5}"/>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11" name="Straight Connector 10">
            <a:extLst>
              <a:ext uri="{FF2B5EF4-FFF2-40B4-BE49-F238E27FC236}">
                <a16:creationId xmlns:a16="http://schemas.microsoft.com/office/drawing/2014/main" id="{0B35E52F-8A0F-A03F-BD87-AFDF42855B8E}"/>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E69A87-6032-A743-C079-56DBA3D99102}"/>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0D602A9-5C64-EE6F-31B5-8FAD1D992FCB}"/>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14" name="TextBox 13">
            <a:extLst>
              <a:ext uri="{FF2B5EF4-FFF2-40B4-BE49-F238E27FC236}">
                <a16:creationId xmlns:a16="http://schemas.microsoft.com/office/drawing/2014/main" id="{6B9A5EC1-8C32-6459-9EB9-DCD1827B95BC}"/>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15" name="Rectangle 14">
            <a:extLst>
              <a:ext uri="{FF2B5EF4-FFF2-40B4-BE49-F238E27FC236}">
                <a16:creationId xmlns:a16="http://schemas.microsoft.com/office/drawing/2014/main" id="{2A20A873-9802-3E47-A392-F7A2FEDA2327}"/>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6" descr="Broccoli Clipart Images - Free Download on Freepik">
            <a:extLst>
              <a:ext uri="{FF2B5EF4-FFF2-40B4-BE49-F238E27FC236}">
                <a16:creationId xmlns:a16="http://schemas.microsoft.com/office/drawing/2014/main" id="{5D8D5148-58E3-D365-1BEE-E6E7DD99E1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8976" y="3874719"/>
            <a:ext cx="1180736" cy="104640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2B36838B-C007-584C-7FFE-20149451ED74}"/>
              </a:ext>
            </a:extLst>
          </p:cNvPr>
          <p:cNvPicPr>
            <a:picLocks noChangeAspect="1"/>
          </p:cNvPicPr>
          <p:nvPr/>
        </p:nvPicPr>
        <p:blipFill>
          <a:blip r:embed="rId3"/>
          <a:stretch>
            <a:fillRect/>
          </a:stretch>
        </p:blipFill>
        <p:spPr>
          <a:xfrm>
            <a:off x="2382672" y="5134495"/>
            <a:ext cx="1326314" cy="1326314"/>
          </a:xfrm>
          <a:prstGeom prst="rect">
            <a:avLst/>
          </a:prstGeom>
        </p:spPr>
      </p:pic>
    </p:spTree>
    <p:extLst>
      <p:ext uri="{BB962C8B-B14F-4D97-AF65-F5344CB8AC3E}">
        <p14:creationId xmlns:p14="http://schemas.microsoft.com/office/powerpoint/2010/main" val="349523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0" grpId="0"/>
      <p:bldP spid="13" grpId="0"/>
      <p:bldP spid="14" grpId="0"/>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4535-70AE-F012-20AC-C31FB31AAF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B2F92A2-58AA-D9F6-9176-B4DBF7EF263D}"/>
              </a:ext>
            </a:extLst>
          </p:cNvPr>
          <p:cNvSpPr txBox="1"/>
          <p:nvPr/>
        </p:nvSpPr>
        <p:spPr>
          <a:xfrm>
            <a:off x="3849189" y="1446511"/>
            <a:ext cx="966931"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pic>
        <p:nvPicPr>
          <p:cNvPr id="8" name="Picture 7">
            <a:extLst>
              <a:ext uri="{FF2B5EF4-FFF2-40B4-BE49-F238E27FC236}">
                <a16:creationId xmlns:a16="http://schemas.microsoft.com/office/drawing/2014/main" id="{A7857F7F-C5EE-A39D-B6C1-D4844FEBC404}"/>
              </a:ext>
            </a:extLst>
          </p:cNvPr>
          <p:cNvPicPr>
            <a:picLocks noChangeAspect="1"/>
          </p:cNvPicPr>
          <p:nvPr/>
        </p:nvPicPr>
        <p:blipFill>
          <a:blip r:embed="rId3"/>
          <a:stretch>
            <a:fillRect/>
          </a:stretch>
        </p:blipFill>
        <p:spPr>
          <a:xfrm>
            <a:off x="833027" y="4165170"/>
            <a:ext cx="1326314" cy="1326314"/>
          </a:xfrm>
          <a:prstGeom prst="rect">
            <a:avLst/>
          </a:prstGeom>
        </p:spPr>
      </p:pic>
      <p:sp>
        <p:nvSpPr>
          <p:cNvPr id="9" name="Oval Callout 8">
            <a:extLst>
              <a:ext uri="{FF2B5EF4-FFF2-40B4-BE49-F238E27FC236}">
                <a16:creationId xmlns:a16="http://schemas.microsoft.com/office/drawing/2014/main" id="{04EA6BCD-756F-337C-2177-DB63B5C1962A}"/>
              </a:ext>
            </a:extLst>
          </p:cNvPr>
          <p:cNvSpPr/>
          <p:nvPr/>
        </p:nvSpPr>
        <p:spPr>
          <a:xfrm>
            <a:off x="3191495" y="4606866"/>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10" name="Cloud Callout 9">
            <a:extLst>
              <a:ext uri="{FF2B5EF4-FFF2-40B4-BE49-F238E27FC236}">
                <a16:creationId xmlns:a16="http://schemas.microsoft.com/office/drawing/2014/main" id="{AEA12350-E56C-2F7C-0741-1B692B2A8596}"/>
              </a:ext>
            </a:extLst>
          </p:cNvPr>
          <p:cNvSpPr/>
          <p:nvPr/>
        </p:nvSpPr>
        <p:spPr>
          <a:xfrm>
            <a:off x="2159341" y="2289853"/>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11" name="TextBox 10">
            <a:extLst>
              <a:ext uri="{FF2B5EF4-FFF2-40B4-BE49-F238E27FC236}">
                <a16:creationId xmlns:a16="http://schemas.microsoft.com/office/drawing/2014/main" id="{35891039-C23E-8217-45E6-B0FD170430D6}"/>
              </a:ext>
            </a:extLst>
          </p:cNvPr>
          <p:cNvSpPr txBox="1"/>
          <p:nvPr/>
        </p:nvSpPr>
        <p:spPr>
          <a:xfrm>
            <a:off x="2488180" y="2925541"/>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13" name="Straight Arrow Connector 12">
            <a:extLst>
              <a:ext uri="{FF2B5EF4-FFF2-40B4-BE49-F238E27FC236}">
                <a16:creationId xmlns:a16="http://schemas.microsoft.com/office/drawing/2014/main" id="{1823BD6B-7E03-D6D5-ECBA-8003ADC3581F}"/>
              </a:ext>
            </a:extLst>
          </p:cNvPr>
          <p:cNvCxnSpPr>
            <a:cxnSpLocks/>
            <a:stCxn id="11" idx="2"/>
          </p:cNvCxnSpPr>
          <p:nvPr/>
        </p:nvCxnSpPr>
        <p:spPr>
          <a:xfrm>
            <a:off x="3060613" y="3264095"/>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ACEC959-BE20-50B9-AF07-2A0B13C5C675}"/>
              </a:ext>
            </a:extLst>
          </p:cNvPr>
          <p:cNvSpPr txBox="1"/>
          <p:nvPr/>
        </p:nvSpPr>
        <p:spPr>
          <a:xfrm>
            <a:off x="3186732" y="3228570"/>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17" name="TextBox 16">
            <a:extLst>
              <a:ext uri="{FF2B5EF4-FFF2-40B4-BE49-F238E27FC236}">
                <a16:creationId xmlns:a16="http://schemas.microsoft.com/office/drawing/2014/main" id="{18A9001E-681D-CBA3-C125-A8CBA1C8141E}"/>
              </a:ext>
            </a:extLst>
          </p:cNvPr>
          <p:cNvSpPr txBox="1"/>
          <p:nvPr/>
        </p:nvSpPr>
        <p:spPr>
          <a:xfrm>
            <a:off x="4071046" y="2796234"/>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20" name="Straight Arrow Connector 19">
            <a:extLst>
              <a:ext uri="{FF2B5EF4-FFF2-40B4-BE49-F238E27FC236}">
                <a16:creationId xmlns:a16="http://schemas.microsoft.com/office/drawing/2014/main" id="{E4DADE0A-5DF1-2532-F37B-5397F3FD836B}"/>
              </a:ext>
            </a:extLst>
          </p:cNvPr>
          <p:cNvCxnSpPr>
            <a:cxnSpLocks/>
            <a:stCxn id="14" idx="2"/>
          </p:cNvCxnSpPr>
          <p:nvPr/>
        </p:nvCxnSpPr>
        <p:spPr>
          <a:xfrm>
            <a:off x="3849189" y="3567124"/>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1C5851C-DF01-F31E-DC5B-E854B5F73456}"/>
              </a:ext>
            </a:extLst>
          </p:cNvPr>
          <p:cNvCxnSpPr>
            <a:cxnSpLocks/>
            <a:stCxn id="17" idx="2"/>
          </p:cNvCxnSpPr>
          <p:nvPr/>
        </p:nvCxnSpPr>
        <p:spPr>
          <a:xfrm flipH="1">
            <a:off x="4048057" y="3134788"/>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6FDB06D-08FB-0F4C-4884-14A35AF86F39}"/>
              </a:ext>
            </a:extLst>
          </p:cNvPr>
          <p:cNvSpPr txBox="1"/>
          <p:nvPr/>
        </p:nvSpPr>
        <p:spPr>
          <a:xfrm>
            <a:off x="5014268" y="3248771"/>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Franklin Gothic Book" panose="020B0503020102020204"/>
              </a:rPr>
              <a:t>NEGATION</a:t>
            </a:r>
          </a:p>
        </p:txBody>
      </p:sp>
      <p:sp>
        <p:nvSpPr>
          <p:cNvPr id="25" name="TextBox 24">
            <a:extLst>
              <a:ext uri="{FF2B5EF4-FFF2-40B4-BE49-F238E27FC236}">
                <a16:creationId xmlns:a16="http://schemas.microsoft.com/office/drawing/2014/main" id="{F634EF41-9745-8FFD-5757-973367C10058}"/>
              </a:ext>
            </a:extLst>
          </p:cNvPr>
          <p:cNvSpPr txBox="1"/>
          <p:nvPr/>
        </p:nvSpPr>
        <p:spPr>
          <a:xfrm>
            <a:off x="8951649" y="1446511"/>
            <a:ext cx="1010918" cy="40011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26" name="Oval Callout 25">
            <a:extLst>
              <a:ext uri="{FF2B5EF4-FFF2-40B4-BE49-F238E27FC236}">
                <a16:creationId xmlns:a16="http://schemas.microsoft.com/office/drawing/2014/main" id="{DF86DF81-A65F-0059-E55C-D603F2663588}"/>
              </a:ext>
            </a:extLst>
          </p:cNvPr>
          <p:cNvSpPr/>
          <p:nvPr/>
        </p:nvSpPr>
        <p:spPr>
          <a:xfrm>
            <a:off x="7539397" y="4659093"/>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27" name="Cloud Callout 26">
            <a:extLst>
              <a:ext uri="{FF2B5EF4-FFF2-40B4-BE49-F238E27FC236}">
                <a16:creationId xmlns:a16="http://schemas.microsoft.com/office/drawing/2014/main" id="{FACC6385-0BA3-77FD-7B35-57BA1068DAA7}"/>
              </a:ext>
            </a:extLst>
          </p:cNvPr>
          <p:cNvSpPr/>
          <p:nvPr/>
        </p:nvSpPr>
        <p:spPr>
          <a:xfrm>
            <a:off x="7261801" y="2289853"/>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28" name="TextBox 27">
            <a:extLst>
              <a:ext uri="{FF2B5EF4-FFF2-40B4-BE49-F238E27FC236}">
                <a16:creationId xmlns:a16="http://schemas.microsoft.com/office/drawing/2014/main" id="{EC964A83-A9F6-CE95-74B2-5402606AB77F}"/>
              </a:ext>
            </a:extLst>
          </p:cNvPr>
          <p:cNvSpPr txBox="1"/>
          <p:nvPr/>
        </p:nvSpPr>
        <p:spPr>
          <a:xfrm>
            <a:off x="7590640" y="2925541"/>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sp>
        <p:nvSpPr>
          <p:cNvPr id="29" name="TextBox 28">
            <a:extLst>
              <a:ext uri="{FF2B5EF4-FFF2-40B4-BE49-F238E27FC236}">
                <a16:creationId xmlns:a16="http://schemas.microsoft.com/office/drawing/2014/main" id="{01FD7931-B79A-5A07-5BDA-85BDB09EA433}"/>
              </a:ext>
            </a:extLst>
          </p:cNvPr>
          <p:cNvSpPr txBox="1"/>
          <p:nvPr/>
        </p:nvSpPr>
        <p:spPr>
          <a:xfrm>
            <a:off x="8289192" y="3228570"/>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1" name="TextBox 30">
            <a:extLst>
              <a:ext uri="{FF2B5EF4-FFF2-40B4-BE49-F238E27FC236}">
                <a16:creationId xmlns:a16="http://schemas.microsoft.com/office/drawing/2014/main" id="{248B86BA-5953-E9AB-53BA-11EE39D19AF3}"/>
              </a:ext>
            </a:extLst>
          </p:cNvPr>
          <p:cNvSpPr txBox="1"/>
          <p:nvPr/>
        </p:nvSpPr>
        <p:spPr>
          <a:xfrm>
            <a:off x="9173506" y="2796234"/>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sp>
        <p:nvSpPr>
          <p:cNvPr id="32" name="TextBox 31">
            <a:extLst>
              <a:ext uri="{FF2B5EF4-FFF2-40B4-BE49-F238E27FC236}">
                <a16:creationId xmlns:a16="http://schemas.microsoft.com/office/drawing/2014/main" id="{5D94196C-4ABD-4F28-788D-21DDC8302DE5}"/>
              </a:ext>
            </a:extLst>
          </p:cNvPr>
          <p:cNvSpPr txBox="1"/>
          <p:nvPr/>
        </p:nvSpPr>
        <p:spPr>
          <a:xfrm>
            <a:off x="10116728" y="3248771"/>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Franklin Gothic Book" panose="020B0503020102020204"/>
              </a:rPr>
              <a:t>NEGATION</a:t>
            </a:r>
          </a:p>
        </p:txBody>
      </p:sp>
      <p:sp>
        <p:nvSpPr>
          <p:cNvPr id="33" name="TextBox 32">
            <a:extLst>
              <a:ext uri="{FF2B5EF4-FFF2-40B4-BE49-F238E27FC236}">
                <a16:creationId xmlns:a16="http://schemas.microsoft.com/office/drawing/2014/main" id="{3A3DBAD6-7EF6-1B1D-3A09-960744E6CE3E}"/>
              </a:ext>
            </a:extLst>
          </p:cNvPr>
          <p:cNvSpPr txBox="1"/>
          <p:nvPr/>
        </p:nvSpPr>
        <p:spPr>
          <a:xfrm>
            <a:off x="7813773" y="4962122"/>
            <a:ext cx="3600666"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ayaw</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huwag</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wala</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	“</a:t>
            </a:r>
            <a:r>
              <a:rPr kumimoji="0" lang="en-US" sz="1800" b="0" i="0" u="none" strike="noStrike" kern="1200" cap="none" spc="0" normalizeH="0" baseline="0" noProof="0" dirty="0" err="1">
                <a:ln>
                  <a:noFill/>
                </a:ln>
                <a:solidFill>
                  <a:prstClr val="black"/>
                </a:solidFill>
                <a:effectLst/>
                <a:uLnTx/>
                <a:uFillTx/>
                <a:latin typeface="Franklin Gothic Book" panose="020B0503020102020204"/>
                <a:ea typeface="+mn-ea"/>
                <a:cs typeface="+mn-cs"/>
              </a:rPr>
              <a:t>hindi</a:t>
            </a: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cxnSp>
        <p:nvCxnSpPr>
          <p:cNvPr id="34" name="Straight Arrow Connector 33">
            <a:extLst>
              <a:ext uri="{FF2B5EF4-FFF2-40B4-BE49-F238E27FC236}">
                <a16:creationId xmlns:a16="http://schemas.microsoft.com/office/drawing/2014/main" id="{5F2162C5-EA34-6DA7-0AEE-F9D47B0452D0}"/>
              </a:ext>
            </a:extLst>
          </p:cNvPr>
          <p:cNvCxnSpPr>
            <a:cxnSpLocks/>
          </p:cNvCxnSpPr>
          <p:nvPr/>
        </p:nvCxnSpPr>
        <p:spPr>
          <a:xfrm>
            <a:off x="8133242" y="3297253"/>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F1E175B-0088-43A4-C19C-683866FFD7D6}"/>
              </a:ext>
            </a:extLst>
          </p:cNvPr>
          <p:cNvCxnSpPr>
            <a:cxnSpLocks/>
          </p:cNvCxnSpPr>
          <p:nvPr/>
        </p:nvCxnSpPr>
        <p:spPr>
          <a:xfrm>
            <a:off x="8951649" y="3508815"/>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5779C89-5A40-734C-0481-7F48E0E7DF63}"/>
              </a:ext>
            </a:extLst>
          </p:cNvPr>
          <p:cNvCxnSpPr>
            <a:cxnSpLocks/>
          </p:cNvCxnSpPr>
          <p:nvPr/>
        </p:nvCxnSpPr>
        <p:spPr>
          <a:xfrm>
            <a:off x="9935785" y="3141210"/>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58937D4-7C6A-C3E0-5501-B726007A2992}"/>
              </a:ext>
            </a:extLst>
          </p:cNvPr>
          <p:cNvCxnSpPr>
            <a:cxnSpLocks/>
          </p:cNvCxnSpPr>
          <p:nvPr/>
        </p:nvCxnSpPr>
        <p:spPr>
          <a:xfrm>
            <a:off x="10685265" y="3567124"/>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C30F62F2-F457-E776-9E53-D74EEB56B06F}"/>
              </a:ext>
            </a:extLst>
          </p:cNvPr>
          <p:cNvCxnSpPr>
            <a:cxnSpLocks/>
            <a:stCxn id="23" idx="2"/>
          </p:cNvCxnSpPr>
          <p:nvPr/>
        </p:nvCxnSpPr>
        <p:spPr>
          <a:xfrm flipH="1">
            <a:off x="4071046" y="3587325"/>
            <a:ext cx="1481959" cy="134163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420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p:bldP spid="29" grpId="0"/>
      <p:bldP spid="31" grpId="0"/>
      <p:bldP spid="32"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5EEE623-DDC9-4607-2E0A-A456836204B4}"/>
              </a:ext>
            </a:extLst>
          </p:cNvPr>
          <p:cNvSpPr txBox="1">
            <a:spLocks/>
          </p:cNvSpPr>
          <p:nvPr/>
        </p:nvSpPr>
        <p:spPr>
          <a:xfrm>
            <a:off x="838200" y="220936"/>
            <a:ext cx="9601200" cy="1485900"/>
          </a:xfrm>
          <a:prstGeom prst="rect">
            <a:avLst/>
          </a:prstGeom>
          <a:ln>
            <a:solidFill>
              <a:schemeClr val="bg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Data classification</a:t>
            </a:r>
          </a:p>
        </p:txBody>
      </p:sp>
      <p:graphicFrame>
        <p:nvGraphicFramePr>
          <p:cNvPr id="5" name="Content Placeholder 5">
            <a:extLst>
              <a:ext uri="{FF2B5EF4-FFF2-40B4-BE49-F238E27FC236}">
                <a16:creationId xmlns:a16="http://schemas.microsoft.com/office/drawing/2014/main" id="{19E1BA0E-5F0D-35CE-D343-9F0E056E6772}"/>
              </a:ext>
            </a:extLst>
          </p:cNvPr>
          <p:cNvGraphicFramePr>
            <a:graphicFrameLocks/>
          </p:cNvGraphicFramePr>
          <p:nvPr>
            <p:extLst>
              <p:ext uri="{D42A27DB-BD31-4B8C-83A1-F6EECF244321}">
                <p14:modId xmlns:p14="http://schemas.microsoft.com/office/powerpoint/2010/main" val="3658957625"/>
              </p:ext>
            </p:extLst>
          </p:nvPr>
        </p:nvGraphicFramePr>
        <p:xfrm>
          <a:off x="3537175" y="1428750"/>
          <a:ext cx="5355772" cy="4183841"/>
        </p:xfrm>
        <a:graphic>
          <a:graphicData uri="http://schemas.openxmlformats.org/drawingml/2006/table">
            <a:tbl>
              <a:tblPr firstRow="1" bandRow="1">
                <a:tableStyleId>{5C22544A-7EE6-4342-B048-85BDC9FD1C3A}</a:tableStyleId>
              </a:tblPr>
              <a:tblGrid>
                <a:gridCol w="1608536">
                  <a:extLst>
                    <a:ext uri="{9D8B030D-6E8A-4147-A177-3AD203B41FA5}">
                      <a16:colId xmlns:a16="http://schemas.microsoft.com/office/drawing/2014/main" val="2050137776"/>
                    </a:ext>
                  </a:extLst>
                </a:gridCol>
                <a:gridCol w="3747236">
                  <a:extLst>
                    <a:ext uri="{9D8B030D-6E8A-4147-A177-3AD203B41FA5}">
                      <a16:colId xmlns:a16="http://schemas.microsoft.com/office/drawing/2014/main" val="510998999"/>
                    </a:ext>
                  </a:extLst>
                </a:gridCol>
              </a:tblGrid>
              <a:tr h="688666">
                <a:tc>
                  <a:txBody>
                    <a:bodyPr/>
                    <a:lstStyle/>
                    <a:p>
                      <a:pPr algn="ctr"/>
                      <a:r>
                        <a:rPr lang="en-US" dirty="0"/>
                        <a:t>Bloom (1970)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4184507356"/>
                  </a:ext>
                </a:extLst>
              </a:tr>
              <a:tr h="1136349">
                <a:tc>
                  <a:txBody>
                    <a:bodyPr/>
                    <a:lstStyle/>
                    <a:p>
                      <a:pPr algn="ctr"/>
                      <a:r>
                        <a:rPr lang="en-US" dirty="0"/>
                        <a:t>Rejection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“Do you want broccoli?” 	“No!”</a:t>
                      </a:r>
                    </a:p>
                    <a:p>
                      <a:r>
                        <a:rPr lang="en-US" sz="1800" dirty="0"/>
                        <a:t>“I don’t want broccoli”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792020"/>
                  </a:ext>
                </a:extLst>
              </a:tr>
              <a:tr h="1169970">
                <a:tc>
                  <a:txBody>
                    <a:bodyPr/>
                    <a:lstStyle/>
                    <a:p>
                      <a:pPr algn="ctr"/>
                      <a:r>
                        <a:rPr lang="en-US" dirty="0"/>
                        <a:t>Nonexistence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”There’s no juice”</a:t>
                      </a:r>
                    </a:p>
                    <a:p>
                      <a:r>
                        <a:rPr lang="en-US" sz="1800" dirty="0"/>
                        <a:t>“Mommy doesn’t have any juice”</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4709833"/>
                  </a:ext>
                </a:extLst>
              </a:tr>
              <a:tr h="1188856">
                <a:tc>
                  <a:txBody>
                    <a:bodyPr/>
                    <a:lstStyle/>
                    <a:p>
                      <a:pPr algn="ctr"/>
                      <a:r>
                        <a:rPr lang="en-US" dirty="0"/>
                        <a:t>Denial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800" dirty="0"/>
                        <a:t>“That’s not fire”</a:t>
                      </a:r>
                    </a:p>
                    <a:p>
                      <a:r>
                        <a:rPr lang="en-US" sz="1800" dirty="0"/>
                        <a:t>“I can’t drink water”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3773523"/>
                  </a:ext>
                </a:extLst>
              </a:tr>
            </a:tbl>
          </a:graphicData>
        </a:graphic>
      </p:graphicFrame>
      <p:sp>
        <p:nvSpPr>
          <p:cNvPr id="6" name="Rectangle 5">
            <a:extLst>
              <a:ext uri="{FF2B5EF4-FFF2-40B4-BE49-F238E27FC236}">
                <a16:creationId xmlns:a16="http://schemas.microsoft.com/office/drawing/2014/main" id="{130772D2-E229-B729-1B17-29E88CEE63B9}"/>
              </a:ext>
            </a:extLst>
          </p:cNvPr>
          <p:cNvSpPr/>
          <p:nvPr/>
        </p:nvSpPr>
        <p:spPr>
          <a:xfrm>
            <a:off x="5191127" y="2221707"/>
            <a:ext cx="3495673" cy="9480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2846D33-16F4-F145-31CC-3BBF60C9094C}"/>
              </a:ext>
            </a:extLst>
          </p:cNvPr>
          <p:cNvSpPr/>
          <p:nvPr/>
        </p:nvSpPr>
        <p:spPr>
          <a:xfrm>
            <a:off x="5191128" y="3291029"/>
            <a:ext cx="3495672" cy="9480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BF5AAC2-D6AC-6DF7-FA2F-18C1C372157A}"/>
              </a:ext>
            </a:extLst>
          </p:cNvPr>
          <p:cNvSpPr/>
          <p:nvPr/>
        </p:nvSpPr>
        <p:spPr>
          <a:xfrm>
            <a:off x="5191127" y="4546631"/>
            <a:ext cx="3495673" cy="882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BED8268-0F47-7947-01EC-74FB1F620ACF}"/>
              </a:ext>
            </a:extLst>
          </p:cNvPr>
          <p:cNvSpPr txBox="1"/>
          <p:nvPr/>
        </p:nvSpPr>
        <p:spPr>
          <a:xfrm>
            <a:off x="2546428" y="5850170"/>
            <a:ext cx="7337267" cy="707886"/>
          </a:xfrm>
          <a:prstGeom prst="rect">
            <a:avLst/>
          </a:prstGeom>
          <a:noFill/>
          <a:ln w="28575">
            <a:solidFill>
              <a:schemeClr val="tx2"/>
            </a:solidFill>
          </a:ln>
        </p:spPr>
        <p:txBody>
          <a:bodyPr wrap="square" rtlCol="0">
            <a:spAutoFit/>
          </a:bodyPr>
          <a:lstStyle/>
          <a:p>
            <a:pPr algn="ctr"/>
            <a:r>
              <a:rPr lang="en-US" sz="2000" b="1" dirty="0"/>
              <a:t>Do expressions of Denial emerge earlier in a language like English or a language like Tagalog?</a:t>
            </a:r>
          </a:p>
        </p:txBody>
      </p:sp>
      <p:sp>
        <p:nvSpPr>
          <p:cNvPr id="10" name="TextBox 9">
            <a:extLst>
              <a:ext uri="{FF2B5EF4-FFF2-40B4-BE49-F238E27FC236}">
                <a16:creationId xmlns:a16="http://schemas.microsoft.com/office/drawing/2014/main" id="{BE50CDCF-13A1-517A-854A-43B2536D97B7}"/>
              </a:ext>
            </a:extLst>
          </p:cNvPr>
          <p:cNvSpPr txBox="1"/>
          <p:nvPr/>
        </p:nvSpPr>
        <p:spPr>
          <a:xfrm>
            <a:off x="970995" y="4778447"/>
            <a:ext cx="1950289" cy="707886"/>
          </a:xfrm>
          <a:prstGeom prst="rect">
            <a:avLst/>
          </a:prstGeom>
          <a:noFill/>
        </p:spPr>
        <p:txBody>
          <a:bodyPr wrap="square" rtlCol="0">
            <a:spAutoFit/>
          </a:bodyPr>
          <a:lstStyle/>
          <a:p>
            <a:r>
              <a:rPr lang="en-US" sz="2000" dirty="0"/>
              <a:t>Proxy for logical negation</a:t>
            </a:r>
          </a:p>
        </p:txBody>
      </p:sp>
      <p:cxnSp>
        <p:nvCxnSpPr>
          <p:cNvPr id="11" name="Straight Arrow Connector 10">
            <a:extLst>
              <a:ext uri="{FF2B5EF4-FFF2-40B4-BE49-F238E27FC236}">
                <a16:creationId xmlns:a16="http://schemas.microsoft.com/office/drawing/2014/main" id="{7F66BF09-7E7B-1D02-6E8D-30EBFABDD56A}"/>
              </a:ext>
            </a:extLst>
          </p:cNvPr>
          <p:cNvCxnSpPr>
            <a:cxnSpLocks/>
          </p:cNvCxnSpPr>
          <p:nvPr/>
        </p:nvCxnSpPr>
        <p:spPr>
          <a:xfrm>
            <a:off x="2830265" y="5030721"/>
            <a:ext cx="669191" cy="0"/>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AE3D592D-8BEA-B6EC-9E64-99D30B7A798D}"/>
              </a:ext>
            </a:extLst>
          </p:cNvPr>
          <p:cNvSpPr/>
          <p:nvPr/>
        </p:nvSpPr>
        <p:spPr>
          <a:xfrm>
            <a:off x="3499456" y="4538299"/>
            <a:ext cx="5632163" cy="948034"/>
          </a:xfrm>
          <a:prstGeom prst="roundRect">
            <a:avLst>
              <a:gd name="adj" fmla="val 50000"/>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889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2128C-F864-BAF5-151F-D86B9C94BC5B}"/>
              </a:ext>
            </a:extLst>
          </p:cNvPr>
          <p:cNvSpPr>
            <a:spLocks noGrp="1"/>
          </p:cNvSpPr>
          <p:nvPr>
            <p:ph type="title"/>
          </p:nvPr>
        </p:nvSpPr>
        <p:spPr/>
        <p:txBody>
          <a:bodyPr/>
          <a:lstStyle/>
          <a:p>
            <a:r>
              <a:rPr lang="en-US" dirty="0"/>
              <a:t>Human coded data</a:t>
            </a:r>
          </a:p>
        </p:txBody>
      </p:sp>
      <p:sp>
        <p:nvSpPr>
          <p:cNvPr id="3" name="Content Placeholder 2">
            <a:extLst>
              <a:ext uri="{FF2B5EF4-FFF2-40B4-BE49-F238E27FC236}">
                <a16:creationId xmlns:a16="http://schemas.microsoft.com/office/drawing/2014/main" id="{463FC9EE-38D4-1706-3EC9-80CCC890B58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391618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F3591-2671-1D8B-63DB-1E33A6B16DB4}"/>
              </a:ext>
            </a:extLst>
          </p:cNvPr>
          <p:cNvSpPr>
            <a:spLocks noGrp="1"/>
          </p:cNvSpPr>
          <p:nvPr>
            <p:ph type="title"/>
          </p:nvPr>
        </p:nvSpPr>
        <p:spPr/>
        <p:txBody>
          <a:bodyPr/>
          <a:lstStyle/>
          <a:p>
            <a:r>
              <a:rPr lang="en-US" dirty="0"/>
              <a:t>Inter-coder reliability – theoretical ceiling</a:t>
            </a:r>
          </a:p>
        </p:txBody>
      </p:sp>
      <p:sp>
        <p:nvSpPr>
          <p:cNvPr id="3" name="Content Placeholder 2">
            <a:extLst>
              <a:ext uri="{FF2B5EF4-FFF2-40B4-BE49-F238E27FC236}">
                <a16:creationId xmlns:a16="http://schemas.microsoft.com/office/drawing/2014/main" id="{0D0B234E-6BD6-3532-442C-D803EB79A49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28225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Coding pipeline</a:t>
            </a:r>
          </a:p>
        </p:txBody>
      </p:sp>
      <p:sp>
        <p:nvSpPr>
          <p:cNvPr id="10" name="Box 10"/>
          <p:cNvSpPr/>
          <p:nvPr/>
        </p:nvSpPr>
        <p:spPr>
          <a:xfrm>
            <a:off x="99814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Transcripts + human coding</a:t>
            </a:r>
          </a:p>
          <a:p>
            <a:pPr algn="ctr"/>
            <a:r>
              <a:rPr lang="en-US" sz="1050" dirty="0">
                <a:solidFill>
                  <a:srgbClr val="FFFFFF"/>
                </a:solidFill>
              </a:rPr>
              <a:t>child–caregiver corpora · 2 coders</a:t>
            </a:r>
          </a:p>
        </p:txBody>
      </p:sp>
      <p:sp>
        <p:nvSpPr>
          <p:cNvPr id="11" name="Box 11"/>
          <p:cNvSpPr/>
          <p:nvPr/>
        </p:nvSpPr>
        <p:spPr>
          <a:xfrm>
            <a:off x="456438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Build token dataset</a:t>
            </a:r>
          </a:p>
          <a:p>
            <a:pPr algn="ctr"/>
            <a:r>
              <a:rPr lang="en-US" sz="1050" dirty="0">
                <a:solidFill>
                  <a:srgbClr val="FFFFFF"/>
                </a:solidFill>
              </a:rPr>
              <a:t>9,628 negator tokens + context</a:t>
            </a:r>
          </a:p>
        </p:txBody>
      </p:sp>
      <p:sp>
        <p:nvSpPr>
          <p:cNvPr id="12" name="Box 12"/>
          <p:cNvSpPr/>
          <p:nvPr/>
        </p:nvSpPr>
        <p:spPr>
          <a:xfrm>
            <a:off x="8130620" y="1700000"/>
            <a:ext cx="3063240" cy="1150000"/>
          </a:xfrm>
          <a:prstGeom prst="roundRect">
            <a:avLst>
              <a:gd name="adj" fmla="val 8000"/>
            </a:avLst>
          </a:prstGeom>
          <a:solidFill>
            <a:srgbClr val="15608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Evaluation splits</a:t>
            </a:r>
          </a:p>
          <a:p>
            <a:pPr algn="ctr"/>
            <a:r>
              <a:rPr lang="en-US" sz="1050" dirty="0">
                <a:solidFill>
                  <a:srgbClr val="FFFFFF"/>
                </a:solidFill>
              </a:rPr>
              <a:t>dev_train · dev_check · test_lockbox</a:t>
            </a:r>
          </a:p>
        </p:txBody>
      </p:sp>
      <p:sp>
        <p:nvSpPr>
          <p:cNvPr id="13" name="Box 13"/>
          <p:cNvSpPr/>
          <p:nvPr/>
        </p:nvSpPr>
        <p:spPr>
          <a:xfrm>
            <a:off x="8130620" y="4350000"/>
            <a:ext cx="3063240" cy="1150000"/>
          </a:xfrm>
          <a:prstGeom prst="roundRect">
            <a:avLst>
              <a:gd name="adj" fmla="val 8000"/>
            </a:avLst>
          </a:prstGeom>
          <a:solidFill>
            <a:srgbClr val="E97132"/>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LLM coding</a:t>
            </a:r>
          </a:p>
          <a:p>
            <a:pPr algn="ctr"/>
            <a:r>
              <a:rPr lang="en-US" sz="1050" dirty="0">
                <a:solidFill>
                  <a:srgbClr val="FFFFFF"/>
                </a:solidFill>
              </a:rPr>
              <a:t>gemma4:31b · prompt + policy + schema</a:t>
            </a:r>
          </a:p>
        </p:txBody>
      </p:sp>
      <p:sp>
        <p:nvSpPr>
          <p:cNvPr id="14" name="Box 14"/>
          <p:cNvSpPr/>
          <p:nvPr/>
        </p:nvSpPr>
        <p:spPr>
          <a:xfrm>
            <a:off x="4564380" y="4350000"/>
            <a:ext cx="3063240" cy="1150000"/>
          </a:xfrm>
          <a:prstGeom prst="roundRect">
            <a:avLst>
              <a:gd name="adj" fmla="val 8000"/>
            </a:avLst>
          </a:prstGeom>
          <a:solidFill>
            <a:srgbClr val="0F9ED5"/>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Validated JSON output</a:t>
            </a:r>
          </a:p>
          <a:p>
            <a:pPr algn="ctr"/>
            <a:r>
              <a:rPr lang="en-US" sz="1050" dirty="0">
                <a:solidFill>
                  <a:srgbClr val="FFFFFF"/>
                </a:solidFill>
              </a:rPr>
              <a:t>Bloom label + 6 flags per token</a:t>
            </a:r>
          </a:p>
        </p:txBody>
      </p:sp>
      <p:sp>
        <p:nvSpPr>
          <p:cNvPr id="15" name="Box 15"/>
          <p:cNvSpPr/>
          <p:nvPr/>
        </p:nvSpPr>
        <p:spPr>
          <a:xfrm>
            <a:off x="998140" y="4350000"/>
            <a:ext cx="3063240" cy="1150000"/>
          </a:xfrm>
          <a:prstGeom prst="roundRect">
            <a:avLst>
              <a:gd name="adj" fmla="val 8000"/>
            </a:avLst>
          </a:prstGeom>
          <a:solidFill>
            <a:srgbClr val="196B24"/>
          </a:solidFill>
          <a:ln w="0">
            <a:noFill/>
          </a:ln>
          <a:effectLst>
            <a:outerShdw blurRad="40000" dist="20000" dir="5400000" rotWithShape="0">
              <a:srgbClr val="000000">
                <a:alpha val="22000"/>
              </a:srgbClr>
            </a:outerShdw>
          </a:effectLst>
        </p:spPr>
        <p:txBody>
          <a:bodyPr rtlCol="0" anchor="ctr">
            <a:normAutofit/>
          </a:bodyPr>
          <a:lstStyle/>
          <a:p>
            <a:pPr algn="ctr"/>
            <a:r>
              <a:rPr lang="en-US" sz="1500" b="1" dirty="0">
                <a:solidFill>
                  <a:srgbClr val="FFFFFF"/>
                </a:solidFill>
              </a:rPr>
              <a:t>Score vs. humans</a:t>
            </a:r>
          </a:p>
          <a:p>
            <a:pPr algn="ctr"/>
            <a:r>
              <a:rPr lang="en-US" sz="1050" dirty="0">
                <a:solidFill>
                  <a:srgbClr val="FFFFFF"/>
                </a:solidFill>
              </a:rPr>
              <a:t>agreement % · Cohen’s κ</a:t>
            </a:r>
          </a:p>
        </p:txBody>
      </p:sp>
      <p:cxnSp>
        <p:nvCxnSpPr>
          <p:cNvPr id="20" name="Arrow 20"/>
          <p:cNvCxnSpPr/>
          <p:nvPr/>
        </p:nvCxnSpPr>
        <p:spPr>
          <a:xfrm>
            <a:off x="4061380" y="2275000"/>
            <a:ext cx="503000" cy="0"/>
          </a:xfrm>
          <a:prstGeom prst="straightConnector1">
            <a:avLst/>
          </a:prstGeom>
          <a:ln w="28575" cap="rnd">
            <a:solidFill>
              <a:srgbClr val="0E2841"/>
            </a:solidFill>
            <a:tailEnd type="triangle" w="med" len="med"/>
          </a:ln>
        </p:spPr>
      </p:cxnSp>
      <p:cxnSp>
        <p:nvCxnSpPr>
          <p:cNvPr id="21" name="Arrow 21"/>
          <p:cNvCxnSpPr/>
          <p:nvPr/>
        </p:nvCxnSpPr>
        <p:spPr>
          <a:xfrm>
            <a:off x="7627620" y="2275000"/>
            <a:ext cx="503000" cy="0"/>
          </a:xfrm>
          <a:prstGeom prst="straightConnector1">
            <a:avLst/>
          </a:prstGeom>
          <a:ln w="28575" cap="rnd">
            <a:solidFill>
              <a:srgbClr val="0E2841"/>
            </a:solidFill>
            <a:tailEnd type="triangle" w="med" len="med"/>
          </a:ln>
        </p:spPr>
      </p:cxnSp>
      <p:cxnSp>
        <p:nvCxnSpPr>
          <p:cNvPr id="22" name="Arrow 22"/>
          <p:cNvCxnSpPr/>
          <p:nvPr/>
        </p:nvCxnSpPr>
        <p:spPr>
          <a:xfrm>
            <a:off x="9662240" y="2850000"/>
            <a:ext cx="0" cy="1500000"/>
          </a:xfrm>
          <a:prstGeom prst="straightConnector1">
            <a:avLst/>
          </a:prstGeom>
          <a:ln w="28575" cap="rnd">
            <a:solidFill>
              <a:srgbClr val="0E2841"/>
            </a:solidFill>
            <a:tailEnd type="triangle" w="med" len="med"/>
          </a:ln>
        </p:spPr>
      </p:cxnSp>
      <p:cxnSp>
        <p:nvCxnSpPr>
          <p:cNvPr id="23" name="Arrow 23"/>
          <p:cNvCxnSpPr/>
          <p:nvPr/>
        </p:nvCxnSpPr>
        <p:spPr>
          <a:xfrm flipH="1">
            <a:off x="7627620" y="4925000"/>
            <a:ext cx="503000" cy="0"/>
          </a:xfrm>
          <a:prstGeom prst="straightConnector1">
            <a:avLst/>
          </a:prstGeom>
          <a:ln w="28575" cap="rnd">
            <a:solidFill>
              <a:srgbClr val="0E2841"/>
            </a:solidFill>
            <a:tailEnd type="triangle" w="med" len="med"/>
          </a:ln>
        </p:spPr>
      </p:cxnSp>
      <p:cxnSp>
        <p:nvCxnSpPr>
          <p:cNvPr id="24" name="Arrow 24"/>
          <p:cNvCxnSpPr/>
          <p:nvPr/>
        </p:nvCxnSpPr>
        <p:spPr>
          <a:xfrm flipH="1">
            <a:off x="4061380" y="4925000"/>
            <a:ext cx="503000" cy="0"/>
          </a:xfrm>
          <a:prstGeom prst="straightConnector1">
            <a:avLst/>
          </a:prstGeom>
          <a:ln w="28575" cap="rnd">
            <a:solidFill>
              <a:srgbClr val="0E2841"/>
            </a:solidFill>
            <a:tailEnd type="triangle" w="med" len="med"/>
          </a:ln>
        </p:spPr>
      </p:cxnSp>
      <p:sp>
        <p:nvSpPr>
          <p:cNvPr id="30" name="Feedback loop"/>
          <p:cNvSpPr/>
          <p:nvPr/>
        </p:nvSpPr>
        <p:spPr>
          <a:xfrm>
            <a:off x="2529760" y="5500000"/>
            <a:ext cx="7132480" cy="600000"/>
          </a:xfrm>
          <a:custGeom>
            <a:avLst/>
            <a:gdLst/>
            <a:ahLst/>
            <a:cxnLst/>
            <a:rect l="0" t="0" r="7132480" b="600000"/>
            <a:pathLst>
              <a:path w="7132480" h="600000">
                <a:moveTo>
                  <a:pt x="0" y="0"/>
                </a:moveTo>
                <a:lnTo>
                  <a:pt x="0" y="600000"/>
                </a:lnTo>
                <a:lnTo>
                  <a:pt x="7132480" y="600000"/>
                </a:lnTo>
                <a:lnTo>
                  <a:pt x="7132480" y="0"/>
                </a:lnTo>
              </a:path>
            </a:pathLst>
          </a:custGeom>
          <a:noFill/>
          <a:ln w="22225" cap="rnd">
            <a:solidFill>
              <a:srgbClr val="E97132"/>
            </a:solidFill>
            <a:prstDash val="dash"/>
            <a:tailEnd type="triangle" w="med" len="med"/>
          </a:ln>
        </p:spPr>
        <p:txBody>
          <a:bodyPr/>
          <a:lstStyle/>
          <a:p>
            <a:endParaRPr lang="en-US"/>
          </a:p>
        </p:txBody>
      </p:sp>
      <p:sp>
        <p:nvSpPr>
          <p:cNvPr id="31" name="Feedback label"/>
          <p:cNvSpPr/>
          <p:nvPr/>
        </p:nvSpPr>
        <p:spPr>
          <a:xfrm>
            <a:off x="3186000" y="5900000"/>
            <a:ext cx="5820000" cy="400000"/>
          </a:xfrm>
          <a:prstGeom prst="rect">
            <a:avLst/>
          </a:prstGeom>
          <a:solidFill>
            <a:srgbClr val="FFFFFF"/>
          </a:solidFill>
          <a:ln>
            <a:noFill/>
          </a:ln>
        </p:spPr>
        <p:txBody>
          <a:bodyPr lIns="36000" tIns="0" rIns="36000" bIns="0" rtlCol="0" anchor="ctr">
            <a:noAutofit/>
          </a:bodyPr>
          <a:lstStyle/>
          <a:p>
            <a:pPr algn="ctr"/>
            <a:r>
              <a:rPr lang="en-US" sz="1150" b="1" dirty="0">
                <a:solidFill>
                  <a:srgbClr val="E97132"/>
                </a:solidFill>
              </a:rPr>
              <a:t>error analysis → revise prompt &amp; policy</a:t>
            </a:r>
            <a:r>
              <a:rPr lang="en-US" sz="1150" dirty="0">
                <a:solidFill>
                  <a:srgbClr val="595959"/>
                </a:solidFill>
              </a:rPr>
              <a:t>   (v1 → v2 → v3)</a:t>
            </a:r>
          </a:p>
        </p:txBody>
      </p:sp>
    </p:spTree>
    <p:extLst>
      <p:ext uri="{BB962C8B-B14F-4D97-AF65-F5344CB8AC3E}">
        <p14:creationId xmlns:p14="http://schemas.microsoft.com/office/powerpoint/2010/main" val="1695138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788333" y="157956"/>
            <a:ext cx="10403667" cy="6542088"/>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B1A1F-3D08-EC2B-224E-E013D1388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3C84B-E79D-9315-A94C-CD39A2B3385A}"/>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4EE37135-F675-4C06-B57F-B30C84641AC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C8FC2A7-B273-F66A-9FB2-622C4C1358D5}"/>
              </a:ext>
            </a:extLst>
          </p:cNvPr>
          <p:cNvPicPr>
            <a:picLocks noChangeAspect="1"/>
          </p:cNvPicPr>
          <p:nvPr/>
        </p:nvPicPr>
        <p:blipFill>
          <a:blip r:embed="rId2"/>
          <a:srcRect/>
          <a:stretch/>
        </p:blipFill>
        <p:spPr>
          <a:xfrm>
            <a:off x="2885483" y="157956"/>
            <a:ext cx="8209367" cy="6542088"/>
          </a:xfrm>
          <a:prstGeom prst="rect">
            <a:avLst/>
          </a:prstGeom>
        </p:spPr>
      </p:pic>
    </p:spTree>
    <p:extLst>
      <p:ext uri="{BB962C8B-B14F-4D97-AF65-F5344CB8AC3E}">
        <p14:creationId xmlns:p14="http://schemas.microsoft.com/office/powerpoint/2010/main" val="1055737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368BE-B5F4-639A-20DD-4E0467E9E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ED362-075F-49C4-E206-6EC3BDE47E6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v1</a:t>
            </a:r>
          </a:p>
        </p:txBody>
      </p:sp>
      <p:sp>
        <p:nvSpPr>
          <p:cNvPr id="3" name="Content Placeholder 2">
            <a:extLst>
              <a:ext uri="{FF2B5EF4-FFF2-40B4-BE49-F238E27FC236}">
                <a16:creationId xmlns:a16="http://schemas.microsoft.com/office/drawing/2014/main" id="{E14BBF59-C3FC-2DDF-AC9C-E6ADCBBC39F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7484B72-DD65-9ADA-9AD3-E0C9AFB28ACC}"/>
              </a:ext>
            </a:extLst>
          </p:cNvPr>
          <p:cNvPicPr>
            <a:picLocks noChangeAspect="1"/>
          </p:cNvPicPr>
          <p:nvPr/>
        </p:nvPicPr>
        <p:blipFill>
          <a:blip r:embed="rId2"/>
          <a:srcRect/>
          <a:stretch/>
        </p:blipFill>
        <p:spPr>
          <a:xfrm>
            <a:off x="1863530" y="157956"/>
            <a:ext cx="10253272" cy="6542088"/>
          </a:xfrm>
          <a:prstGeom prst="rect">
            <a:avLst/>
          </a:prstGeom>
        </p:spPr>
      </p:pic>
    </p:spTree>
    <p:extLst>
      <p:ext uri="{BB962C8B-B14F-4D97-AF65-F5344CB8AC3E}">
        <p14:creationId xmlns:p14="http://schemas.microsoft.com/office/powerpoint/2010/main" val="1003355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D581D-FCCD-9F7B-40F1-514C84088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1ECB8-946F-D1E3-7EF1-D18D9E6DC2DA}"/>
              </a:ext>
            </a:extLst>
          </p:cNvPr>
          <p:cNvSpPr>
            <a:spLocks noGrp="1"/>
          </p:cNvSpPr>
          <p:nvPr>
            <p:ph type="title"/>
          </p:nvPr>
        </p:nvSpPr>
        <p:spPr>
          <a:xfrm>
            <a:off x="206529" y="-95966"/>
            <a:ext cx="12100000" cy="877844"/>
          </a:xfrm>
        </p:spPr>
        <p:txBody>
          <a:bodyPr>
            <a:normAutofit/>
          </a:bodyPr>
          <a:lstStyle/>
          <a:p>
            <a:r>
              <a:rPr lang="en-US" sz="2400" dirty="0"/>
              <a:t>LLM–human agreement across versions</a:t>
            </a:r>
          </a:p>
        </p:txBody>
      </p:sp>
      <p:pic>
        <p:nvPicPr>
          <p:cNvPr id="3" name="Picture 2">
            <a:extLst>
              <a:ext uri="{FF2B5EF4-FFF2-40B4-BE49-F238E27FC236}">
                <a16:creationId xmlns:a16="http://schemas.microsoft.com/office/drawing/2014/main" id="{4D62E108-524D-09CA-D284-E004580E3B9B}"/>
              </a:ext>
            </a:extLst>
          </p:cNvPr>
          <p:cNvPicPr>
            <a:picLocks noChangeAspect="1"/>
          </p:cNvPicPr>
          <p:nvPr/>
        </p:nvPicPr>
        <p:blipFill>
          <a:blip r:embed="rId3"/>
          <a:srcRect/>
          <a:stretch/>
        </p:blipFill>
        <p:spPr>
          <a:xfrm>
            <a:off x="113335" y="1022043"/>
            <a:ext cx="11821987" cy="5788793"/>
          </a:xfrm>
          <a:prstGeom prst="rect">
            <a:avLst/>
          </a:prstGeom>
        </p:spPr>
      </p:pic>
      <p:pic>
        <p:nvPicPr>
          <p:cNvPr id="6" name="Picture 5">
            <a:extLst>
              <a:ext uri="{FF2B5EF4-FFF2-40B4-BE49-F238E27FC236}">
                <a16:creationId xmlns:a16="http://schemas.microsoft.com/office/drawing/2014/main" id="{848693FE-EC28-0E8D-E4CA-EC7EA787627B}"/>
              </a:ext>
            </a:extLst>
          </p:cNvPr>
          <p:cNvPicPr>
            <a:picLocks noChangeAspect="1"/>
          </p:cNvPicPr>
          <p:nvPr/>
        </p:nvPicPr>
        <p:blipFill>
          <a:blip r:embed="rId4"/>
          <a:stretch>
            <a:fillRect/>
          </a:stretch>
        </p:blipFill>
        <p:spPr>
          <a:xfrm>
            <a:off x="9568069" y="1176134"/>
            <a:ext cx="2017643" cy="5044108"/>
          </a:xfrm>
          <a:prstGeom prst="rect">
            <a:avLst/>
          </a:prstGeom>
        </p:spPr>
      </p:pic>
      <p:sp>
        <p:nvSpPr>
          <p:cNvPr id="7" name="Rectangle 6">
            <a:extLst>
              <a:ext uri="{FF2B5EF4-FFF2-40B4-BE49-F238E27FC236}">
                <a16:creationId xmlns:a16="http://schemas.microsoft.com/office/drawing/2014/main" id="{BD5EC79F-E4B1-3433-E3CB-1312278A32BF}"/>
              </a:ext>
            </a:extLst>
          </p:cNvPr>
          <p:cNvSpPr/>
          <p:nvPr/>
        </p:nvSpPr>
        <p:spPr>
          <a:xfrm>
            <a:off x="4717774" y="1022043"/>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0A6375C-2C29-1017-272D-E9F5004595B7}"/>
              </a:ext>
            </a:extLst>
          </p:cNvPr>
          <p:cNvSpPr txBox="1"/>
          <p:nvPr/>
        </p:nvSpPr>
        <p:spPr>
          <a:xfrm>
            <a:off x="4596310" y="652711"/>
            <a:ext cx="2363276" cy="369332"/>
          </a:xfrm>
          <a:prstGeom prst="rect">
            <a:avLst/>
          </a:prstGeom>
          <a:noFill/>
        </p:spPr>
        <p:txBody>
          <a:bodyPr wrap="none" rtlCol="0">
            <a:spAutoFit/>
          </a:bodyPr>
          <a:lstStyle/>
          <a:p>
            <a:pPr algn="ctr"/>
            <a:r>
              <a:rPr lang="en-US" dirty="0">
                <a:solidFill>
                  <a:srgbClr val="FF0000"/>
                </a:solidFill>
              </a:rPr>
              <a:t>Prompt contaminated</a:t>
            </a:r>
          </a:p>
        </p:txBody>
      </p:sp>
      <p:sp>
        <p:nvSpPr>
          <p:cNvPr id="9" name="Rectangle 8">
            <a:extLst>
              <a:ext uri="{FF2B5EF4-FFF2-40B4-BE49-F238E27FC236}">
                <a16:creationId xmlns:a16="http://schemas.microsoft.com/office/drawing/2014/main" id="{D2FEAFC0-2B0B-27AF-2DF4-8C99603147E7}"/>
              </a:ext>
            </a:extLst>
          </p:cNvPr>
          <p:cNvSpPr/>
          <p:nvPr/>
        </p:nvSpPr>
        <p:spPr>
          <a:xfrm>
            <a:off x="10893287" y="5738191"/>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4E363997-26D0-B8FE-B532-7D74BA121142}"/>
              </a:ext>
            </a:extLst>
          </p:cNvPr>
          <p:cNvSpPr/>
          <p:nvPr/>
        </p:nvSpPr>
        <p:spPr>
          <a:xfrm rot="5400000">
            <a:off x="10665020" y="583433"/>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77E77D0B-D20B-5179-9EA9-04A0475485A4}"/>
              </a:ext>
            </a:extLst>
          </p:cNvPr>
          <p:cNvSpPr txBox="1"/>
          <p:nvPr/>
        </p:nvSpPr>
        <p:spPr>
          <a:xfrm>
            <a:off x="9914111" y="717295"/>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sp>
        <p:nvSpPr>
          <p:cNvPr id="4" name="Rectangle 3">
            <a:extLst>
              <a:ext uri="{FF2B5EF4-FFF2-40B4-BE49-F238E27FC236}">
                <a16:creationId xmlns:a16="http://schemas.microsoft.com/office/drawing/2014/main" id="{7A4A1724-2D48-8125-748A-0560A7DFA44A}"/>
              </a:ext>
            </a:extLst>
          </p:cNvPr>
          <p:cNvSpPr/>
          <p:nvPr/>
        </p:nvSpPr>
        <p:spPr>
          <a:xfrm>
            <a:off x="3710609" y="652711"/>
            <a:ext cx="8083826" cy="57887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2124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changed: v1 → v2</a:t>
            </a:r>
          </a:p>
        </p:txBody>
      </p:sp>
      <p:sp>
        <p:nvSpPr>
          <p:cNvPr id="3" name="Content Placeholder 2"/>
          <p:cNvSpPr>
            <a:spLocks noGrp="1"/>
          </p:cNvSpPr>
          <p:nvPr>
            <p:ph idx="1"/>
          </p:nvPr>
        </p:nvSpPr>
        <p:spPr/>
        <p:txBody>
          <a:bodyPr>
            <a:normAutofit/>
          </a:bodyPr>
          <a:lstStyle/>
          <a:p>
            <a:pPr>
              <a:buNone/>
            </a:pPr>
            <a:r>
              <a:rPr lang="en-US" sz="1600" b="1" i="1" dirty="0"/>
              <a:t>Why: </a:t>
            </a:r>
            <a:r>
              <a:rPr lang="en-US" sz="1600" i="1" dirty="0"/>
              <a:t>v1 agreement (50–61%) sat below the 72% human–human ceiling; one error analysis drove every change.</a:t>
            </a:r>
          </a:p>
          <a:p>
            <a:r>
              <a:rPr lang="en-US" sz="1700" b="1" dirty="0"/>
              <a:t>Reason before label.  </a:t>
            </a:r>
            <a:r>
              <a:rPr lang="en-US" sz="1700" dirty="0"/>
              <a:t>Output writes comments first, then bloom_label — closes the “reasoned X, emitted Y” gap (the main structural fix).</a:t>
            </a:r>
          </a:p>
          <a:p>
            <a:r>
              <a:rPr lang="en-US" sz="1700" b="1" dirty="0"/>
              <a:t>Rejection tightened.  </a:t>
            </a:r>
            <a:r>
              <a:rPr lang="en-US" sz="1700" dirty="0"/>
              <a:t>Must oppose a thing/offer/action in play; a negation that answers a statement is Denial — curbs v1’s over-use of Rejection.</a:t>
            </a:r>
          </a:p>
          <a:p>
            <a:r>
              <a:rPr lang="en-US" sz="1700" b="1" dirty="0"/>
              <a:t>Negative imperatives split.  </a:t>
            </a:r>
            <a:r>
              <a:rPr lang="en-US" sz="1700" dirty="0"/>
              <a:t>Stop a specific action = Rejection; restate a rule or norm = Denial.</a:t>
            </a:r>
          </a:p>
          <a:p>
            <a:r>
              <a:rPr lang="en-US" sz="1700" b="1" dirty="0"/>
              <a:t>Excluded narrowed.  </a:t>
            </a:r>
            <a:r>
              <a:rPr lang="en-US" sz="1700" dirty="0"/>
              <a:t>Only valid with a licensing flag; unintelligible-but-real negation now codes Uncoded.</a:t>
            </a:r>
          </a:p>
          <a:p>
            <a:r>
              <a:rPr lang="en-US" sz="1700" b="1" dirty="0"/>
              <a:t>Repetition made within-utterance.  </a:t>
            </a:r>
            <a:r>
              <a:rPr lang="en-US" sz="1700" dirty="0"/>
              <a:t>Token-position fields added so the model knows which negator token it is coding.</a:t>
            </a:r>
          </a:p>
          <a:p>
            <a:r>
              <a:rPr lang="en-US" sz="1700" b="1" dirty="0"/>
              <a:t>Six worked examples added, </a:t>
            </a:r>
            <a:r>
              <a:rPr lang="en-US" sz="1700" dirty="0"/>
              <a:t>one per observed v1 error.</a:t>
            </a:r>
          </a:p>
          <a:p>
            <a:r>
              <a:rPr lang="en-US" sz="1800" b="1" dirty="0">
                <a:solidFill>
                  <a:srgbClr val="FF0000"/>
                </a:solidFill>
              </a:rPr>
              <a:t>BUT the prompt examples were precisely the lines to be coded -- lol</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503953" y="250000"/>
            <a:ext cx="8934094"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888142" y="250000"/>
            <a:ext cx="8165716"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3030520" y="250000"/>
            <a:ext cx="7880959"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v2</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680724" y="250000"/>
            <a:ext cx="8580552"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6FA33-31D0-0BDC-1CE1-66987CE9D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891D4-F30D-63F5-B5B9-C8BCF0766B0C}"/>
              </a:ext>
            </a:extLst>
          </p:cNvPr>
          <p:cNvSpPr>
            <a:spLocks noGrp="1"/>
          </p:cNvSpPr>
          <p:nvPr>
            <p:ph type="title"/>
          </p:nvPr>
        </p:nvSpPr>
        <p:spPr>
          <a:xfrm>
            <a:off x="206529" y="-95966"/>
            <a:ext cx="12100000" cy="877844"/>
          </a:xfrm>
        </p:spPr>
        <p:txBody>
          <a:bodyPr>
            <a:normAutofit/>
          </a:bodyPr>
          <a:lstStyle/>
          <a:p>
            <a:r>
              <a:rPr lang="en-US" sz="2400" dirty="0"/>
              <a:t>LLM–human agreement across versions</a:t>
            </a:r>
          </a:p>
        </p:txBody>
      </p:sp>
      <p:pic>
        <p:nvPicPr>
          <p:cNvPr id="3" name="Picture 2">
            <a:extLst>
              <a:ext uri="{FF2B5EF4-FFF2-40B4-BE49-F238E27FC236}">
                <a16:creationId xmlns:a16="http://schemas.microsoft.com/office/drawing/2014/main" id="{684FD073-C1C0-F624-23AA-3629E1C1A121}"/>
              </a:ext>
            </a:extLst>
          </p:cNvPr>
          <p:cNvPicPr>
            <a:picLocks noChangeAspect="1"/>
          </p:cNvPicPr>
          <p:nvPr/>
        </p:nvPicPr>
        <p:blipFill>
          <a:blip r:embed="rId3"/>
          <a:srcRect/>
          <a:stretch/>
        </p:blipFill>
        <p:spPr>
          <a:xfrm>
            <a:off x="113335" y="1022043"/>
            <a:ext cx="11821987" cy="5788793"/>
          </a:xfrm>
          <a:prstGeom prst="rect">
            <a:avLst/>
          </a:prstGeom>
        </p:spPr>
      </p:pic>
      <p:pic>
        <p:nvPicPr>
          <p:cNvPr id="6" name="Picture 5">
            <a:extLst>
              <a:ext uri="{FF2B5EF4-FFF2-40B4-BE49-F238E27FC236}">
                <a16:creationId xmlns:a16="http://schemas.microsoft.com/office/drawing/2014/main" id="{F72D4C85-0242-B994-D807-FCC957B400DD}"/>
              </a:ext>
            </a:extLst>
          </p:cNvPr>
          <p:cNvPicPr>
            <a:picLocks noChangeAspect="1"/>
          </p:cNvPicPr>
          <p:nvPr/>
        </p:nvPicPr>
        <p:blipFill>
          <a:blip r:embed="rId4"/>
          <a:stretch>
            <a:fillRect/>
          </a:stretch>
        </p:blipFill>
        <p:spPr>
          <a:xfrm>
            <a:off x="9568069" y="1176134"/>
            <a:ext cx="2017643" cy="5044108"/>
          </a:xfrm>
          <a:prstGeom prst="rect">
            <a:avLst/>
          </a:prstGeom>
        </p:spPr>
      </p:pic>
      <p:sp>
        <p:nvSpPr>
          <p:cNvPr id="7" name="Rectangle 6">
            <a:extLst>
              <a:ext uri="{FF2B5EF4-FFF2-40B4-BE49-F238E27FC236}">
                <a16:creationId xmlns:a16="http://schemas.microsoft.com/office/drawing/2014/main" id="{98A0A2F1-DCC7-32BC-CCF1-3B3C6B3D9D3C}"/>
              </a:ext>
            </a:extLst>
          </p:cNvPr>
          <p:cNvSpPr/>
          <p:nvPr/>
        </p:nvSpPr>
        <p:spPr>
          <a:xfrm>
            <a:off x="4717774" y="1022043"/>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60CF163-1128-A5A6-15E6-6EBE2527999A}"/>
              </a:ext>
            </a:extLst>
          </p:cNvPr>
          <p:cNvSpPr txBox="1"/>
          <p:nvPr/>
        </p:nvSpPr>
        <p:spPr>
          <a:xfrm>
            <a:off x="4596310" y="652711"/>
            <a:ext cx="2363276" cy="369332"/>
          </a:xfrm>
          <a:prstGeom prst="rect">
            <a:avLst/>
          </a:prstGeom>
          <a:noFill/>
        </p:spPr>
        <p:txBody>
          <a:bodyPr wrap="none" rtlCol="0">
            <a:spAutoFit/>
          </a:bodyPr>
          <a:lstStyle/>
          <a:p>
            <a:pPr algn="ctr"/>
            <a:r>
              <a:rPr lang="en-US" dirty="0">
                <a:solidFill>
                  <a:srgbClr val="FF0000"/>
                </a:solidFill>
              </a:rPr>
              <a:t>Prompt contaminated</a:t>
            </a:r>
          </a:p>
        </p:txBody>
      </p:sp>
      <p:sp>
        <p:nvSpPr>
          <p:cNvPr id="9" name="Rectangle 8">
            <a:extLst>
              <a:ext uri="{FF2B5EF4-FFF2-40B4-BE49-F238E27FC236}">
                <a16:creationId xmlns:a16="http://schemas.microsoft.com/office/drawing/2014/main" id="{BD71518B-03B0-28B6-CD61-2CA323692D2D}"/>
              </a:ext>
            </a:extLst>
          </p:cNvPr>
          <p:cNvSpPr/>
          <p:nvPr/>
        </p:nvSpPr>
        <p:spPr>
          <a:xfrm>
            <a:off x="10893287" y="5738191"/>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3DD99217-FBD9-40CB-8F99-C63F5EAAF736}"/>
              </a:ext>
            </a:extLst>
          </p:cNvPr>
          <p:cNvSpPr/>
          <p:nvPr/>
        </p:nvSpPr>
        <p:spPr>
          <a:xfrm rot="5400000">
            <a:off x="10665020" y="583433"/>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68888EE6-5371-6808-6356-DCB4F5E1EB40}"/>
              </a:ext>
            </a:extLst>
          </p:cNvPr>
          <p:cNvSpPr txBox="1"/>
          <p:nvPr/>
        </p:nvSpPr>
        <p:spPr>
          <a:xfrm>
            <a:off x="9914111" y="717295"/>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sp>
        <p:nvSpPr>
          <p:cNvPr id="4" name="Rectangle 3">
            <a:extLst>
              <a:ext uri="{FF2B5EF4-FFF2-40B4-BE49-F238E27FC236}">
                <a16:creationId xmlns:a16="http://schemas.microsoft.com/office/drawing/2014/main" id="{B648E39C-6A18-9D9F-EC27-57CC7529A99E}"/>
              </a:ext>
            </a:extLst>
          </p:cNvPr>
          <p:cNvSpPr/>
          <p:nvPr/>
        </p:nvSpPr>
        <p:spPr>
          <a:xfrm>
            <a:off x="7195929" y="652711"/>
            <a:ext cx="4598505" cy="55675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4184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changed: v2 → v3</a:t>
            </a:r>
          </a:p>
        </p:txBody>
      </p:sp>
      <p:sp>
        <p:nvSpPr>
          <p:cNvPr id="3" name="Content Placeholder 2"/>
          <p:cNvSpPr>
            <a:spLocks noGrp="1"/>
          </p:cNvSpPr>
          <p:nvPr>
            <p:ph idx="1"/>
          </p:nvPr>
        </p:nvSpPr>
        <p:spPr/>
        <p:txBody>
          <a:bodyPr>
            <a:normAutofit/>
          </a:bodyPr>
          <a:lstStyle/>
          <a:p>
            <a:pPr>
              <a:buNone/>
            </a:pPr>
            <a:r>
              <a:rPr lang="en-US" sz="1600" b="1" i="1" dirty="0"/>
              <a:t>Why: </a:t>
            </a:r>
            <a:r>
              <a:rPr lang="en-US" sz="1600" i="1" dirty="0"/>
              <a:t>v2 already beat the human ceiling; v3 refines the remaining split-vote rows and hardens the pipeline.</a:t>
            </a:r>
          </a:p>
          <a:p>
            <a:r>
              <a:rPr lang="en-US" sz="1700" b="1" dirty="0"/>
              <a:t>Interlocutor uptake is now the top principle.  </a:t>
            </a:r>
            <a:r>
              <a:rPr lang="en-US" sz="1700" dirty="0"/>
              <a:t>How speakers respond reveals how they read the negation: pleading/bargaining → Rejection; re-asserting/correcting → Denial.</a:t>
            </a:r>
          </a:p>
          <a:p>
            <a:r>
              <a:rPr lang="en-US" sz="1700" b="1" dirty="0"/>
              <a:t>“Two traps” → “three traps.”  </a:t>
            </a:r>
            <a:r>
              <a:rPr lang="en-US" sz="1700" dirty="0"/>
              <a:t>A statement that functions as a proposal or request (“…okay?”) is Rejection, not Denial.</a:t>
            </a:r>
          </a:p>
          <a:p>
            <a:r>
              <a:rPr lang="en-US" sz="1700" b="1" dirty="0"/>
              <a:t>Attitude verbs sharpened.  </a:t>
            </a:r>
            <a:r>
              <a:rPr lang="en-US" sz="1700" dirty="0"/>
              <a:t>Resisting an item in an active exchange (with a counter-proposal) = Rejection.</a:t>
            </a:r>
          </a:p>
          <a:p>
            <a:r>
              <a:rPr lang="en-US" sz="1700" b="1" dirty="0"/>
              <a:t>Restate every label before emitting JSON.  </a:t>
            </a:r>
            <a:r>
              <a:rPr lang="en-US" sz="1700" dirty="0"/>
              <a:t>Kills the last reasoning/output flip in batched runs.</a:t>
            </a:r>
          </a:p>
          <a:p>
            <a:r>
              <a:rPr lang="en-US" sz="1700" b="1" dirty="0"/>
              <a:t>Structured outputs.  </a:t>
            </a:r>
            <a:r>
              <a:rPr lang="en-US" sz="1700" dirty="0"/>
              <a:t>The schema now grammar-constrains decoding — the model cannot emit invented keys, out-of-enum labels, or wrong IDs.</a:t>
            </a:r>
          </a:p>
          <a:p>
            <a:r>
              <a:rPr lang="en-US" sz="1700" b="1" dirty="0"/>
              <a:t>Contamination control.  </a:t>
            </a:r>
            <a:r>
              <a:rPr lang="en-US" sz="1700" dirty="0"/>
              <a:t>Example items paraphrased out; the 20 mined rows excluded from headline metrics; evaluate on the full dev_train split.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503953" y="250000"/>
            <a:ext cx="8934094"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900571" y="250000"/>
            <a:ext cx="8140858"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1880000" y="636058"/>
            <a:ext cx="10182000" cy="5635883"/>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317394" y="250000"/>
            <a:ext cx="9307211"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14C-E4F7-6205-148C-A7A5A668DBEF}"/>
              </a:ext>
            </a:extLst>
          </p:cNvPr>
          <p:cNvSpPr>
            <a:spLocks noGrp="1"/>
          </p:cNvSpPr>
          <p:nvPr>
            <p:ph type="title"/>
          </p:nvPr>
        </p:nvSpPr>
        <p:spPr>
          <a:xfrm>
            <a:off x="-21335" y="23304"/>
            <a:ext cx="10515600" cy="1325563"/>
          </a:xfrm>
        </p:spPr>
        <p:txBody>
          <a:bodyPr>
            <a:normAutofit/>
          </a:bodyPr>
          <a:lstStyle/>
          <a:p>
            <a:r>
              <a:rPr lang="en-US" sz="3200" dirty="0"/>
              <a:t>Prompt</a:t>
            </a:r>
            <a:br>
              <a:rPr lang="en-US" sz="3200" dirty="0"/>
            </a:br>
            <a:r>
              <a:rPr lang="en-US" sz="3200" dirty="0"/>
              <a:t>v3</a:t>
            </a:r>
          </a:p>
        </p:txBody>
      </p:sp>
      <p:sp>
        <p:nvSpPr>
          <p:cNvPr id="3" name="Content Placeholder 2">
            <a:extLst>
              <a:ext uri="{FF2B5EF4-FFF2-40B4-BE49-F238E27FC236}">
                <a16:creationId xmlns:a16="http://schemas.microsoft.com/office/drawing/2014/main" id="{8021EBB6-B5F8-A2D5-E402-88D78555E81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64E6CEB-BDB7-7B78-994C-E2B5CA2B0B06}"/>
              </a:ext>
            </a:extLst>
          </p:cNvPr>
          <p:cNvPicPr>
            <a:picLocks noChangeAspect="1"/>
          </p:cNvPicPr>
          <p:nvPr/>
        </p:nvPicPr>
        <p:blipFill>
          <a:blip r:embed="rId2"/>
          <a:stretch>
            <a:fillRect/>
          </a:stretch>
        </p:blipFill>
        <p:spPr>
          <a:xfrm>
            <a:off x="2914975" y="250000"/>
            <a:ext cx="8112049" cy="6408000"/>
          </a:xfrm>
          <a:prstGeom prst="rect">
            <a:avLst/>
          </a:prstGeom>
        </p:spPr>
      </p:pic>
    </p:spTree>
    <p:extLst>
      <p:ext uri="{BB962C8B-B14F-4D97-AF65-F5344CB8AC3E}">
        <p14:creationId xmlns:p14="http://schemas.microsoft.com/office/powerpoint/2010/main" val="4205422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529" y="-95966"/>
            <a:ext cx="12100000" cy="877844"/>
          </a:xfrm>
        </p:spPr>
        <p:txBody>
          <a:bodyPr>
            <a:normAutofit/>
          </a:bodyPr>
          <a:lstStyle/>
          <a:p>
            <a:r>
              <a:rPr lang="en-US" sz="2400" dirty="0"/>
              <a:t>LLM–human agreement across versions</a:t>
            </a:r>
          </a:p>
        </p:txBody>
      </p:sp>
      <p:pic>
        <p:nvPicPr>
          <p:cNvPr id="3" name="Picture 2">
            <a:extLst>
              <a:ext uri="{FF2B5EF4-FFF2-40B4-BE49-F238E27FC236}">
                <a16:creationId xmlns:a16="http://schemas.microsoft.com/office/drawing/2014/main" id="{1F6D04A0-D4B8-DDED-3819-93BC90569241}"/>
              </a:ext>
            </a:extLst>
          </p:cNvPr>
          <p:cNvPicPr>
            <a:picLocks noChangeAspect="1"/>
          </p:cNvPicPr>
          <p:nvPr/>
        </p:nvPicPr>
        <p:blipFill>
          <a:blip r:embed="rId3"/>
          <a:srcRect/>
          <a:stretch/>
        </p:blipFill>
        <p:spPr>
          <a:xfrm>
            <a:off x="113335" y="1022043"/>
            <a:ext cx="11821987" cy="5788793"/>
          </a:xfrm>
          <a:prstGeom prst="rect">
            <a:avLst/>
          </a:prstGeom>
        </p:spPr>
      </p:pic>
      <p:pic>
        <p:nvPicPr>
          <p:cNvPr id="6" name="Picture 5">
            <a:extLst>
              <a:ext uri="{FF2B5EF4-FFF2-40B4-BE49-F238E27FC236}">
                <a16:creationId xmlns:a16="http://schemas.microsoft.com/office/drawing/2014/main" id="{6CCCC4E8-E439-DDEB-4F70-9EA489BC710B}"/>
              </a:ext>
            </a:extLst>
          </p:cNvPr>
          <p:cNvPicPr>
            <a:picLocks noChangeAspect="1"/>
          </p:cNvPicPr>
          <p:nvPr/>
        </p:nvPicPr>
        <p:blipFill>
          <a:blip r:embed="rId4"/>
          <a:stretch>
            <a:fillRect/>
          </a:stretch>
        </p:blipFill>
        <p:spPr>
          <a:xfrm>
            <a:off x="9568069" y="1176134"/>
            <a:ext cx="2017643" cy="5044108"/>
          </a:xfrm>
          <a:prstGeom prst="rect">
            <a:avLst/>
          </a:prstGeom>
        </p:spPr>
      </p:pic>
      <p:sp>
        <p:nvSpPr>
          <p:cNvPr id="7" name="Rectangle 6">
            <a:extLst>
              <a:ext uri="{FF2B5EF4-FFF2-40B4-BE49-F238E27FC236}">
                <a16:creationId xmlns:a16="http://schemas.microsoft.com/office/drawing/2014/main" id="{86582BF8-308B-8B97-E8A2-9A4B95C3CA89}"/>
              </a:ext>
            </a:extLst>
          </p:cNvPr>
          <p:cNvSpPr/>
          <p:nvPr/>
        </p:nvSpPr>
        <p:spPr>
          <a:xfrm>
            <a:off x="4717774" y="1022043"/>
            <a:ext cx="2120348" cy="5198199"/>
          </a:xfrm>
          <a:prstGeom prst="rect">
            <a:avLst/>
          </a:prstGeom>
          <a:solidFill>
            <a:srgbClr val="FF0000">
              <a:alpha val="1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3949E29-86EB-FB71-E53A-FE027CD2BCFE}"/>
              </a:ext>
            </a:extLst>
          </p:cNvPr>
          <p:cNvSpPr txBox="1"/>
          <p:nvPr/>
        </p:nvSpPr>
        <p:spPr>
          <a:xfrm>
            <a:off x="4596310" y="652711"/>
            <a:ext cx="2363276" cy="369332"/>
          </a:xfrm>
          <a:prstGeom prst="rect">
            <a:avLst/>
          </a:prstGeom>
          <a:noFill/>
        </p:spPr>
        <p:txBody>
          <a:bodyPr wrap="none" rtlCol="0">
            <a:spAutoFit/>
          </a:bodyPr>
          <a:lstStyle/>
          <a:p>
            <a:pPr algn="ctr"/>
            <a:r>
              <a:rPr lang="en-US" dirty="0">
                <a:solidFill>
                  <a:srgbClr val="FF0000"/>
                </a:solidFill>
              </a:rPr>
              <a:t>Prompt contaminated</a:t>
            </a:r>
          </a:p>
        </p:txBody>
      </p:sp>
      <p:sp>
        <p:nvSpPr>
          <p:cNvPr id="9" name="Rectangle 8">
            <a:extLst>
              <a:ext uri="{FF2B5EF4-FFF2-40B4-BE49-F238E27FC236}">
                <a16:creationId xmlns:a16="http://schemas.microsoft.com/office/drawing/2014/main" id="{76B3318C-2378-4466-A51B-9097F9C9D3F9}"/>
              </a:ext>
            </a:extLst>
          </p:cNvPr>
          <p:cNvSpPr/>
          <p:nvPr/>
        </p:nvSpPr>
        <p:spPr>
          <a:xfrm>
            <a:off x="10893287" y="5738191"/>
            <a:ext cx="490330" cy="234557"/>
          </a:xfrm>
          <a:prstGeom prst="rect">
            <a:avLst/>
          </a:prstGeom>
          <a:solidFill>
            <a:srgbClr val="FFFF00">
              <a:alpha val="17744"/>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 Bracket 9">
            <a:extLst>
              <a:ext uri="{FF2B5EF4-FFF2-40B4-BE49-F238E27FC236}">
                <a16:creationId xmlns:a16="http://schemas.microsoft.com/office/drawing/2014/main" id="{CD6116AC-C1AC-32A5-796F-03EBC13B1F16}"/>
              </a:ext>
            </a:extLst>
          </p:cNvPr>
          <p:cNvSpPr/>
          <p:nvPr/>
        </p:nvSpPr>
        <p:spPr>
          <a:xfrm rot="5400000">
            <a:off x="10665020" y="583433"/>
            <a:ext cx="234556" cy="1202637"/>
          </a:xfrm>
          <a:prstGeom prst="leftBracket">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2FF8F2E4-786F-D4F9-174E-760275140E7F}"/>
              </a:ext>
            </a:extLst>
          </p:cNvPr>
          <p:cNvSpPr txBox="1"/>
          <p:nvPr/>
        </p:nvSpPr>
        <p:spPr>
          <a:xfrm>
            <a:off x="9914111" y="717295"/>
            <a:ext cx="1736373" cy="369332"/>
          </a:xfrm>
          <a:prstGeom prst="rect">
            <a:avLst/>
          </a:prstGeom>
          <a:noFill/>
        </p:spPr>
        <p:txBody>
          <a:bodyPr wrap="none" rtlCol="0">
            <a:spAutoFit/>
          </a:bodyPr>
          <a:lstStyle/>
          <a:p>
            <a:r>
              <a:rPr lang="en-US" dirty="0">
                <a:solidFill>
                  <a:schemeClr val="accent6">
                    <a:lumMod val="75000"/>
                  </a:schemeClr>
                </a:solidFill>
              </a:rPr>
              <a:t>80 unseen lines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5" y="23304"/>
            <a:ext cx="12100000" cy="1300000"/>
          </a:xfrm>
        </p:spPr>
        <p:txBody>
          <a:bodyPr>
            <a:normAutofit/>
          </a:bodyPr>
          <a:lstStyle/>
          <a:p>
            <a:r>
              <a:rPr lang="en-US" sz="2400" dirty="0"/>
              <a:t>Why v2 looked so good:</a:t>
            </a:r>
            <a:br>
              <a:rPr lang="en-US" sz="2400" dirty="0"/>
            </a:br>
            <a:r>
              <a:rPr lang="en-US" sz="2400" dirty="0"/>
              <a:t>it was graded on its own answers</a:t>
            </a:r>
          </a:p>
        </p:txBody>
      </p:sp>
      <p:pic>
        <p:nvPicPr>
          <p:cNvPr id="4" name="Plot"/>
          <p:cNvPicPr>
            <a:picLocks noChangeAspect="1"/>
          </p:cNvPicPr>
          <p:nvPr/>
        </p:nvPicPr>
        <p:blipFill>
          <a:blip r:embed="rId2"/>
          <a:stretch>
            <a:fillRect/>
          </a:stretch>
        </p:blipFill>
        <p:spPr>
          <a:xfrm>
            <a:off x="300000" y="1500000"/>
            <a:ext cx="7080000" cy="4195556"/>
          </a:xfrm>
          <a:prstGeom prst="rect">
            <a:avLst/>
          </a:prstGeom>
        </p:spPr>
      </p:pic>
      <p:sp>
        <p:nvSpPr>
          <p:cNvPr id="5" name="Caption"/>
          <p:cNvSpPr>
            <a:spLocks noGrp="1"/>
          </p:cNvSpPr>
          <p:nvPr/>
        </p:nvSpPr>
        <p:spPr>
          <a:xfrm>
            <a:off x="7560000" y="1560000"/>
            <a:ext cx="4380000" cy="4700000"/>
          </a:xfrm>
          <a:prstGeom prst="rect">
            <a:avLst/>
          </a:prstGeom>
          <a:noFill/>
        </p:spPr>
        <p:txBody>
          <a:bodyPr wrap="square" rtlCol="0">
            <a:normAutofit/>
          </a:bodyPr>
          <a:lstStyle/>
          <a:p>
            <a:pPr marL="228600" indent="-228600">
              <a:buFont typeface="Arial"/>
              <a:buChar char="•"/>
            </a:pPr>
            <a:r>
              <a:rPr lang="en-US" sz="1450" dirty="0"/>
              <a:t>v2’s few-shot examples were lifted verbatim from the 20 test rows.</a:t>
            </a:r>
          </a:p>
          <a:p>
            <a:pPr marL="228600" indent="-228600">
              <a:buFont typeface="Arial"/>
              <a:buChar char="•"/>
            </a:pPr>
            <a:r>
              <a:rPr lang="en-US" sz="1450" dirty="0"/>
              <a:t>The 5 consensus rows v1 got wrong became examples in the v2 prompt.</a:t>
            </a:r>
          </a:p>
          <a:p>
            <a:pPr marL="228600" indent="-228600">
              <a:buFont typeface="Arial"/>
              <a:buChar char="•"/>
            </a:pPr>
            <a:r>
              <a:rPr lang="en-US" sz="1450" dirty="0"/>
              <a:t>v2 then aced those exact 5 rows (0% → 100%) and improved on nothing else (8/8 → 8/8).</a:t>
            </a:r>
          </a:p>
          <a:p>
            <a:pPr marL="228600" indent="-228600">
              <a:buFont typeface="Arial"/>
              <a:buChar char="•"/>
            </a:pPr>
            <a:r>
              <a:rPr lang="en-US" sz="1450" b="1" dirty="0">
                <a:solidFill>
                  <a:srgbClr val="E97132"/>
                </a:solidFill>
              </a:rPr>
              <a:t>So the “above-ceiling” v2 score was memorization, not skill.</a:t>
            </a:r>
          </a:p>
          <a:p>
            <a:pPr marL="228600" indent="-228600">
              <a:spcBef>
                <a:spcPts val="700"/>
              </a:spcBef>
              <a:buFont typeface="Arial"/>
              <a:buChar char="•"/>
            </a:pPr>
            <a:r>
              <a:rPr lang="en-US" sz="1450" b="1" dirty="0">
                <a:solidFill>
                  <a:srgbClr val="156082"/>
                </a:solidFill>
              </a:rPr>
              <a:t>Fixed in v3: </a:t>
            </a:r>
            <a:r>
              <a:rPr lang="en-US" sz="1450" dirty="0"/>
              <a:t>examples paraphrased, the 20 mined rows excluded from headline metrics, scored on unseen data.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136F1-B3CF-A95D-3A0B-289761621269}"/>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E0A15D2D-8441-5C7A-A97A-E6678696E61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90651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B3A9E-9861-C085-0E70-0AA76330BF3A}"/>
              </a:ext>
            </a:extLst>
          </p:cNvPr>
          <p:cNvSpPr>
            <a:spLocks noGrp="1"/>
          </p:cNvSpPr>
          <p:nvPr>
            <p:ph type="title"/>
          </p:nvPr>
        </p:nvSpPr>
        <p:spPr>
          <a:xfrm>
            <a:off x="1327893" y="721566"/>
            <a:ext cx="10237304" cy="1485900"/>
          </a:xfrm>
        </p:spPr>
        <p:txBody>
          <a:bodyPr/>
          <a:lstStyle/>
          <a:p>
            <a:r>
              <a:rPr lang="en-US" dirty="0"/>
              <a:t>Origins of logical thought: </a:t>
            </a:r>
            <a:br>
              <a:rPr lang="en-US" dirty="0"/>
            </a:br>
            <a:r>
              <a:rPr lang="en-US" dirty="0"/>
              <a:t>Two opposing views</a:t>
            </a:r>
          </a:p>
        </p:txBody>
      </p:sp>
      <p:sp>
        <p:nvSpPr>
          <p:cNvPr id="6" name="Text Placeholder 5">
            <a:extLst>
              <a:ext uri="{FF2B5EF4-FFF2-40B4-BE49-F238E27FC236}">
                <a16:creationId xmlns:a16="http://schemas.microsoft.com/office/drawing/2014/main" id="{84BFE03A-CFB0-26EF-EF00-6AF57ED2691F}"/>
              </a:ext>
            </a:extLst>
          </p:cNvPr>
          <p:cNvSpPr>
            <a:spLocks noGrp="1"/>
          </p:cNvSpPr>
          <p:nvPr>
            <p:ph type="body" sz="quarter" idx="3"/>
          </p:nvPr>
        </p:nvSpPr>
        <p:spPr>
          <a:xfrm>
            <a:off x="1356921" y="2534279"/>
            <a:ext cx="3703745" cy="823912"/>
          </a:xfrm>
        </p:spPr>
        <p:txBody>
          <a:bodyPr/>
          <a:lstStyle/>
          <a:p>
            <a:r>
              <a:rPr lang="en-US" dirty="0"/>
              <a:t>No logical thought without language</a:t>
            </a:r>
          </a:p>
        </p:txBody>
      </p:sp>
      <p:sp>
        <p:nvSpPr>
          <p:cNvPr id="4" name="Text Placeholder 3">
            <a:extLst>
              <a:ext uri="{FF2B5EF4-FFF2-40B4-BE49-F238E27FC236}">
                <a16:creationId xmlns:a16="http://schemas.microsoft.com/office/drawing/2014/main" id="{8EF92F49-906A-2E9C-0CBE-B1B0C8A251F5}"/>
              </a:ext>
            </a:extLst>
          </p:cNvPr>
          <p:cNvSpPr>
            <a:spLocks noGrp="1"/>
          </p:cNvSpPr>
          <p:nvPr>
            <p:ph type="body" idx="1"/>
          </p:nvPr>
        </p:nvSpPr>
        <p:spPr>
          <a:xfrm>
            <a:off x="7453333" y="2534279"/>
            <a:ext cx="4584192" cy="823912"/>
          </a:xfrm>
        </p:spPr>
        <p:txBody>
          <a:bodyPr/>
          <a:lstStyle/>
          <a:p>
            <a:r>
              <a:rPr lang="en-US" dirty="0"/>
              <a:t>Logical thought necessarily precedes language</a:t>
            </a:r>
          </a:p>
        </p:txBody>
      </p:sp>
      <p:sp>
        <p:nvSpPr>
          <p:cNvPr id="5" name="Content Placeholder 4">
            <a:extLst>
              <a:ext uri="{FF2B5EF4-FFF2-40B4-BE49-F238E27FC236}">
                <a16:creationId xmlns:a16="http://schemas.microsoft.com/office/drawing/2014/main" id="{482CEBEB-3CAA-B74D-E79F-EE6CDDF062DF}"/>
              </a:ext>
            </a:extLst>
          </p:cNvPr>
          <p:cNvSpPr>
            <a:spLocks noGrp="1"/>
          </p:cNvSpPr>
          <p:nvPr>
            <p:ph sz="half" idx="2"/>
          </p:nvPr>
        </p:nvSpPr>
        <p:spPr>
          <a:xfrm>
            <a:off x="7919073" y="3498622"/>
            <a:ext cx="4443984" cy="2562193"/>
          </a:xfrm>
        </p:spPr>
        <p:txBody>
          <a:bodyPr/>
          <a:lstStyle/>
          <a:p>
            <a:r>
              <a:rPr lang="en-US" dirty="0"/>
              <a:t>E.g., Fodor</a:t>
            </a:r>
          </a:p>
        </p:txBody>
      </p:sp>
      <p:sp>
        <p:nvSpPr>
          <p:cNvPr id="7" name="Content Placeholder 6">
            <a:extLst>
              <a:ext uri="{FF2B5EF4-FFF2-40B4-BE49-F238E27FC236}">
                <a16:creationId xmlns:a16="http://schemas.microsoft.com/office/drawing/2014/main" id="{CE140491-A76F-5125-8695-63976DBD3C19}"/>
              </a:ext>
            </a:extLst>
          </p:cNvPr>
          <p:cNvSpPr>
            <a:spLocks noGrp="1"/>
          </p:cNvSpPr>
          <p:nvPr>
            <p:ph sz="quarter" idx="4"/>
          </p:nvPr>
        </p:nvSpPr>
        <p:spPr>
          <a:xfrm>
            <a:off x="1356921" y="3511012"/>
            <a:ext cx="4443984" cy="2562193"/>
          </a:xfrm>
        </p:spPr>
        <p:txBody>
          <a:bodyPr/>
          <a:lstStyle/>
          <a:p>
            <a:r>
              <a:rPr lang="en-US" dirty="0"/>
              <a:t>E.g., Davidson, Bermudez</a:t>
            </a:r>
          </a:p>
        </p:txBody>
      </p:sp>
      <p:sp>
        <p:nvSpPr>
          <p:cNvPr id="8" name="Oval Callout 7">
            <a:extLst>
              <a:ext uri="{FF2B5EF4-FFF2-40B4-BE49-F238E27FC236}">
                <a16:creationId xmlns:a16="http://schemas.microsoft.com/office/drawing/2014/main" id="{77BD776C-C86D-EA5B-A8BE-A79AB3C193B4}"/>
              </a:ext>
            </a:extLst>
          </p:cNvPr>
          <p:cNvSpPr/>
          <p:nvPr/>
        </p:nvSpPr>
        <p:spPr>
          <a:xfrm>
            <a:off x="8077077" y="5406196"/>
            <a:ext cx="3080352" cy="981433"/>
          </a:xfrm>
          <a:prstGeom prst="wedgeEllipseCallout">
            <a:avLst>
              <a:gd name="adj1" fmla="val -69181"/>
              <a:gd name="adj2" fmla="val -887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Cloud Callout 8">
            <a:extLst>
              <a:ext uri="{FF2B5EF4-FFF2-40B4-BE49-F238E27FC236}">
                <a16:creationId xmlns:a16="http://schemas.microsoft.com/office/drawing/2014/main" id="{42DFAE47-ABE8-990A-3712-737AF111F4BD}"/>
              </a:ext>
            </a:extLst>
          </p:cNvPr>
          <p:cNvSpPr/>
          <p:nvPr/>
        </p:nvSpPr>
        <p:spPr>
          <a:xfrm>
            <a:off x="7990340" y="4046863"/>
            <a:ext cx="3153494" cy="1151965"/>
          </a:xfrm>
          <a:prstGeom prst="cloudCallout">
            <a:avLst>
              <a:gd name="adj1" fmla="val -66745"/>
              <a:gd name="adj2" fmla="val 4948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2" name="TextBox 11">
            <a:extLst>
              <a:ext uri="{FF2B5EF4-FFF2-40B4-BE49-F238E27FC236}">
                <a16:creationId xmlns:a16="http://schemas.microsoft.com/office/drawing/2014/main" id="{A2E7EAE6-EA2F-B0C6-BA2E-AA3B5CB0B194}"/>
              </a:ext>
            </a:extLst>
          </p:cNvPr>
          <p:cNvSpPr txBox="1"/>
          <p:nvPr/>
        </p:nvSpPr>
        <p:spPr>
          <a:xfrm>
            <a:off x="9048520" y="4391264"/>
            <a:ext cx="1083093" cy="338554"/>
          </a:xfrm>
          <a:prstGeom prst="rect">
            <a:avLst/>
          </a:prstGeom>
          <a:noFill/>
        </p:spPr>
        <p:txBody>
          <a:bodyPr wrap="square" rtlCol="0">
            <a:spAutoFit/>
          </a:bodyPr>
          <a:lstStyle/>
          <a:p>
            <a:r>
              <a:rPr lang="en-US" sz="1600" dirty="0"/>
              <a:t>NEGATION</a:t>
            </a:r>
          </a:p>
        </p:txBody>
      </p:sp>
      <p:cxnSp>
        <p:nvCxnSpPr>
          <p:cNvPr id="13" name="Straight Arrow Connector 12">
            <a:extLst>
              <a:ext uri="{FF2B5EF4-FFF2-40B4-BE49-F238E27FC236}">
                <a16:creationId xmlns:a16="http://schemas.microsoft.com/office/drawing/2014/main" id="{DFD96EED-602D-E56F-09E8-48085037DCE4}"/>
              </a:ext>
            </a:extLst>
          </p:cNvPr>
          <p:cNvCxnSpPr>
            <a:cxnSpLocks/>
            <a:stCxn id="12" idx="2"/>
            <a:endCxn id="20" idx="0"/>
          </p:cNvCxnSpPr>
          <p:nvPr/>
        </p:nvCxnSpPr>
        <p:spPr>
          <a:xfrm>
            <a:off x="9590067" y="4729818"/>
            <a:ext cx="0" cy="10379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18CB010A-6439-B697-77BA-AB60AFC52D62}"/>
              </a:ext>
            </a:extLst>
          </p:cNvPr>
          <p:cNvPicPr>
            <a:picLocks noChangeAspect="1"/>
          </p:cNvPicPr>
          <p:nvPr/>
        </p:nvPicPr>
        <p:blipFill>
          <a:blip r:embed="rId3"/>
          <a:stretch>
            <a:fillRect/>
          </a:stretch>
        </p:blipFill>
        <p:spPr>
          <a:xfrm>
            <a:off x="5787745" y="5090350"/>
            <a:ext cx="1460575" cy="1460575"/>
          </a:xfrm>
          <a:prstGeom prst="rect">
            <a:avLst/>
          </a:prstGeom>
        </p:spPr>
      </p:pic>
      <p:sp>
        <p:nvSpPr>
          <p:cNvPr id="17" name="Oval Callout 16">
            <a:extLst>
              <a:ext uri="{FF2B5EF4-FFF2-40B4-BE49-F238E27FC236}">
                <a16:creationId xmlns:a16="http://schemas.microsoft.com/office/drawing/2014/main" id="{8155DEA4-5594-7D8B-B199-DDA8CE42FA94}"/>
              </a:ext>
            </a:extLst>
          </p:cNvPr>
          <p:cNvSpPr/>
          <p:nvPr/>
        </p:nvSpPr>
        <p:spPr>
          <a:xfrm>
            <a:off x="1664007" y="5406196"/>
            <a:ext cx="3080352" cy="981433"/>
          </a:xfrm>
          <a:prstGeom prst="wedgeEllipseCallout">
            <a:avLst>
              <a:gd name="adj1" fmla="val 71277"/>
              <a:gd name="adj2" fmla="val -1201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Cloud Callout 17">
            <a:extLst>
              <a:ext uri="{FF2B5EF4-FFF2-40B4-BE49-F238E27FC236}">
                <a16:creationId xmlns:a16="http://schemas.microsoft.com/office/drawing/2014/main" id="{C61F6B85-3371-B3AE-52F8-854C3C051CD7}"/>
              </a:ext>
            </a:extLst>
          </p:cNvPr>
          <p:cNvSpPr/>
          <p:nvPr/>
        </p:nvSpPr>
        <p:spPr>
          <a:xfrm>
            <a:off x="1577270" y="4046863"/>
            <a:ext cx="3153494" cy="1151965"/>
          </a:xfrm>
          <a:prstGeom prst="cloudCallout">
            <a:avLst>
              <a:gd name="adj1" fmla="val 76078"/>
              <a:gd name="adj2" fmla="val 4688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0" name="TextBox 19">
            <a:extLst>
              <a:ext uri="{FF2B5EF4-FFF2-40B4-BE49-F238E27FC236}">
                <a16:creationId xmlns:a16="http://schemas.microsoft.com/office/drawing/2014/main" id="{F92944E8-5AC1-584E-AC27-6B0949F2A345}"/>
              </a:ext>
            </a:extLst>
          </p:cNvPr>
          <p:cNvSpPr txBox="1"/>
          <p:nvPr/>
        </p:nvSpPr>
        <p:spPr>
          <a:xfrm>
            <a:off x="9282130" y="5767758"/>
            <a:ext cx="615874" cy="369332"/>
          </a:xfrm>
          <a:prstGeom prst="rect">
            <a:avLst/>
          </a:prstGeom>
          <a:noFill/>
        </p:spPr>
        <p:txBody>
          <a:bodyPr wrap="none" rtlCol="0">
            <a:spAutoFit/>
          </a:bodyPr>
          <a:lstStyle/>
          <a:p>
            <a:r>
              <a:rPr lang="en-US" dirty="0"/>
              <a:t>“no”</a:t>
            </a:r>
          </a:p>
        </p:txBody>
      </p:sp>
      <p:sp>
        <p:nvSpPr>
          <p:cNvPr id="27" name="TextBox 26">
            <a:extLst>
              <a:ext uri="{FF2B5EF4-FFF2-40B4-BE49-F238E27FC236}">
                <a16:creationId xmlns:a16="http://schemas.microsoft.com/office/drawing/2014/main" id="{7AFA63A9-895E-ADAB-E2B2-B634773C2C4E}"/>
              </a:ext>
            </a:extLst>
          </p:cNvPr>
          <p:cNvSpPr txBox="1"/>
          <p:nvPr/>
        </p:nvSpPr>
        <p:spPr>
          <a:xfrm>
            <a:off x="2653941" y="4371696"/>
            <a:ext cx="1083093" cy="338554"/>
          </a:xfrm>
          <a:prstGeom prst="rect">
            <a:avLst/>
          </a:prstGeom>
          <a:noFill/>
        </p:spPr>
        <p:txBody>
          <a:bodyPr wrap="square" rtlCol="0">
            <a:spAutoFit/>
          </a:bodyPr>
          <a:lstStyle/>
          <a:p>
            <a:r>
              <a:rPr lang="en-US" sz="1600" dirty="0"/>
              <a:t>NEGATION</a:t>
            </a:r>
          </a:p>
        </p:txBody>
      </p:sp>
      <p:cxnSp>
        <p:nvCxnSpPr>
          <p:cNvPr id="28" name="Straight Arrow Connector 27">
            <a:extLst>
              <a:ext uri="{FF2B5EF4-FFF2-40B4-BE49-F238E27FC236}">
                <a16:creationId xmlns:a16="http://schemas.microsoft.com/office/drawing/2014/main" id="{8371465A-6DF6-8CDA-2B9E-F4E39A562361}"/>
              </a:ext>
            </a:extLst>
          </p:cNvPr>
          <p:cNvCxnSpPr>
            <a:cxnSpLocks/>
            <a:stCxn id="27" idx="2"/>
            <a:endCxn id="29" idx="0"/>
          </p:cNvCxnSpPr>
          <p:nvPr/>
        </p:nvCxnSpPr>
        <p:spPr>
          <a:xfrm>
            <a:off x="3195488" y="4710250"/>
            <a:ext cx="0" cy="10379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77B7BD8-5A12-52C6-27CB-F4E5E1372D63}"/>
              </a:ext>
            </a:extLst>
          </p:cNvPr>
          <p:cNvSpPr txBox="1"/>
          <p:nvPr/>
        </p:nvSpPr>
        <p:spPr>
          <a:xfrm>
            <a:off x="2887551" y="5748190"/>
            <a:ext cx="615874" cy="369332"/>
          </a:xfrm>
          <a:prstGeom prst="rect">
            <a:avLst/>
          </a:prstGeom>
          <a:noFill/>
        </p:spPr>
        <p:txBody>
          <a:bodyPr wrap="none" rtlCol="0">
            <a:spAutoFit/>
          </a:bodyPr>
          <a:lstStyle/>
          <a:p>
            <a:r>
              <a:rPr lang="en-US" dirty="0"/>
              <a:t>“no”</a:t>
            </a:r>
          </a:p>
        </p:txBody>
      </p:sp>
      <p:sp>
        <p:nvSpPr>
          <p:cNvPr id="49" name="Curved Right Arrow 48">
            <a:extLst>
              <a:ext uri="{FF2B5EF4-FFF2-40B4-BE49-F238E27FC236}">
                <a16:creationId xmlns:a16="http://schemas.microsoft.com/office/drawing/2014/main" id="{4416949A-997E-6662-FFD2-C070C3610650}"/>
              </a:ext>
            </a:extLst>
          </p:cNvPr>
          <p:cNvSpPr/>
          <p:nvPr/>
        </p:nvSpPr>
        <p:spPr>
          <a:xfrm flipH="1">
            <a:off x="11307430" y="4423074"/>
            <a:ext cx="787092" cy="1529350"/>
          </a:xfrm>
          <a:prstGeom prst="curved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Curved Right Arrow 49">
            <a:extLst>
              <a:ext uri="{FF2B5EF4-FFF2-40B4-BE49-F238E27FC236}">
                <a16:creationId xmlns:a16="http://schemas.microsoft.com/office/drawing/2014/main" id="{2185F521-82A1-68F6-413E-8A8540977782}"/>
              </a:ext>
            </a:extLst>
          </p:cNvPr>
          <p:cNvSpPr/>
          <p:nvPr/>
        </p:nvSpPr>
        <p:spPr>
          <a:xfrm rot="10800000" flipH="1">
            <a:off x="794811" y="4462453"/>
            <a:ext cx="787091" cy="1529350"/>
          </a:xfrm>
          <a:prstGeom prst="curved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5135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
                                            <p:txEl>
                                              <p:pRg st="0" end="0"/>
                                            </p:txEl>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4" grpId="0" build="p"/>
      <p:bldP spid="5" grpId="0" build="p"/>
      <p:bldP spid="7" grpId="0" build="p"/>
      <p:bldP spid="8" grpId="0" animBg="1"/>
      <p:bldP spid="9" grpId="0" animBg="1"/>
      <p:bldP spid="12" grpId="0"/>
      <p:bldP spid="17" grpId="0" animBg="1"/>
      <p:bldP spid="18" grpId="0" animBg="1"/>
      <p:bldP spid="20" grpId="0"/>
      <p:bldP spid="27" grpId="0"/>
      <p:bldP spid="29" grpId="0"/>
      <p:bldP spid="49" grpId="0" animBg="1"/>
      <p:bldP spid="50"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82B81-9E73-19C4-DC4D-F757EBB25EBA}"/>
              </a:ext>
            </a:extLst>
          </p:cNvPr>
          <p:cNvSpPr>
            <a:spLocks noGrp="1"/>
          </p:cNvSpPr>
          <p:nvPr>
            <p:ph type="title"/>
          </p:nvPr>
        </p:nvSpPr>
        <p:spPr>
          <a:xfrm>
            <a:off x="1154633" y="-129424"/>
            <a:ext cx="12407900" cy="1485900"/>
          </a:xfrm>
        </p:spPr>
        <p:txBody>
          <a:bodyPr/>
          <a:lstStyle/>
          <a:p>
            <a:r>
              <a:rPr lang="en-US" dirty="0"/>
              <a:t>Logical negation emerges late</a:t>
            </a:r>
          </a:p>
        </p:txBody>
      </p:sp>
      <p:sp>
        <p:nvSpPr>
          <p:cNvPr id="36" name="TextBox 35">
            <a:extLst>
              <a:ext uri="{FF2B5EF4-FFF2-40B4-BE49-F238E27FC236}">
                <a16:creationId xmlns:a16="http://schemas.microsoft.com/office/drawing/2014/main" id="{CC9FE39D-2592-972D-58F2-1091C0445F07}"/>
              </a:ext>
            </a:extLst>
          </p:cNvPr>
          <p:cNvSpPr txBox="1"/>
          <p:nvPr/>
        </p:nvSpPr>
        <p:spPr>
          <a:xfrm>
            <a:off x="10889061" y="6514068"/>
            <a:ext cx="1304973"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50000"/>
                  </a:srgbClr>
                </a:solidFill>
                <a:effectLst/>
                <a:uLnTx/>
                <a:uFillTx/>
                <a:latin typeface="Franklin Gothic Book" panose="020B0503020102020204"/>
                <a:ea typeface="+mn-ea"/>
                <a:cs typeface="+mn-cs"/>
              </a:rPr>
              <a:t>Bloom, 1970</a:t>
            </a:r>
          </a:p>
        </p:txBody>
      </p:sp>
      <p:cxnSp>
        <p:nvCxnSpPr>
          <p:cNvPr id="32" name="Straight Arrow Connector 31">
            <a:extLst>
              <a:ext uri="{FF2B5EF4-FFF2-40B4-BE49-F238E27FC236}">
                <a16:creationId xmlns:a16="http://schemas.microsoft.com/office/drawing/2014/main" id="{DCCB8DFC-B2AA-B53F-BAE7-A7CC3BB67286}"/>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F2B6677-43F4-0C52-0593-66C684C5BE42}"/>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34" name="TextBox 33">
            <a:extLst>
              <a:ext uri="{FF2B5EF4-FFF2-40B4-BE49-F238E27FC236}">
                <a16:creationId xmlns:a16="http://schemas.microsoft.com/office/drawing/2014/main" id="{A8931C78-FCAE-4FD0-53CD-D4636817D88F}"/>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35" name="TextBox 34">
            <a:extLst>
              <a:ext uri="{FF2B5EF4-FFF2-40B4-BE49-F238E27FC236}">
                <a16:creationId xmlns:a16="http://schemas.microsoft.com/office/drawing/2014/main" id="{D9D89145-11C5-198C-8D5B-10B180AEBFA9}"/>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37" name="Straight Connector 36">
            <a:extLst>
              <a:ext uri="{FF2B5EF4-FFF2-40B4-BE49-F238E27FC236}">
                <a16:creationId xmlns:a16="http://schemas.microsoft.com/office/drawing/2014/main" id="{3DB0CD88-BDD9-6961-8E8B-3087B5E300AF}"/>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021079B-05B4-814A-C37E-1484C9A447F9}"/>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39" name="Straight Connector 38">
            <a:extLst>
              <a:ext uri="{FF2B5EF4-FFF2-40B4-BE49-F238E27FC236}">
                <a16:creationId xmlns:a16="http://schemas.microsoft.com/office/drawing/2014/main" id="{44527D7C-EAB2-B887-5342-F7EC3B68AE96}"/>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8A435C5-2C8A-BC64-5806-4546A8028812}"/>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198502E-7A14-FC3D-598D-ED8BAFBD1566}"/>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42" name="TextBox 41">
            <a:extLst>
              <a:ext uri="{FF2B5EF4-FFF2-40B4-BE49-F238E27FC236}">
                <a16:creationId xmlns:a16="http://schemas.microsoft.com/office/drawing/2014/main" id="{4256D77A-FB17-694B-083F-74FCEE8A6D7E}"/>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43" name="Rectangle 42">
            <a:extLst>
              <a:ext uri="{FF2B5EF4-FFF2-40B4-BE49-F238E27FC236}">
                <a16:creationId xmlns:a16="http://schemas.microsoft.com/office/drawing/2014/main" id="{C6BAC31A-C2FA-DFD4-2B8F-A8A69CB8C6DC}"/>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67B3ADA-70A2-476C-7945-AC778F1B9672}"/>
              </a:ext>
            </a:extLst>
          </p:cNvPr>
          <p:cNvSpPr txBox="1"/>
          <p:nvPr/>
        </p:nvSpPr>
        <p:spPr>
          <a:xfrm>
            <a:off x="2339215" y="3655496"/>
            <a:ext cx="9251251" cy="2255041"/>
          </a:xfrm>
          <a:prstGeom prst="rect">
            <a:avLst/>
          </a:prstGeom>
          <a:noFill/>
        </p:spPr>
        <p:txBody>
          <a:bodyPr wrap="none" rtlCol="0">
            <a:spAutoFit/>
          </a:bodyPr>
          <a:lstStyle/>
          <a:p>
            <a:pPr marL="342900" indent="-342900">
              <a:lnSpc>
                <a:spcPct val="150000"/>
              </a:lnSpc>
              <a:buFont typeface="Wingdings" pitchFamily="2" charset="2"/>
              <a:buChar char="Ø"/>
            </a:pPr>
            <a:r>
              <a:rPr lang="en-US" sz="2400" i="1" dirty="0"/>
              <a:t>Rejection		</a:t>
            </a:r>
            <a:r>
              <a:rPr lang="en-US" sz="2400" dirty="0"/>
              <a:t>“Do you want some broccoli?”		“No!”</a:t>
            </a:r>
            <a:endParaRPr lang="en-US" sz="2400" i="1" dirty="0"/>
          </a:p>
          <a:p>
            <a:pPr marL="342900" indent="-342900">
              <a:lnSpc>
                <a:spcPct val="150000"/>
              </a:lnSpc>
              <a:buFont typeface="Wingdings" pitchFamily="2" charset="2"/>
              <a:buChar char="Ø"/>
            </a:pPr>
            <a:r>
              <a:rPr lang="en-US" sz="2400" i="1" dirty="0"/>
              <a:t>Prohibition		</a:t>
            </a:r>
            <a:r>
              <a:rPr lang="en-US" sz="2400" dirty="0"/>
              <a:t>“Can I go to the park?”			“No!”</a:t>
            </a:r>
          </a:p>
          <a:p>
            <a:pPr marL="342900" indent="-342900">
              <a:lnSpc>
                <a:spcPct val="150000"/>
              </a:lnSpc>
              <a:buFont typeface="Wingdings" pitchFamily="2" charset="2"/>
              <a:buChar char="Ø"/>
            </a:pPr>
            <a:r>
              <a:rPr lang="en-US" sz="2400" i="1" dirty="0"/>
              <a:t>Nonexistence	</a:t>
            </a:r>
            <a:r>
              <a:rPr lang="en-US" sz="2400" dirty="0"/>
              <a:t>“Is there any milk?”				“No!”</a:t>
            </a:r>
          </a:p>
          <a:p>
            <a:pPr marL="342900" indent="-342900">
              <a:lnSpc>
                <a:spcPct val="150000"/>
              </a:lnSpc>
              <a:buFont typeface="Wingdings" pitchFamily="2" charset="2"/>
              <a:buChar char="Ø"/>
            </a:pPr>
            <a:r>
              <a:rPr lang="en-US" sz="2400" i="1" dirty="0"/>
              <a:t>Denial		</a:t>
            </a:r>
            <a:r>
              <a:rPr lang="en-US" sz="2400" dirty="0"/>
              <a:t>“Is Pluto a planet?”				“No!”</a:t>
            </a:r>
            <a:endParaRPr lang="en-US" sz="2400" i="1" dirty="0"/>
          </a:p>
        </p:txBody>
      </p:sp>
      <p:sp>
        <p:nvSpPr>
          <p:cNvPr id="6" name="Right Brace 5">
            <a:extLst>
              <a:ext uri="{FF2B5EF4-FFF2-40B4-BE49-F238E27FC236}">
                <a16:creationId xmlns:a16="http://schemas.microsoft.com/office/drawing/2014/main" id="{24FCF779-F1E6-B90D-4695-F9E5B6BFB5DF}"/>
              </a:ext>
            </a:extLst>
          </p:cNvPr>
          <p:cNvSpPr/>
          <p:nvPr/>
        </p:nvSpPr>
        <p:spPr>
          <a:xfrm>
            <a:off x="9679686" y="3759203"/>
            <a:ext cx="682171" cy="2136906"/>
          </a:xfrm>
          <a:prstGeom prst="rightBrace">
            <a:avLst>
              <a:gd name="adj1" fmla="val 38559"/>
              <a:gd name="adj2" fmla="val 50648"/>
            </a:avLst>
          </a:prstGeom>
          <a:ln w="381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38836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8" grpId="0"/>
      <p:bldP spid="41" grpId="0"/>
      <p:bldP spid="42" grpId="0"/>
      <p:bldP spid="43" grpId="0" animBg="1"/>
      <p:bldP spid="5"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548DF7-4570-7830-331D-B20F31FBF8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23655-9D45-6D5A-5A5B-5230EC4D389E}"/>
              </a:ext>
            </a:extLst>
          </p:cNvPr>
          <p:cNvSpPr>
            <a:spLocks noGrp="1"/>
          </p:cNvSpPr>
          <p:nvPr>
            <p:ph type="title"/>
          </p:nvPr>
        </p:nvSpPr>
        <p:spPr/>
        <p:txBody>
          <a:bodyPr/>
          <a:lstStyle/>
          <a:p>
            <a:r>
              <a:rPr lang="en-US" dirty="0"/>
              <a:t>Specific functions may imply specific meanings</a:t>
            </a:r>
          </a:p>
        </p:txBody>
      </p:sp>
      <p:sp>
        <p:nvSpPr>
          <p:cNvPr id="3" name="Content Placeholder 2">
            <a:extLst>
              <a:ext uri="{FF2B5EF4-FFF2-40B4-BE49-F238E27FC236}">
                <a16:creationId xmlns:a16="http://schemas.microsoft.com/office/drawing/2014/main" id="{D85E4ECB-CC03-B446-3D15-F7107B3DBCE3}"/>
              </a:ext>
            </a:extLst>
          </p:cNvPr>
          <p:cNvSpPr>
            <a:spLocks noGrp="1"/>
          </p:cNvSpPr>
          <p:nvPr>
            <p:ph idx="1"/>
          </p:nvPr>
        </p:nvSpPr>
        <p:spPr>
          <a:xfrm>
            <a:off x="7083962" y="2286000"/>
            <a:ext cx="3888838" cy="3581400"/>
          </a:xfrm>
        </p:spPr>
        <p:txBody>
          <a:bodyPr>
            <a:normAutofit fontScale="77500" lnSpcReduction="20000"/>
          </a:bodyPr>
          <a:lstStyle/>
          <a:p>
            <a:r>
              <a:rPr lang="en-US" dirty="0"/>
              <a:t>Children’s first uses of “no” seem to be function-specific</a:t>
            </a:r>
          </a:p>
          <a:p>
            <a:r>
              <a:rPr lang="en-US" dirty="0"/>
              <a:t>The concept is available to map to language</a:t>
            </a:r>
          </a:p>
          <a:p>
            <a:pPr lvl="1"/>
            <a:r>
              <a:rPr lang="en-US" dirty="0"/>
              <a:t>Lexicalized in some languages (e.g., Tagalog)</a:t>
            </a:r>
          </a:p>
          <a:p>
            <a:r>
              <a:rPr lang="en-US" dirty="0"/>
              <a:t>"no" can reject even when there isn’t obvious want in the linguistic context</a:t>
            </a:r>
          </a:p>
          <a:p>
            <a:r>
              <a:rPr lang="en-US" dirty="0"/>
              <a:t>Rejection/prohibition meanings are easier to identify in isolation </a:t>
            </a:r>
            <a:r>
              <a:rPr lang="en-US" sz="1200" dirty="0">
                <a:solidFill>
                  <a:srgbClr val="E8E8E8">
                    <a:lumMod val="50000"/>
                  </a:srgbClr>
                </a:solidFill>
              </a:rPr>
              <a:t>(Gomes et al., 2023)</a:t>
            </a:r>
          </a:p>
          <a:p>
            <a:endParaRPr lang="en-US" dirty="0"/>
          </a:p>
          <a:p>
            <a:endParaRPr lang="en-US" dirty="0"/>
          </a:p>
        </p:txBody>
      </p:sp>
      <p:sp>
        <p:nvSpPr>
          <p:cNvPr id="4" name="Content Placeholder 4">
            <a:extLst>
              <a:ext uri="{FF2B5EF4-FFF2-40B4-BE49-F238E27FC236}">
                <a16:creationId xmlns:a16="http://schemas.microsoft.com/office/drawing/2014/main" id="{45365EA5-E3D9-5EB2-2BDE-AED95E51DF10}"/>
              </a:ext>
            </a:extLst>
          </p:cNvPr>
          <p:cNvSpPr txBox="1">
            <a:spLocks/>
          </p:cNvSpPr>
          <p:nvPr/>
        </p:nvSpPr>
        <p:spPr>
          <a:xfrm>
            <a:off x="3162958" y="2052566"/>
            <a:ext cx="1432985" cy="645726"/>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buFont typeface="Franklin Gothic Book" panose="020B0503020102020204" pitchFamily="34" charset="0"/>
              <a:buNone/>
            </a:pPr>
            <a:r>
              <a:rPr lang="en-US" u="sng"/>
              <a:t>“No!”</a:t>
            </a:r>
            <a:endParaRPr lang="en-US" u="sng" dirty="0"/>
          </a:p>
        </p:txBody>
      </p:sp>
      <p:sp>
        <p:nvSpPr>
          <p:cNvPr id="5" name="Rectangle 4">
            <a:extLst>
              <a:ext uri="{FF2B5EF4-FFF2-40B4-BE49-F238E27FC236}">
                <a16:creationId xmlns:a16="http://schemas.microsoft.com/office/drawing/2014/main" id="{49F0BC1E-C128-9834-2793-F605639154FC}"/>
              </a:ext>
            </a:extLst>
          </p:cNvPr>
          <p:cNvSpPr/>
          <p:nvPr/>
        </p:nvSpPr>
        <p:spPr>
          <a:xfrm>
            <a:off x="4339862" y="3855244"/>
            <a:ext cx="768178" cy="76611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NEG</a:t>
            </a:r>
          </a:p>
        </p:txBody>
      </p:sp>
      <p:sp>
        <p:nvSpPr>
          <p:cNvPr id="6" name="Rectangle 5">
            <a:extLst>
              <a:ext uri="{FF2B5EF4-FFF2-40B4-BE49-F238E27FC236}">
                <a16:creationId xmlns:a16="http://schemas.microsoft.com/office/drawing/2014/main" id="{1B9D0A2C-C6BF-4424-57F5-2C276669A602}"/>
              </a:ext>
            </a:extLst>
          </p:cNvPr>
          <p:cNvSpPr/>
          <p:nvPr/>
        </p:nvSpPr>
        <p:spPr>
          <a:xfrm>
            <a:off x="5108040" y="3855243"/>
            <a:ext cx="768178" cy="76611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want</a:t>
            </a:r>
          </a:p>
        </p:txBody>
      </p:sp>
      <p:cxnSp>
        <p:nvCxnSpPr>
          <p:cNvPr id="7" name="Straight Arrow Connector 6">
            <a:extLst>
              <a:ext uri="{FF2B5EF4-FFF2-40B4-BE49-F238E27FC236}">
                <a16:creationId xmlns:a16="http://schemas.microsoft.com/office/drawing/2014/main" id="{B5BD0968-18DF-AB86-71FC-53C9F8EB2E9D}"/>
              </a:ext>
            </a:extLst>
          </p:cNvPr>
          <p:cNvCxnSpPr>
            <a:cxnSpLocks/>
            <a:endCxn id="5" idx="0"/>
          </p:cNvCxnSpPr>
          <p:nvPr/>
        </p:nvCxnSpPr>
        <p:spPr>
          <a:xfrm>
            <a:off x="3898183" y="2474447"/>
            <a:ext cx="825768" cy="1380797"/>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B1F4F6B6-CB80-D30C-F028-082D94063779}"/>
              </a:ext>
            </a:extLst>
          </p:cNvPr>
          <p:cNvCxnSpPr>
            <a:cxnSpLocks/>
            <a:endCxn id="6" idx="0"/>
          </p:cNvCxnSpPr>
          <p:nvPr/>
        </p:nvCxnSpPr>
        <p:spPr>
          <a:xfrm>
            <a:off x="5492129" y="2528920"/>
            <a:ext cx="0" cy="1326323"/>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6689AD16-7DD4-FB71-10FF-05079884D509}"/>
              </a:ext>
            </a:extLst>
          </p:cNvPr>
          <p:cNvSpPr/>
          <p:nvPr/>
        </p:nvSpPr>
        <p:spPr>
          <a:xfrm>
            <a:off x="1652067" y="3855242"/>
            <a:ext cx="1368785" cy="76611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REJECT</a:t>
            </a:r>
          </a:p>
        </p:txBody>
      </p:sp>
      <p:cxnSp>
        <p:nvCxnSpPr>
          <p:cNvPr id="10" name="Straight Arrow Connector 9">
            <a:extLst>
              <a:ext uri="{FF2B5EF4-FFF2-40B4-BE49-F238E27FC236}">
                <a16:creationId xmlns:a16="http://schemas.microsoft.com/office/drawing/2014/main" id="{8B4EDB73-D459-7B6B-BD24-72C88CC797D1}"/>
              </a:ext>
            </a:extLst>
          </p:cNvPr>
          <p:cNvCxnSpPr>
            <a:cxnSpLocks/>
            <a:endCxn id="9" idx="0"/>
          </p:cNvCxnSpPr>
          <p:nvPr/>
        </p:nvCxnSpPr>
        <p:spPr>
          <a:xfrm flipH="1">
            <a:off x="2336460" y="2474445"/>
            <a:ext cx="1419617" cy="1380797"/>
          </a:xfrm>
          <a:prstGeom prst="straightConnector1">
            <a:avLst/>
          </a:prstGeom>
          <a:ln w="28575">
            <a:headEnd type="triangle"/>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9324A13-8591-A2AD-5735-1DD5937B9416}"/>
              </a:ext>
            </a:extLst>
          </p:cNvPr>
          <p:cNvSpPr txBox="1"/>
          <p:nvPr/>
        </p:nvSpPr>
        <p:spPr>
          <a:xfrm>
            <a:off x="3928871" y="5012195"/>
            <a:ext cx="2358338" cy="646331"/>
          </a:xfrm>
          <a:prstGeom prst="rect">
            <a:avLst/>
          </a:prstGeom>
          <a:noFill/>
        </p:spPr>
        <p:txBody>
          <a:bodyPr wrap="none" rtlCol="0">
            <a:spAutoFit/>
          </a:bodyPr>
          <a:lstStyle/>
          <a:p>
            <a:r>
              <a:rPr lang="en-US" dirty="0"/>
              <a:t>Speech act: Rejection</a:t>
            </a:r>
          </a:p>
          <a:p>
            <a:r>
              <a:rPr lang="en-US" dirty="0"/>
              <a:t>Meaning: NEGATION</a:t>
            </a:r>
          </a:p>
        </p:txBody>
      </p:sp>
      <p:sp>
        <p:nvSpPr>
          <p:cNvPr id="12" name="TextBox 11">
            <a:extLst>
              <a:ext uri="{FF2B5EF4-FFF2-40B4-BE49-F238E27FC236}">
                <a16:creationId xmlns:a16="http://schemas.microsoft.com/office/drawing/2014/main" id="{6DCFD4CF-2132-DBF3-124B-65328C6F6069}"/>
              </a:ext>
            </a:extLst>
          </p:cNvPr>
          <p:cNvSpPr txBox="1"/>
          <p:nvPr/>
        </p:nvSpPr>
        <p:spPr>
          <a:xfrm>
            <a:off x="1157290" y="5020709"/>
            <a:ext cx="2358338" cy="646331"/>
          </a:xfrm>
          <a:prstGeom prst="rect">
            <a:avLst/>
          </a:prstGeom>
          <a:noFill/>
        </p:spPr>
        <p:txBody>
          <a:bodyPr wrap="none" rtlCol="0">
            <a:spAutoFit/>
          </a:bodyPr>
          <a:lstStyle/>
          <a:p>
            <a:r>
              <a:rPr lang="en-US" dirty="0"/>
              <a:t>Speech act: Rejection</a:t>
            </a:r>
          </a:p>
          <a:p>
            <a:r>
              <a:rPr lang="en-US" dirty="0"/>
              <a:t>Meaning: REJECTION</a:t>
            </a:r>
          </a:p>
        </p:txBody>
      </p:sp>
      <p:sp>
        <p:nvSpPr>
          <p:cNvPr id="13" name="Cloud 12">
            <a:extLst>
              <a:ext uri="{FF2B5EF4-FFF2-40B4-BE49-F238E27FC236}">
                <a16:creationId xmlns:a16="http://schemas.microsoft.com/office/drawing/2014/main" id="{1074C0EE-5443-4A22-DEFD-7DE47138A300}"/>
              </a:ext>
            </a:extLst>
          </p:cNvPr>
          <p:cNvSpPr/>
          <p:nvPr/>
        </p:nvSpPr>
        <p:spPr>
          <a:xfrm>
            <a:off x="4723951" y="1605291"/>
            <a:ext cx="1708398" cy="876307"/>
          </a:xfrm>
          <a:prstGeom prst="cloud">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Context</a:t>
            </a:r>
          </a:p>
        </p:txBody>
      </p:sp>
      <p:sp>
        <p:nvSpPr>
          <p:cNvPr id="14" name="Oval 13">
            <a:extLst>
              <a:ext uri="{FF2B5EF4-FFF2-40B4-BE49-F238E27FC236}">
                <a16:creationId xmlns:a16="http://schemas.microsoft.com/office/drawing/2014/main" id="{F7CBCEBC-129B-66D9-AE4A-5EAE87F6E620}"/>
              </a:ext>
            </a:extLst>
          </p:cNvPr>
          <p:cNvSpPr/>
          <p:nvPr/>
        </p:nvSpPr>
        <p:spPr>
          <a:xfrm>
            <a:off x="1071563" y="3342953"/>
            <a:ext cx="2442531" cy="3128957"/>
          </a:xfrm>
          <a:prstGeom prst="ellipse">
            <a:avLst/>
          </a:prstGeom>
          <a:no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9971268E-82F8-4883-0EC4-0C2E815E59AC}"/>
              </a:ext>
            </a:extLst>
          </p:cNvPr>
          <p:cNvPicPr>
            <a:picLocks noChangeAspect="1"/>
          </p:cNvPicPr>
          <p:nvPr/>
        </p:nvPicPr>
        <p:blipFill>
          <a:blip r:embed="rId3"/>
          <a:stretch>
            <a:fillRect/>
          </a:stretch>
        </p:blipFill>
        <p:spPr>
          <a:xfrm>
            <a:off x="2808288" y="5725562"/>
            <a:ext cx="706573" cy="706573"/>
          </a:xfrm>
          <a:prstGeom prst="rect">
            <a:avLst/>
          </a:prstGeom>
        </p:spPr>
      </p:pic>
    </p:spTree>
    <p:extLst>
      <p:ext uri="{BB962C8B-B14F-4D97-AF65-F5344CB8AC3E}">
        <p14:creationId xmlns:p14="http://schemas.microsoft.com/office/powerpoint/2010/main" val="3068812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 end="1"/>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animBg="1"/>
      <p:bldP spid="6" grpId="0" animBg="1"/>
      <p:bldP spid="9" grpId="0" animBg="1"/>
      <p:bldP spid="11" grpId="0"/>
      <p:bldP spid="12" grpId="0"/>
      <p:bldP spid="13" grpId="0" animBg="1"/>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A77DA56-5617-3C68-ECA5-6053D5EA2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7B82C-7D9A-DC27-9BAA-26A1D4C7CFFC}"/>
              </a:ext>
            </a:extLst>
          </p:cNvPr>
          <p:cNvSpPr>
            <a:spLocks noGrp="1"/>
          </p:cNvSpPr>
          <p:nvPr>
            <p:ph type="title"/>
          </p:nvPr>
        </p:nvSpPr>
        <p:spPr/>
        <p:txBody>
          <a:bodyPr/>
          <a:lstStyle/>
          <a:p>
            <a:r>
              <a:rPr lang="en-US" dirty="0"/>
              <a:t>What makes negation hard?</a:t>
            </a:r>
          </a:p>
        </p:txBody>
      </p:sp>
      <p:sp>
        <p:nvSpPr>
          <p:cNvPr id="27" name="Content Placeholder 26">
            <a:extLst>
              <a:ext uri="{FF2B5EF4-FFF2-40B4-BE49-F238E27FC236}">
                <a16:creationId xmlns:a16="http://schemas.microsoft.com/office/drawing/2014/main" id="{E4350729-B199-5D17-64F7-E12597364883}"/>
              </a:ext>
            </a:extLst>
          </p:cNvPr>
          <p:cNvSpPr>
            <a:spLocks noGrp="1"/>
          </p:cNvSpPr>
          <p:nvPr>
            <p:ph idx="1"/>
          </p:nvPr>
        </p:nvSpPr>
        <p:spPr/>
        <p:txBody>
          <a:bodyPr/>
          <a:lstStyle/>
          <a:p>
            <a:endParaRPr lang="en-US" dirty="0"/>
          </a:p>
        </p:txBody>
      </p:sp>
      <p:sp>
        <p:nvSpPr>
          <p:cNvPr id="36" name="TextBox 35">
            <a:extLst>
              <a:ext uri="{FF2B5EF4-FFF2-40B4-BE49-F238E27FC236}">
                <a16:creationId xmlns:a16="http://schemas.microsoft.com/office/drawing/2014/main" id="{4402EA91-4077-E4F5-FECC-7AC1D9A656F8}"/>
              </a:ext>
            </a:extLst>
          </p:cNvPr>
          <p:cNvSpPr txBox="1"/>
          <p:nvPr/>
        </p:nvSpPr>
        <p:spPr>
          <a:xfrm>
            <a:off x="676723" y="6536733"/>
            <a:ext cx="1304973" cy="338554"/>
          </a:xfrm>
          <a:prstGeom prst="rect">
            <a:avLst/>
          </a:prstGeom>
          <a:noFill/>
        </p:spPr>
        <p:txBody>
          <a:bodyPr wrap="none" rtlCol="0">
            <a:spAutoFit/>
          </a:bodyPr>
          <a:lstStyle/>
          <a:p>
            <a:r>
              <a:rPr lang="en-US" sz="1600" dirty="0">
                <a:solidFill>
                  <a:schemeClr val="bg2">
                    <a:lumMod val="50000"/>
                  </a:schemeClr>
                </a:solidFill>
              </a:rPr>
              <a:t>Bloom, 1970</a:t>
            </a:r>
          </a:p>
        </p:txBody>
      </p:sp>
      <p:grpSp>
        <p:nvGrpSpPr>
          <p:cNvPr id="20" name="Group 19">
            <a:extLst>
              <a:ext uri="{FF2B5EF4-FFF2-40B4-BE49-F238E27FC236}">
                <a16:creationId xmlns:a16="http://schemas.microsoft.com/office/drawing/2014/main" id="{CAE6439A-1B5A-A278-FF55-7527D9CEC53D}"/>
              </a:ext>
            </a:extLst>
          </p:cNvPr>
          <p:cNvGrpSpPr/>
          <p:nvPr/>
        </p:nvGrpSpPr>
        <p:grpSpPr>
          <a:xfrm>
            <a:off x="2159785" y="3135852"/>
            <a:ext cx="2416211" cy="997287"/>
            <a:chOff x="7427407" y="3025125"/>
            <a:chExt cx="2416211" cy="997287"/>
          </a:xfrm>
        </p:grpSpPr>
        <p:sp>
          <p:nvSpPr>
            <p:cNvPr id="37" name="TextBox 36">
              <a:extLst>
                <a:ext uri="{FF2B5EF4-FFF2-40B4-BE49-F238E27FC236}">
                  <a16:creationId xmlns:a16="http://schemas.microsoft.com/office/drawing/2014/main" id="{A2A7FB46-0D18-E76D-533F-94D6B6F78B1F}"/>
                </a:ext>
              </a:extLst>
            </p:cNvPr>
            <p:cNvSpPr txBox="1"/>
            <p:nvPr/>
          </p:nvSpPr>
          <p:spPr>
            <a:xfrm>
              <a:off x="7427407" y="3376081"/>
              <a:ext cx="2416211" cy="646331"/>
            </a:xfrm>
            <a:prstGeom prst="rect">
              <a:avLst/>
            </a:prstGeom>
            <a:solidFill>
              <a:schemeClr val="accent1">
                <a:lumMod val="20000"/>
                <a:lumOff val="80000"/>
              </a:schemeClr>
            </a:solidFill>
            <a:ln>
              <a:noFill/>
            </a:ln>
          </p:spPr>
          <p:txBody>
            <a:bodyPr wrap="square" rtlCol="0">
              <a:spAutoFit/>
            </a:bodyPr>
            <a:lstStyle/>
            <a:p>
              <a:pPr algn="ctr"/>
              <a:r>
                <a:rPr lang="en-US" dirty="0"/>
                <a:t>Difficulty learning the concept NEGATION</a:t>
              </a:r>
            </a:p>
          </p:txBody>
        </p:sp>
        <p:sp>
          <p:nvSpPr>
            <p:cNvPr id="10" name="TextBox 9">
              <a:extLst>
                <a:ext uri="{FF2B5EF4-FFF2-40B4-BE49-F238E27FC236}">
                  <a16:creationId xmlns:a16="http://schemas.microsoft.com/office/drawing/2014/main" id="{C5787B5D-E27F-951D-0599-A2D958047DB8}"/>
                </a:ext>
              </a:extLst>
            </p:cNvPr>
            <p:cNvSpPr txBox="1"/>
            <p:nvPr/>
          </p:nvSpPr>
          <p:spPr>
            <a:xfrm>
              <a:off x="7539700" y="3025125"/>
              <a:ext cx="2191626" cy="369332"/>
            </a:xfrm>
            <a:prstGeom prst="rect">
              <a:avLst/>
            </a:prstGeom>
            <a:noFill/>
          </p:spPr>
          <p:txBody>
            <a:bodyPr wrap="none" rtlCol="0">
              <a:spAutoFit/>
            </a:bodyPr>
            <a:lstStyle/>
            <a:p>
              <a:r>
                <a:rPr lang="en-US" dirty="0">
                  <a:solidFill>
                    <a:srgbClr val="3799C8"/>
                  </a:solidFill>
                </a:rPr>
                <a:t>CONCEPT LEARNING</a:t>
              </a:r>
            </a:p>
          </p:txBody>
        </p:sp>
      </p:grpSp>
      <p:grpSp>
        <p:nvGrpSpPr>
          <p:cNvPr id="17" name="Group 16">
            <a:extLst>
              <a:ext uri="{FF2B5EF4-FFF2-40B4-BE49-F238E27FC236}">
                <a16:creationId xmlns:a16="http://schemas.microsoft.com/office/drawing/2014/main" id="{139601E7-B6D7-FEE4-4DCD-315E5367DB07}"/>
              </a:ext>
            </a:extLst>
          </p:cNvPr>
          <p:cNvGrpSpPr/>
          <p:nvPr/>
        </p:nvGrpSpPr>
        <p:grpSpPr>
          <a:xfrm>
            <a:off x="8190255" y="3141051"/>
            <a:ext cx="2416211" cy="982804"/>
            <a:chOff x="3159370" y="3025125"/>
            <a:chExt cx="2416211" cy="982804"/>
          </a:xfrm>
        </p:grpSpPr>
        <p:sp>
          <p:nvSpPr>
            <p:cNvPr id="35" name="TextBox 34">
              <a:extLst>
                <a:ext uri="{FF2B5EF4-FFF2-40B4-BE49-F238E27FC236}">
                  <a16:creationId xmlns:a16="http://schemas.microsoft.com/office/drawing/2014/main" id="{02B0DFD0-D9E9-8C9D-8547-95F43157D854}"/>
                </a:ext>
              </a:extLst>
            </p:cNvPr>
            <p:cNvSpPr txBox="1"/>
            <p:nvPr/>
          </p:nvSpPr>
          <p:spPr>
            <a:xfrm>
              <a:off x="3159370" y="3361598"/>
              <a:ext cx="2416211" cy="646331"/>
            </a:xfrm>
            <a:prstGeom prst="rect">
              <a:avLst/>
            </a:prstGeom>
            <a:solidFill>
              <a:schemeClr val="accent2">
                <a:lumMod val="20000"/>
                <a:lumOff val="80000"/>
              </a:schemeClr>
            </a:solidFill>
            <a:ln>
              <a:noFill/>
            </a:ln>
          </p:spPr>
          <p:txBody>
            <a:bodyPr wrap="square" rtlCol="0">
              <a:spAutoFit/>
            </a:bodyPr>
            <a:lstStyle>
              <a:defPPr>
                <a:defRPr lang="en-US"/>
              </a:defPPr>
              <a:lvl1pPr algn="ctr"/>
            </a:lstStyle>
            <a:p>
              <a:r>
                <a:rPr lang="en-US" dirty="0"/>
                <a:t>Difficulty mapping NEGATION to language</a:t>
              </a:r>
            </a:p>
          </p:txBody>
        </p:sp>
        <p:sp>
          <p:nvSpPr>
            <p:cNvPr id="12" name="TextBox 11">
              <a:extLst>
                <a:ext uri="{FF2B5EF4-FFF2-40B4-BE49-F238E27FC236}">
                  <a16:creationId xmlns:a16="http://schemas.microsoft.com/office/drawing/2014/main" id="{E45E315E-22B9-F1BA-2FEB-656BE3CF2123}"/>
                </a:ext>
              </a:extLst>
            </p:cNvPr>
            <p:cNvSpPr txBox="1"/>
            <p:nvPr/>
          </p:nvSpPr>
          <p:spPr>
            <a:xfrm>
              <a:off x="3204369" y="3025125"/>
              <a:ext cx="2326214" cy="369332"/>
            </a:xfrm>
            <a:prstGeom prst="rect">
              <a:avLst/>
            </a:prstGeom>
            <a:noFill/>
          </p:spPr>
          <p:txBody>
            <a:bodyPr wrap="none" rtlCol="0">
              <a:spAutoFit/>
            </a:bodyPr>
            <a:lstStyle/>
            <a:p>
              <a:r>
                <a:rPr lang="en-US" dirty="0">
                  <a:solidFill>
                    <a:schemeClr val="accent2">
                      <a:lumMod val="75000"/>
                    </a:schemeClr>
                  </a:solidFill>
                </a:rPr>
                <a:t>LANGUAGE LEARNING</a:t>
              </a:r>
            </a:p>
          </p:txBody>
        </p:sp>
      </p:grpSp>
      <p:cxnSp>
        <p:nvCxnSpPr>
          <p:cNvPr id="42" name="Straight Arrow Connector 41">
            <a:extLst>
              <a:ext uri="{FF2B5EF4-FFF2-40B4-BE49-F238E27FC236}">
                <a16:creationId xmlns:a16="http://schemas.microsoft.com/office/drawing/2014/main" id="{DF902E41-008E-3A80-AD17-7B1BC0C8D5B0}"/>
              </a:ext>
            </a:extLst>
          </p:cNvPr>
          <p:cNvCxnSpPr/>
          <p:nvPr/>
        </p:nvCxnSpPr>
        <p:spPr>
          <a:xfrm>
            <a:off x="2163130" y="2277243"/>
            <a:ext cx="8423030"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F59EEBD-DD2D-64FC-5FE0-3FE417EFD5C4}"/>
              </a:ext>
            </a:extLst>
          </p:cNvPr>
          <p:cNvSpPr txBox="1"/>
          <p:nvPr/>
        </p:nvSpPr>
        <p:spPr>
          <a:xfrm>
            <a:off x="2569209" y="1444399"/>
            <a:ext cx="148329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(rejection)</a:t>
            </a:r>
          </a:p>
        </p:txBody>
      </p:sp>
      <p:sp>
        <p:nvSpPr>
          <p:cNvPr id="44" name="TextBox 43">
            <a:extLst>
              <a:ext uri="{FF2B5EF4-FFF2-40B4-BE49-F238E27FC236}">
                <a16:creationId xmlns:a16="http://schemas.microsoft.com/office/drawing/2014/main" id="{32F060E6-BDAE-6400-839F-718DC90F8547}"/>
              </a:ext>
            </a:extLst>
          </p:cNvPr>
          <p:cNvSpPr txBox="1"/>
          <p:nvPr/>
        </p:nvSpPr>
        <p:spPr>
          <a:xfrm>
            <a:off x="4118099" y="1386643"/>
            <a:ext cx="1891352"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(nonexistence)</a:t>
            </a:r>
          </a:p>
        </p:txBody>
      </p:sp>
      <p:sp>
        <p:nvSpPr>
          <p:cNvPr id="45" name="TextBox 44">
            <a:extLst>
              <a:ext uri="{FF2B5EF4-FFF2-40B4-BE49-F238E27FC236}">
                <a16:creationId xmlns:a16="http://schemas.microsoft.com/office/drawing/2014/main" id="{8F2B0F71-371F-023A-018C-600D48140842}"/>
              </a:ext>
            </a:extLst>
          </p:cNvPr>
          <p:cNvSpPr txBox="1"/>
          <p:nvPr/>
        </p:nvSpPr>
        <p:spPr>
          <a:xfrm>
            <a:off x="8038208" y="1229618"/>
            <a:ext cx="1225015" cy="646331"/>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(denial)</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Not</a:t>
            </a:r>
          </a:p>
        </p:txBody>
      </p:sp>
      <p:cxnSp>
        <p:nvCxnSpPr>
          <p:cNvPr id="46" name="Straight Connector 45">
            <a:extLst>
              <a:ext uri="{FF2B5EF4-FFF2-40B4-BE49-F238E27FC236}">
                <a16:creationId xmlns:a16="http://schemas.microsoft.com/office/drawing/2014/main" id="{17755FC3-7D28-77BD-E114-1D531612505B}"/>
              </a:ext>
            </a:extLst>
          </p:cNvPr>
          <p:cNvCxnSpPr/>
          <p:nvPr/>
        </p:nvCxnSpPr>
        <p:spPr>
          <a:xfrm>
            <a:off x="4755298" y="2101396"/>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AD21A0B-692F-03EB-16F8-5FF486CD2FF5}"/>
              </a:ext>
            </a:extLst>
          </p:cNvPr>
          <p:cNvSpPr txBox="1"/>
          <p:nvPr/>
        </p:nvSpPr>
        <p:spPr>
          <a:xfrm>
            <a:off x="2574778" y="1770699"/>
            <a:ext cx="1687321" cy="369332"/>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 (prohibition)</a:t>
            </a:r>
          </a:p>
        </p:txBody>
      </p:sp>
      <p:cxnSp>
        <p:nvCxnSpPr>
          <p:cNvPr id="48" name="Straight Connector 47">
            <a:extLst>
              <a:ext uri="{FF2B5EF4-FFF2-40B4-BE49-F238E27FC236}">
                <a16:creationId xmlns:a16="http://schemas.microsoft.com/office/drawing/2014/main" id="{57E82409-BA75-4ED7-0322-101051F16CDD}"/>
              </a:ext>
            </a:extLst>
          </p:cNvPr>
          <p:cNvCxnSpPr/>
          <p:nvPr/>
        </p:nvCxnSpPr>
        <p:spPr>
          <a:xfrm>
            <a:off x="3316932" y="2101395"/>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CD16AB-5090-60E7-5445-541B4A7367B1}"/>
              </a:ext>
            </a:extLst>
          </p:cNvPr>
          <p:cNvCxnSpPr/>
          <p:nvPr/>
        </p:nvCxnSpPr>
        <p:spPr>
          <a:xfrm>
            <a:off x="8654165" y="2084903"/>
            <a:ext cx="0" cy="386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87669567-470F-BFC5-4875-FAE6E88076FF}"/>
              </a:ext>
            </a:extLst>
          </p:cNvPr>
          <p:cNvSpPr txBox="1"/>
          <p:nvPr/>
        </p:nvSpPr>
        <p:spPr>
          <a:xfrm>
            <a:off x="2528250" y="2644487"/>
            <a:ext cx="1436547" cy="369332"/>
          </a:xfrm>
          <a:prstGeom prst="rect">
            <a:avLst/>
          </a:prstGeom>
          <a:noFill/>
        </p:spPr>
        <p:txBody>
          <a:bodyPr wrap="none" rtlCol="0">
            <a:spAutoFit/>
          </a:bodyPr>
          <a:lstStyle/>
          <a:p>
            <a:r>
              <a:rPr lang="en-US" dirty="0"/>
              <a:t>~ 15 months</a:t>
            </a:r>
          </a:p>
        </p:txBody>
      </p:sp>
      <p:sp>
        <p:nvSpPr>
          <p:cNvPr id="51" name="TextBox 50">
            <a:extLst>
              <a:ext uri="{FF2B5EF4-FFF2-40B4-BE49-F238E27FC236}">
                <a16:creationId xmlns:a16="http://schemas.microsoft.com/office/drawing/2014/main" id="{E508627E-361D-8842-ABC6-1A342923D120}"/>
              </a:ext>
            </a:extLst>
          </p:cNvPr>
          <p:cNvSpPr txBox="1"/>
          <p:nvPr/>
        </p:nvSpPr>
        <p:spPr>
          <a:xfrm>
            <a:off x="7875358" y="2644487"/>
            <a:ext cx="1429430" cy="369332"/>
          </a:xfrm>
          <a:prstGeom prst="rect">
            <a:avLst/>
          </a:prstGeom>
          <a:noFill/>
        </p:spPr>
        <p:txBody>
          <a:bodyPr wrap="none" rtlCol="0">
            <a:spAutoFit/>
          </a:bodyPr>
          <a:lstStyle/>
          <a:p>
            <a:r>
              <a:rPr lang="en-US" dirty="0"/>
              <a:t>~ 27 months</a:t>
            </a:r>
          </a:p>
        </p:txBody>
      </p:sp>
      <p:sp>
        <p:nvSpPr>
          <p:cNvPr id="52" name="Rectangle 51">
            <a:extLst>
              <a:ext uri="{FF2B5EF4-FFF2-40B4-BE49-F238E27FC236}">
                <a16:creationId xmlns:a16="http://schemas.microsoft.com/office/drawing/2014/main" id="{4675F17D-E630-6E86-0832-6A2DB8365075}"/>
              </a:ext>
            </a:extLst>
          </p:cNvPr>
          <p:cNvSpPr/>
          <p:nvPr/>
        </p:nvSpPr>
        <p:spPr>
          <a:xfrm>
            <a:off x="4743404" y="1872038"/>
            <a:ext cx="3898857" cy="843480"/>
          </a:xfrm>
          <a:prstGeom prst="rect">
            <a:avLst/>
          </a:prstGeom>
          <a:solidFill>
            <a:schemeClr val="bg2">
              <a:lumMod val="75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
            <a:extLst>
              <a:ext uri="{FF2B5EF4-FFF2-40B4-BE49-F238E27FC236}">
                <a16:creationId xmlns:a16="http://schemas.microsoft.com/office/drawing/2014/main" id="{6CE3B1E7-6DD9-E4DB-4730-98FD35545DC9}"/>
              </a:ext>
            </a:extLst>
          </p:cNvPr>
          <p:cNvSpPr/>
          <p:nvPr/>
        </p:nvSpPr>
        <p:spPr>
          <a:xfrm>
            <a:off x="1813778" y="4868683"/>
            <a:ext cx="9121733" cy="1154948"/>
          </a:xfrm>
          <a:prstGeom prst="roundRect">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Is language learning or concept learning the major bottleneck on children’s acquisition of negation?</a:t>
            </a:r>
          </a:p>
        </p:txBody>
      </p:sp>
    </p:spTree>
    <p:extLst>
      <p:ext uri="{BB962C8B-B14F-4D97-AF65-F5344CB8AC3E}">
        <p14:creationId xmlns:p14="http://schemas.microsoft.com/office/powerpoint/2010/main" val="208995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35205E-9ADC-6907-34ED-DFD0960DE607}"/>
              </a:ext>
            </a:extLst>
          </p:cNvPr>
          <p:cNvPicPr>
            <a:picLocks noChangeAspect="1"/>
          </p:cNvPicPr>
          <p:nvPr/>
        </p:nvPicPr>
        <p:blipFill>
          <a:blip r:embed="rId3"/>
          <a:stretch>
            <a:fillRect/>
          </a:stretch>
        </p:blipFill>
        <p:spPr>
          <a:xfrm>
            <a:off x="845012" y="4673767"/>
            <a:ext cx="1326314" cy="1326314"/>
          </a:xfrm>
          <a:prstGeom prst="rect">
            <a:avLst/>
          </a:prstGeom>
        </p:spPr>
      </p:pic>
      <p:sp>
        <p:nvSpPr>
          <p:cNvPr id="6" name="Oval Callout 5">
            <a:extLst>
              <a:ext uri="{FF2B5EF4-FFF2-40B4-BE49-F238E27FC236}">
                <a16:creationId xmlns:a16="http://schemas.microsoft.com/office/drawing/2014/main" id="{861DD96B-6916-A7C6-2EB8-E215F1389A50}"/>
              </a:ext>
            </a:extLst>
          </p:cNvPr>
          <p:cNvSpPr/>
          <p:nvPr/>
        </p:nvSpPr>
        <p:spPr>
          <a:xfrm>
            <a:off x="3203480" y="511546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a:t>
            </a:r>
          </a:p>
        </p:txBody>
      </p:sp>
      <p:sp>
        <p:nvSpPr>
          <p:cNvPr id="7" name="Cloud Callout 6">
            <a:extLst>
              <a:ext uri="{FF2B5EF4-FFF2-40B4-BE49-F238E27FC236}">
                <a16:creationId xmlns:a16="http://schemas.microsoft.com/office/drawing/2014/main" id="{6D0FF0C2-173B-DB45-1A47-1172C19D3487}"/>
              </a:ext>
            </a:extLst>
          </p:cNvPr>
          <p:cNvSpPr/>
          <p:nvPr/>
        </p:nvSpPr>
        <p:spPr>
          <a:xfrm>
            <a:off x="2171326" y="2798450"/>
            <a:ext cx="4773621" cy="1733552"/>
          </a:xfrm>
          <a:prstGeom prst="cloudCallout">
            <a:avLst>
              <a:gd name="adj1" fmla="val -53593"/>
              <a:gd name="adj2" fmla="val 6623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8" name="TextBox 7">
            <a:extLst>
              <a:ext uri="{FF2B5EF4-FFF2-40B4-BE49-F238E27FC236}">
                <a16:creationId xmlns:a16="http://schemas.microsoft.com/office/drawing/2014/main" id="{34BC2F82-CE0B-49C2-4E64-C0DA7BD2092F}"/>
              </a:ext>
            </a:extLst>
          </p:cNvPr>
          <p:cNvSpPr txBox="1"/>
          <p:nvPr/>
        </p:nvSpPr>
        <p:spPr>
          <a:xfrm>
            <a:off x="2500165" y="3434138"/>
            <a:ext cx="1144865" cy="338554"/>
          </a:xfrm>
          <a:prstGeom prst="rect">
            <a:avLst/>
          </a:prstGeom>
          <a:noFill/>
        </p:spPr>
        <p:txBody>
          <a:bodyPr wrap="none" rtlCol="0">
            <a:spAutoFit/>
          </a:bodyPr>
          <a:lstStyle/>
          <a:p>
            <a:r>
              <a:rPr lang="en-US" sz="1600" dirty="0"/>
              <a:t>REJECTION</a:t>
            </a:r>
          </a:p>
        </p:txBody>
      </p:sp>
      <p:cxnSp>
        <p:nvCxnSpPr>
          <p:cNvPr id="9" name="Straight Arrow Connector 8">
            <a:extLst>
              <a:ext uri="{FF2B5EF4-FFF2-40B4-BE49-F238E27FC236}">
                <a16:creationId xmlns:a16="http://schemas.microsoft.com/office/drawing/2014/main" id="{7B9D2CE5-BB05-83B8-C5CF-0709079EFD6C}"/>
              </a:ext>
            </a:extLst>
          </p:cNvPr>
          <p:cNvCxnSpPr>
            <a:cxnSpLocks/>
            <a:stCxn id="8" idx="2"/>
          </p:cNvCxnSpPr>
          <p:nvPr/>
        </p:nvCxnSpPr>
        <p:spPr>
          <a:xfrm>
            <a:off x="3072598" y="377269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7EB56A6-C77C-7BCF-77A8-165E24F2D03A}"/>
              </a:ext>
            </a:extLst>
          </p:cNvPr>
          <p:cNvSpPr txBox="1"/>
          <p:nvPr/>
        </p:nvSpPr>
        <p:spPr>
          <a:xfrm>
            <a:off x="3198717" y="3737167"/>
            <a:ext cx="1324914" cy="338554"/>
          </a:xfrm>
          <a:prstGeom prst="rect">
            <a:avLst/>
          </a:prstGeom>
          <a:noFill/>
        </p:spPr>
        <p:txBody>
          <a:bodyPr wrap="none" rtlCol="0">
            <a:spAutoFit/>
          </a:bodyPr>
          <a:lstStyle/>
          <a:p>
            <a:r>
              <a:rPr lang="en-US" sz="1600" dirty="0"/>
              <a:t>PROHIBITION</a:t>
            </a:r>
          </a:p>
        </p:txBody>
      </p:sp>
      <p:sp>
        <p:nvSpPr>
          <p:cNvPr id="11" name="TextBox 10">
            <a:extLst>
              <a:ext uri="{FF2B5EF4-FFF2-40B4-BE49-F238E27FC236}">
                <a16:creationId xmlns:a16="http://schemas.microsoft.com/office/drawing/2014/main" id="{345EBB27-3B26-CEEA-4A7F-8F26CAC9F0C8}"/>
              </a:ext>
            </a:extLst>
          </p:cNvPr>
          <p:cNvSpPr txBox="1"/>
          <p:nvPr/>
        </p:nvSpPr>
        <p:spPr>
          <a:xfrm>
            <a:off x="4083031" y="3304831"/>
            <a:ext cx="1544718" cy="338554"/>
          </a:xfrm>
          <a:prstGeom prst="rect">
            <a:avLst/>
          </a:prstGeom>
          <a:noFill/>
        </p:spPr>
        <p:txBody>
          <a:bodyPr wrap="none" rtlCol="0">
            <a:spAutoFit/>
          </a:bodyPr>
          <a:lstStyle/>
          <a:p>
            <a:r>
              <a:rPr lang="en-US" sz="1600" dirty="0"/>
              <a:t>NONEXISTENCE</a:t>
            </a:r>
          </a:p>
        </p:txBody>
      </p:sp>
      <p:sp>
        <p:nvSpPr>
          <p:cNvPr id="14" name="TextBox 13">
            <a:extLst>
              <a:ext uri="{FF2B5EF4-FFF2-40B4-BE49-F238E27FC236}">
                <a16:creationId xmlns:a16="http://schemas.microsoft.com/office/drawing/2014/main" id="{89B29BC3-D8E0-6D89-2FBD-DCFB996EF98C}"/>
              </a:ext>
            </a:extLst>
          </p:cNvPr>
          <p:cNvSpPr txBox="1"/>
          <p:nvPr/>
        </p:nvSpPr>
        <p:spPr>
          <a:xfrm>
            <a:off x="4992048" y="3668222"/>
            <a:ext cx="809837"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8E8E8">
                    <a:lumMod val="75000"/>
                  </a:srgbClr>
                </a:solidFill>
                <a:effectLst/>
                <a:uLnTx/>
                <a:uFillTx/>
                <a:latin typeface="Franklin Gothic Book" panose="020B0503020102020204"/>
                <a:ea typeface="+mn-ea"/>
                <a:cs typeface="+mn-cs"/>
              </a:rPr>
              <a:t>??????</a:t>
            </a:r>
          </a:p>
        </p:txBody>
      </p:sp>
      <p:cxnSp>
        <p:nvCxnSpPr>
          <p:cNvPr id="17" name="Straight Arrow Connector 16">
            <a:extLst>
              <a:ext uri="{FF2B5EF4-FFF2-40B4-BE49-F238E27FC236}">
                <a16:creationId xmlns:a16="http://schemas.microsoft.com/office/drawing/2014/main" id="{FE207145-797B-DA4E-43BE-2D9D0C8BD36F}"/>
              </a:ext>
            </a:extLst>
          </p:cNvPr>
          <p:cNvCxnSpPr>
            <a:cxnSpLocks/>
            <a:stCxn id="14" idx="2"/>
          </p:cNvCxnSpPr>
          <p:nvPr/>
        </p:nvCxnSpPr>
        <p:spPr>
          <a:xfrm flipH="1">
            <a:off x="4156719" y="4006776"/>
            <a:ext cx="1240248" cy="1341639"/>
          </a:xfrm>
          <a:prstGeom prst="straightConnector1">
            <a:avLst/>
          </a:prstGeom>
          <a:ln w="28575">
            <a:solidFill>
              <a:schemeClr val="bg2">
                <a:lumMod val="9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859F70F-86B8-7EFD-6EBC-159DC9CF9000}"/>
              </a:ext>
            </a:extLst>
          </p:cNvPr>
          <p:cNvCxnSpPr>
            <a:cxnSpLocks/>
            <a:stCxn id="10" idx="2"/>
          </p:cNvCxnSpPr>
          <p:nvPr/>
        </p:nvCxnSpPr>
        <p:spPr>
          <a:xfrm>
            <a:off x="3861174" y="4075721"/>
            <a:ext cx="221857"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CD96BCB-9EF4-183E-D6F4-A387A6B1C3F3}"/>
              </a:ext>
            </a:extLst>
          </p:cNvPr>
          <p:cNvCxnSpPr>
            <a:cxnSpLocks/>
            <a:stCxn id="11" idx="2"/>
          </p:cNvCxnSpPr>
          <p:nvPr/>
        </p:nvCxnSpPr>
        <p:spPr>
          <a:xfrm flipH="1">
            <a:off x="4083031" y="3643385"/>
            <a:ext cx="772359" cy="180950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6DD20BE-4C35-CFDC-299C-F973AD377E04}"/>
              </a:ext>
            </a:extLst>
          </p:cNvPr>
          <p:cNvSpPr txBox="1"/>
          <p:nvPr/>
        </p:nvSpPr>
        <p:spPr>
          <a:xfrm>
            <a:off x="7350180" y="2798450"/>
            <a:ext cx="6300123" cy="2246769"/>
          </a:xfrm>
          <a:prstGeom prst="rect">
            <a:avLst/>
          </a:prstGeom>
          <a:noFill/>
        </p:spPr>
        <p:txBody>
          <a:bodyPr wrap="none" rtlCol="0">
            <a:spAutoFit/>
          </a:bodyPr>
          <a:lstStyle/>
          <a:p>
            <a:r>
              <a:rPr lang="en-US" sz="2000" dirty="0"/>
              <a:t>WANT 		:	REJECT</a:t>
            </a:r>
          </a:p>
          <a:p>
            <a:endParaRPr lang="en-US" sz="2000" dirty="0"/>
          </a:p>
          <a:p>
            <a:r>
              <a:rPr lang="en-US" sz="2000" dirty="0"/>
              <a:t>ALLOWED	:	PROHIBITED</a:t>
            </a:r>
          </a:p>
          <a:p>
            <a:endParaRPr lang="en-US" sz="2000" dirty="0"/>
          </a:p>
          <a:p>
            <a:r>
              <a:rPr lang="en-US" sz="2000" dirty="0"/>
              <a:t>EXISTS		: 	NONEXISTENCE</a:t>
            </a:r>
          </a:p>
          <a:p>
            <a:endParaRPr lang="en-US" sz="2000" dirty="0"/>
          </a:p>
          <a:p>
            <a:r>
              <a:rPr lang="en-US" sz="2000" dirty="0"/>
              <a:t>P			: 	NEGATION ( P )					“No!”</a:t>
            </a:r>
          </a:p>
        </p:txBody>
      </p:sp>
      <p:sp>
        <p:nvSpPr>
          <p:cNvPr id="16" name="TextBox 15">
            <a:extLst>
              <a:ext uri="{FF2B5EF4-FFF2-40B4-BE49-F238E27FC236}">
                <a16:creationId xmlns:a16="http://schemas.microsoft.com/office/drawing/2014/main" id="{5D9F5263-1364-7C86-B873-A31BE88D4390}"/>
              </a:ext>
            </a:extLst>
          </p:cNvPr>
          <p:cNvSpPr txBox="1"/>
          <p:nvPr/>
        </p:nvSpPr>
        <p:spPr>
          <a:xfrm>
            <a:off x="4855391" y="6519446"/>
            <a:ext cx="7336610" cy="338554"/>
          </a:xfrm>
          <a:prstGeom prst="rect">
            <a:avLst/>
          </a:prstGeom>
          <a:noFill/>
        </p:spPr>
        <p:txBody>
          <a:bodyPr wrap="square" rtlCol="0">
            <a:spAutoFit/>
          </a:bodyPr>
          <a:lstStyle/>
          <a:p>
            <a:r>
              <a:rPr lang="en-US" sz="1600" dirty="0">
                <a:solidFill>
                  <a:schemeClr val="bg2">
                    <a:lumMod val="50000"/>
                  </a:schemeClr>
                </a:solidFill>
              </a:rPr>
              <a:t>Bermudez (2003); Drozd (1995); Hummer, Wimmer, &amp; Antes (1995) ); Pea (1980)</a:t>
            </a:r>
          </a:p>
        </p:txBody>
      </p:sp>
      <p:sp>
        <p:nvSpPr>
          <p:cNvPr id="36" name="TextBox 35">
            <a:extLst>
              <a:ext uri="{FF2B5EF4-FFF2-40B4-BE49-F238E27FC236}">
                <a16:creationId xmlns:a16="http://schemas.microsoft.com/office/drawing/2014/main" id="{FC3547FE-847E-DCAA-CABB-12269F608253}"/>
              </a:ext>
            </a:extLst>
          </p:cNvPr>
          <p:cNvSpPr txBox="1"/>
          <p:nvPr/>
        </p:nvSpPr>
        <p:spPr>
          <a:xfrm>
            <a:off x="4867340" y="3655504"/>
            <a:ext cx="1228659" cy="338554"/>
          </a:xfrm>
          <a:prstGeom prst="rect">
            <a:avLst/>
          </a:prstGeom>
          <a:noFill/>
        </p:spPr>
        <p:txBody>
          <a:bodyPr wrap="square" rtlCol="0">
            <a:spAutoFit/>
          </a:bodyPr>
          <a:lstStyle/>
          <a:p>
            <a:r>
              <a:rPr lang="en-US" sz="1600" dirty="0"/>
              <a:t>NEGATION </a:t>
            </a:r>
          </a:p>
        </p:txBody>
      </p:sp>
      <p:cxnSp>
        <p:nvCxnSpPr>
          <p:cNvPr id="37" name="Straight Arrow Connector 36">
            <a:extLst>
              <a:ext uri="{FF2B5EF4-FFF2-40B4-BE49-F238E27FC236}">
                <a16:creationId xmlns:a16="http://schemas.microsoft.com/office/drawing/2014/main" id="{A5A3A61E-4C2D-A6D5-5594-E38D89FB745D}"/>
              </a:ext>
            </a:extLst>
          </p:cNvPr>
          <p:cNvCxnSpPr>
            <a:cxnSpLocks/>
            <a:stCxn id="36" idx="2"/>
          </p:cNvCxnSpPr>
          <p:nvPr/>
        </p:nvCxnSpPr>
        <p:spPr>
          <a:xfrm flipH="1">
            <a:off x="4080575" y="3994058"/>
            <a:ext cx="1401095" cy="1402263"/>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FBD9EA13-ED33-2734-9B08-45E7C694FA4F}"/>
              </a:ext>
            </a:extLst>
          </p:cNvPr>
          <p:cNvSpPr txBox="1">
            <a:spLocks/>
          </p:cNvSpPr>
          <p:nvPr/>
        </p:nvSpPr>
        <p:spPr>
          <a:xfrm>
            <a:off x="1524000" y="734621"/>
            <a:ext cx="9362743" cy="1485900"/>
          </a:xfrm>
          <a:prstGeom prst="rect">
            <a:avLst/>
          </a:prstGeom>
          <a:solidFill>
            <a:schemeClr val="accent1">
              <a:lumMod val="20000"/>
              <a:lumOff val="80000"/>
            </a:schemeClr>
          </a:solidFill>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US" dirty="0"/>
              <a:t>Language structure may scaffold concept acquisition</a:t>
            </a:r>
          </a:p>
        </p:txBody>
      </p:sp>
    </p:spTree>
    <p:extLst>
      <p:ext uri="{BB962C8B-B14F-4D97-AF65-F5344CB8AC3E}">
        <p14:creationId xmlns:p14="http://schemas.microsoft.com/office/powerpoint/2010/main" val="116255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17"/>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build="p"/>
      <p:bldP spid="36" grpId="0"/>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D7E1A-C544-90AE-2903-E158E9A01E46}"/>
              </a:ext>
            </a:extLst>
          </p:cNvPr>
          <p:cNvSpPr txBox="1"/>
          <p:nvPr/>
        </p:nvSpPr>
        <p:spPr>
          <a:xfrm>
            <a:off x="3747589" y="2346397"/>
            <a:ext cx="966931" cy="400110"/>
          </a:xfrm>
          <a:prstGeom prst="rect">
            <a:avLst/>
          </a:prstGeom>
          <a:noFill/>
        </p:spPr>
        <p:txBody>
          <a:bodyPr wrap="none" rtlCol="0">
            <a:spAutoFit/>
          </a:bodyPr>
          <a:lstStyle/>
          <a:p>
            <a:r>
              <a:rPr lang="en-US" sz="2000" u="sng" dirty="0"/>
              <a:t>English</a:t>
            </a:r>
          </a:p>
        </p:txBody>
      </p:sp>
      <p:pic>
        <p:nvPicPr>
          <p:cNvPr id="8" name="Picture 7">
            <a:extLst>
              <a:ext uri="{FF2B5EF4-FFF2-40B4-BE49-F238E27FC236}">
                <a16:creationId xmlns:a16="http://schemas.microsoft.com/office/drawing/2014/main" id="{083C7D69-18BB-73AF-A4CA-8740B99ED743}"/>
              </a:ext>
            </a:extLst>
          </p:cNvPr>
          <p:cNvPicPr>
            <a:picLocks noChangeAspect="1"/>
          </p:cNvPicPr>
          <p:nvPr/>
        </p:nvPicPr>
        <p:blipFill>
          <a:blip r:embed="rId3"/>
          <a:stretch>
            <a:fillRect/>
          </a:stretch>
        </p:blipFill>
        <p:spPr>
          <a:xfrm>
            <a:off x="731427" y="5065056"/>
            <a:ext cx="1326314" cy="1326314"/>
          </a:xfrm>
          <a:prstGeom prst="rect">
            <a:avLst/>
          </a:prstGeom>
        </p:spPr>
      </p:pic>
      <p:sp>
        <p:nvSpPr>
          <p:cNvPr id="9" name="Oval Callout 8">
            <a:extLst>
              <a:ext uri="{FF2B5EF4-FFF2-40B4-BE49-F238E27FC236}">
                <a16:creationId xmlns:a16="http://schemas.microsoft.com/office/drawing/2014/main" id="{6A1CA842-69F9-9312-4ADC-218CCCC11508}"/>
              </a:ext>
            </a:extLst>
          </p:cNvPr>
          <p:cNvSpPr/>
          <p:nvPr/>
        </p:nvSpPr>
        <p:spPr>
          <a:xfrm>
            <a:off x="3089895" y="5506752"/>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a:t>
            </a:r>
          </a:p>
        </p:txBody>
      </p:sp>
      <p:sp>
        <p:nvSpPr>
          <p:cNvPr id="10" name="Cloud Callout 9">
            <a:extLst>
              <a:ext uri="{FF2B5EF4-FFF2-40B4-BE49-F238E27FC236}">
                <a16:creationId xmlns:a16="http://schemas.microsoft.com/office/drawing/2014/main" id="{2905D112-5D50-D5B2-3961-FE44D58F7A6E}"/>
              </a:ext>
            </a:extLst>
          </p:cNvPr>
          <p:cNvSpPr/>
          <p:nvPr/>
        </p:nvSpPr>
        <p:spPr>
          <a:xfrm>
            <a:off x="2057741" y="3189739"/>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11" name="TextBox 10">
            <a:extLst>
              <a:ext uri="{FF2B5EF4-FFF2-40B4-BE49-F238E27FC236}">
                <a16:creationId xmlns:a16="http://schemas.microsoft.com/office/drawing/2014/main" id="{559AC8EE-E2AA-F8CD-DF08-826F7BF1C178}"/>
              </a:ext>
            </a:extLst>
          </p:cNvPr>
          <p:cNvSpPr txBox="1"/>
          <p:nvPr/>
        </p:nvSpPr>
        <p:spPr>
          <a:xfrm>
            <a:off x="2386580" y="3825427"/>
            <a:ext cx="1144865" cy="338554"/>
          </a:xfrm>
          <a:prstGeom prst="rect">
            <a:avLst/>
          </a:prstGeom>
          <a:noFill/>
        </p:spPr>
        <p:txBody>
          <a:bodyPr wrap="none" rtlCol="0">
            <a:spAutoFit/>
          </a:bodyPr>
          <a:lstStyle/>
          <a:p>
            <a:r>
              <a:rPr lang="en-US" sz="1600" dirty="0"/>
              <a:t>REJECTION</a:t>
            </a:r>
          </a:p>
        </p:txBody>
      </p:sp>
      <p:cxnSp>
        <p:nvCxnSpPr>
          <p:cNvPr id="13" name="Straight Arrow Connector 12">
            <a:extLst>
              <a:ext uri="{FF2B5EF4-FFF2-40B4-BE49-F238E27FC236}">
                <a16:creationId xmlns:a16="http://schemas.microsoft.com/office/drawing/2014/main" id="{768221B0-6FC8-657D-8105-2505C4D25326}"/>
              </a:ext>
            </a:extLst>
          </p:cNvPr>
          <p:cNvCxnSpPr>
            <a:cxnSpLocks/>
            <a:stCxn id="11" idx="2"/>
          </p:cNvCxnSpPr>
          <p:nvPr/>
        </p:nvCxnSpPr>
        <p:spPr>
          <a:xfrm>
            <a:off x="2959013" y="4163981"/>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78D92B3-6086-5B05-DEC6-E5F6FFF75FE7}"/>
              </a:ext>
            </a:extLst>
          </p:cNvPr>
          <p:cNvSpPr txBox="1"/>
          <p:nvPr/>
        </p:nvSpPr>
        <p:spPr>
          <a:xfrm>
            <a:off x="3085132" y="4128456"/>
            <a:ext cx="1324914" cy="338554"/>
          </a:xfrm>
          <a:prstGeom prst="rect">
            <a:avLst/>
          </a:prstGeom>
          <a:noFill/>
        </p:spPr>
        <p:txBody>
          <a:bodyPr wrap="none" rtlCol="0">
            <a:spAutoFit/>
          </a:bodyPr>
          <a:lstStyle/>
          <a:p>
            <a:r>
              <a:rPr lang="en-US" sz="1600" dirty="0"/>
              <a:t>PROHIBITION</a:t>
            </a:r>
          </a:p>
        </p:txBody>
      </p:sp>
      <p:sp>
        <p:nvSpPr>
          <p:cNvPr id="17" name="TextBox 16">
            <a:extLst>
              <a:ext uri="{FF2B5EF4-FFF2-40B4-BE49-F238E27FC236}">
                <a16:creationId xmlns:a16="http://schemas.microsoft.com/office/drawing/2014/main" id="{C473472C-E241-0ADC-9C3D-0CB24CC17498}"/>
              </a:ext>
            </a:extLst>
          </p:cNvPr>
          <p:cNvSpPr txBox="1"/>
          <p:nvPr/>
        </p:nvSpPr>
        <p:spPr>
          <a:xfrm>
            <a:off x="3969446" y="3696120"/>
            <a:ext cx="1544718" cy="338554"/>
          </a:xfrm>
          <a:prstGeom prst="rect">
            <a:avLst/>
          </a:prstGeom>
          <a:noFill/>
        </p:spPr>
        <p:txBody>
          <a:bodyPr wrap="none" rtlCol="0">
            <a:spAutoFit/>
          </a:bodyPr>
          <a:lstStyle/>
          <a:p>
            <a:r>
              <a:rPr lang="en-US" sz="1600" dirty="0"/>
              <a:t>NONEXISTENCE</a:t>
            </a:r>
          </a:p>
        </p:txBody>
      </p:sp>
      <p:cxnSp>
        <p:nvCxnSpPr>
          <p:cNvPr id="20" name="Straight Arrow Connector 19">
            <a:extLst>
              <a:ext uri="{FF2B5EF4-FFF2-40B4-BE49-F238E27FC236}">
                <a16:creationId xmlns:a16="http://schemas.microsoft.com/office/drawing/2014/main" id="{7AC66E78-812C-CAC5-8CDE-F15BE1432B5D}"/>
              </a:ext>
            </a:extLst>
          </p:cNvPr>
          <p:cNvCxnSpPr>
            <a:cxnSpLocks/>
            <a:stCxn id="14" idx="2"/>
          </p:cNvCxnSpPr>
          <p:nvPr/>
        </p:nvCxnSpPr>
        <p:spPr>
          <a:xfrm>
            <a:off x="3747589" y="4467010"/>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A416048-F80F-19BA-27A0-B6866ADE6DE1}"/>
              </a:ext>
            </a:extLst>
          </p:cNvPr>
          <p:cNvCxnSpPr>
            <a:cxnSpLocks/>
            <a:stCxn id="17" idx="2"/>
          </p:cNvCxnSpPr>
          <p:nvPr/>
        </p:nvCxnSpPr>
        <p:spPr>
          <a:xfrm flipH="1">
            <a:off x="3946457" y="4034674"/>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2382E28-6D9E-F3A9-F226-35023F20169C}"/>
              </a:ext>
            </a:extLst>
          </p:cNvPr>
          <p:cNvSpPr txBox="1"/>
          <p:nvPr/>
        </p:nvSpPr>
        <p:spPr>
          <a:xfrm>
            <a:off x="4912668" y="4148657"/>
            <a:ext cx="1077474" cy="338554"/>
          </a:xfrm>
          <a:prstGeom prst="rect">
            <a:avLst/>
          </a:prstGeom>
          <a:noFill/>
        </p:spPr>
        <p:txBody>
          <a:bodyPr wrap="none" rtlCol="0">
            <a:spAutoFit/>
          </a:bodyPr>
          <a:lstStyle/>
          <a:p>
            <a:r>
              <a:rPr lang="en-US" sz="1600" dirty="0"/>
              <a:t>NEGATION</a:t>
            </a:r>
          </a:p>
        </p:txBody>
      </p:sp>
      <p:cxnSp>
        <p:nvCxnSpPr>
          <p:cNvPr id="24" name="Straight Arrow Connector 23">
            <a:extLst>
              <a:ext uri="{FF2B5EF4-FFF2-40B4-BE49-F238E27FC236}">
                <a16:creationId xmlns:a16="http://schemas.microsoft.com/office/drawing/2014/main" id="{58426052-4CCB-7FA7-0AFF-52D133BA054E}"/>
              </a:ext>
            </a:extLst>
          </p:cNvPr>
          <p:cNvCxnSpPr>
            <a:cxnSpLocks/>
            <a:stCxn id="23" idx="2"/>
          </p:cNvCxnSpPr>
          <p:nvPr/>
        </p:nvCxnSpPr>
        <p:spPr>
          <a:xfrm flipH="1">
            <a:off x="4077339" y="4487211"/>
            <a:ext cx="1374066" cy="1341639"/>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3015B9A-2338-B7DF-2FF7-A6404C6E2963}"/>
              </a:ext>
            </a:extLst>
          </p:cNvPr>
          <p:cNvSpPr txBox="1"/>
          <p:nvPr/>
        </p:nvSpPr>
        <p:spPr>
          <a:xfrm>
            <a:off x="8850049" y="2346397"/>
            <a:ext cx="1010918" cy="400110"/>
          </a:xfrm>
          <a:prstGeom prst="rect">
            <a:avLst/>
          </a:prstGeom>
          <a:noFill/>
        </p:spPr>
        <p:txBody>
          <a:bodyPr wrap="none" rtlCol="0">
            <a:spAutoFit/>
          </a:bodyPr>
          <a:lstStyle/>
          <a:p>
            <a:r>
              <a:rPr lang="en-US" sz="2000" u="sng" dirty="0"/>
              <a:t>Tagalog</a:t>
            </a:r>
          </a:p>
        </p:txBody>
      </p:sp>
      <p:sp>
        <p:nvSpPr>
          <p:cNvPr id="26" name="Oval Callout 25">
            <a:extLst>
              <a:ext uri="{FF2B5EF4-FFF2-40B4-BE49-F238E27FC236}">
                <a16:creationId xmlns:a16="http://schemas.microsoft.com/office/drawing/2014/main" id="{25A68B95-10F6-78D4-DD24-4327A287D905}"/>
              </a:ext>
            </a:extLst>
          </p:cNvPr>
          <p:cNvSpPr/>
          <p:nvPr/>
        </p:nvSpPr>
        <p:spPr>
          <a:xfrm>
            <a:off x="7437797" y="5558979"/>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Cloud Callout 26">
            <a:extLst>
              <a:ext uri="{FF2B5EF4-FFF2-40B4-BE49-F238E27FC236}">
                <a16:creationId xmlns:a16="http://schemas.microsoft.com/office/drawing/2014/main" id="{A039CCF2-A32D-BABD-D6B3-67933E9A09B7}"/>
              </a:ext>
            </a:extLst>
          </p:cNvPr>
          <p:cNvSpPr/>
          <p:nvPr/>
        </p:nvSpPr>
        <p:spPr>
          <a:xfrm>
            <a:off x="7160201" y="3189739"/>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28" name="TextBox 27">
            <a:extLst>
              <a:ext uri="{FF2B5EF4-FFF2-40B4-BE49-F238E27FC236}">
                <a16:creationId xmlns:a16="http://schemas.microsoft.com/office/drawing/2014/main" id="{256F936F-2F1C-C22B-327E-2B398DE91426}"/>
              </a:ext>
            </a:extLst>
          </p:cNvPr>
          <p:cNvSpPr txBox="1"/>
          <p:nvPr/>
        </p:nvSpPr>
        <p:spPr>
          <a:xfrm>
            <a:off x="7489040" y="3825427"/>
            <a:ext cx="1144865" cy="338554"/>
          </a:xfrm>
          <a:prstGeom prst="rect">
            <a:avLst/>
          </a:prstGeom>
          <a:noFill/>
        </p:spPr>
        <p:txBody>
          <a:bodyPr wrap="none" rtlCol="0">
            <a:spAutoFit/>
          </a:bodyPr>
          <a:lstStyle/>
          <a:p>
            <a:r>
              <a:rPr lang="en-US" sz="1600" dirty="0"/>
              <a:t>REJECTION</a:t>
            </a:r>
          </a:p>
        </p:txBody>
      </p:sp>
      <p:sp>
        <p:nvSpPr>
          <p:cNvPr id="29" name="TextBox 28">
            <a:extLst>
              <a:ext uri="{FF2B5EF4-FFF2-40B4-BE49-F238E27FC236}">
                <a16:creationId xmlns:a16="http://schemas.microsoft.com/office/drawing/2014/main" id="{F5BFDDB4-7D09-2B76-16C2-6AE12D711A63}"/>
              </a:ext>
            </a:extLst>
          </p:cNvPr>
          <p:cNvSpPr txBox="1"/>
          <p:nvPr/>
        </p:nvSpPr>
        <p:spPr>
          <a:xfrm>
            <a:off x="8187592" y="4128456"/>
            <a:ext cx="1324914" cy="338554"/>
          </a:xfrm>
          <a:prstGeom prst="rect">
            <a:avLst/>
          </a:prstGeom>
          <a:noFill/>
        </p:spPr>
        <p:txBody>
          <a:bodyPr wrap="none" rtlCol="0">
            <a:spAutoFit/>
          </a:bodyPr>
          <a:lstStyle/>
          <a:p>
            <a:r>
              <a:rPr lang="en-US" sz="1600" dirty="0"/>
              <a:t>PROHIBITION</a:t>
            </a:r>
          </a:p>
        </p:txBody>
      </p:sp>
      <p:sp>
        <p:nvSpPr>
          <p:cNvPr id="31" name="TextBox 30">
            <a:extLst>
              <a:ext uri="{FF2B5EF4-FFF2-40B4-BE49-F238E27FC236}">
                <a16:creationId xmlns:a16="http://schemas.microsoft.com/office/drawing/2014/main" id="{A51F3C85-3A62-FBE8-681A-3971E73B4F8C}"/>
              </a:ext>
            </a:extLst>
          </p:cNvPr>
          <p:cNvSpPr txBox="1"/>
          <p:nvPr/>
        </p:nvSpPr>
        <p:spPr>
          <a:xfrm>
            <a:off x="9071906" y="3696120"/>
            <a:ext cx="1544718" cy="338554"/>
          </a:xfrm>
          <a:prstGeom prst="rect">
            <a:avLst/>
          </a:prstGeom>
          <a:noFill/>
        </p:spPr>
        <p:txBody>
          <a:bodyPr wrap="none" rtlCol="0">
            <a:spAutoFit/>
          </a:bodyPr>
          <a:lstStyle/>
          <a:p>
            <a:r>
              <a:rPr lang="en-US" sz="1600" dirty="0"/>
              <a:t>NONEXISTENCE</a:t>
            </a:r>
          </a:p>
        </p:txBody>
      </p:sp>
      <p:sp>
        <p:nvSpPr>
          <p:cNvPr id="32" name="TextBox 31">
            <a:extLst>
              <a:ext uri="{FF2B5EF4-FFF2-40B4-BE49-F238E27FC236}">
                <a16:creationId xmlns:a16="http://schemas.microsoft.com/office/drawing/2014/main" id="{2D286D7A-9DE2-799C-45CF-A1ECE01F4204}"/>
              </a:ext>
            </a:extLst>
          </p:cNvPr>
          <p:cNvSpPr txBox="1"/>
          <p:nvPr/>
        </p:nvSpPr>
        <p:spPr>
          <a:xfrm>
            <a:off x="10015128" y="4148657"/>
            <a:ext cx="1077474" cy="338554"/>
          </a:xfrm>
          <a:prstGeom prst="rect">
            <a:avLst/>
          </a:prstGeom>
          <a:noFill/>
        </p:spPr>
        <p:txBody>
          <a:bodyPr wrap="none" rtlCol="0">
            <a:spAutoFit/>
          </a:bodyPr>
          <a:lstStyle/>
          <a:p>
            <a:r>
              <a:rPr lang="en-US" sz="1600" dirty="0"/>
              <a:t>NEGATION</a:t>
            </a:r>
          </a:p>
        </p:txBody>
      </p:sp>
      <p:sp>
        <p:nvSpPr>
          <p:cNvPr id="33" name="TextBox 32">
            <a:extLst>
              <a:ext uri="{FF2B5EF4-FFF2-40B4-BE49-F238E27FC236}">
                <a16:creationId xmlns:a16="http://schemas.microsoft.com/office/drawing/2014/main" id="{80D4E548-A0A9-E0E4-F6B2-FE68B1A8E521}"/>
              </a:ext>
            </a:extLst>
          </p:cNvPr>
          <p:cNvSpPr txBox="1"/>
          <p:nvPr/>
        </p:nvSpPr>
        <p:spPr>
          <a:xfrm>
            <a:off x="7712173" y="5862008"/>
            <a:ext cx="3600666" cy="646331"/>
          </a:xfrm>
          <a:prstGeom prst="rect">
            <a:avLst/>
          </a:prstGeom>
          <a:noFill/>
        </p:spPr>
        <p:txBody>
          <a:bodyPr wrap="none" rtlCol="0">
            <a:spAutoFit/>
          </a:bodyPr>
          <a:lstStyle/>
          <a:p>
            <a:r>
              <a:rPr lang="en-US" dirty="0">
                <a:solidFill>
                  <a:schemeClr val="tx1"/>
                </a:solidFill>
              </a:rPr>
              <a:t>“</a:t>
            </a:r>
            <a:r>
              <a:rPr lang="en-US" dirty="0" err="1">
                <a:solidFill>
                  <a:schemeClr val="tx1"/>
                </a:solidFill>
              </a:rPr>
              <a:t>ayaw</a:t>
            </a:r>
            <a:r>
              <a:rPr lang="en-US" dirty="0">
                <a:solidFill>
                  <a:schemeClr val="tx1"/>
                </a:solidFill>
              </a:rPr>
              <a:t>”	“</a:t>
            </a:r>
            <a:r>
              <a:rPr lang="en-US" dirty="0" err="1">
                <a:solidFill>
                  <a:schemeClr val="tx1"/>
                </a:solidFill>
              </a:rPr>
              <a:t>huwag</a:t>
            </a:r>
            <a:r>
              <a:rPr lang="en-US" dirty="0">
                <a:solidFill>
                  <a:schemeClr val="tx1"/>
                </a:solidFill>
              </a:rPr>
              <a:t>”	“</a:t>
            </a:r>
            <a:r>
              <a:rPr lang="en-US" dirty="0" err="1">
                <a:solidFill>
                  <a:schemeClr val="tx1"/>
                </a:solidFill>
              </a:rPr>
              <a:t>wala</a:t>
            </a:r>
            <a:r>
              <a:rPr lang="en-US" dirty="0">
                <a:solidFill>
                  <a:schemeClr val="tx1"/>
                </a:solidFill>
              </a:rPr>
              <a:t>”	“</a:t>
            </a:r>
            <a:r>
              <a:rPr lang="en-US" dirty="0" err="1">
                <a:solidFill>
                  <a:schemeClr val="tx1"/>
                </a:solidFill>
              </a:rPr>
              <a:t>hindi</a:t>
            </a:r>
            <a:r>
              <a:rPr lang="en-US" dirty="0">
                <a:solidFill>
                  <a:schemeClr val="tx1"/>
                </a:solidFill>
              </a:rPr>
              <a:t>"</a:t>
            </a:r>
          </a:p>
          <a:p>
            <a:endParaRPr lang="en-US" dirty="0"/>
          </a:p>
        </p:txBody>
      </p:sp>
      <p:cxnSp>
        <p:nvCxnSpPr>
          <p:cNvPr id="34" name="Straight Arrow Connector 33">
            <a:extLst>
              <a:ext uri="{FF2B5EF4-FFF2-40B4-BE49-F238E27FC236}">
                <a16:creationId xmlns:a16="http://schemas.microsoft.com/office/drawing/2014/main" id="{B58A3310-374D-D244-0E99-EEE93BC41594}"/>
              </a:ext>
            </a:extLst>
          </p:cNvPr>
          <p:cNvCxnSpPr>
            <a:cxnSpLocks/>
          </p:cNvCxnSpPr>
          <p:nvPr/>
        </p:nvCxnSpPr>
        <p:spPr>
          <a:xfrm>
            <a:off x="8031642" y="4197139"/>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55B4DF4-08AB-C6CD-E44E-AF6EE5103AB3}"/>
              </a:ext>
            </a:extLst>
          </p:cNvPr>
          <p:cNvCxnSpPr>
            <a:cxnSpLocks/>
          </p:cNvCxnSpPr>
          <p:nvPr/>
        </p:nvCxnSpPr>
        <p:spPr>
          <a:xfrm>
            <a:off x="8850049" y="4408701"/>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5DCE627-52FF-26B7-7EF1-39A190F7FBE1}"/>
              </a:ext>
            </a:extLst>
          </p:cNvPr>
          <p:cNvCxnSpPr>
            <a:cxnSpLocks/>
          </p:cNvCxnSpPr>
          <p:nvPr/>
        </p:nvCxnSpPr>
        <p:spPr>
          <a:xfrm>
            <a:off x="9834185" y="4041096"/>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48C4FED-AB7E-A721-EF06-53317E6B245D}"/>
              </a:ext>
            </a:extLst>
          </p:cNvPr>
          <p:cNvCxnSpPr>
            <a:cxnSpLocks/>
          </p:cNvCxnSpPr>
          <p:nvPr/>
        </p:nvCxnSpPr>
        <p:spPr>
          <a:xfrm>
            <a:off x="10583665" y="4467010"/>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 name="Arc 2">
            <a:extLst>
              <a:ext uri="{FF2B5EF4-FFF2-40B4-BE49-F238E27FC236}">
                <a16:creationId xmlns:a16="http://schemas.microsoft.com/office/drawing/2014/main" id="{2D7D589E-93C8-1E77-F534-D6B7602E0468}"/>
              </a:ext>
            </a:extLst>
          </p:cNvPr>
          <p:cNvSpPr/>
          <p:nvPr/>
        </p:nvSpPr>
        <p:spPr>
          <a:xfrm>
            <a:off x="2913800" y="3382093"/>
            <a:ext cx="2742413" cy="1200711"/>
          </a:xfrm>
          <a:prstGeom prst="arc">
            <a:avLst>
              <a:gd name="adj1" fmla="val 11309548"/>
              <a:gd name="adj2" fmla="val 572674"/>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5" name="Arc 4">
            <a:extLst>
              <a:ext uri="{FF2B5EF4-FFF2-40B4-BE49-F238E27FC236}">
                <a16:creationId xmlns:a16="http://schemas.microsoft.com/office/drawing/2014/main" id="{C76E98E7-33CC-3D37-113A-CC7EDD7CDCD5}"/>
              </a:ext>
            </a:extLst>
          </p:cNvPr>
          <p:cNvSpPr/>
          <p:nvPr/>
        </p:nvSpPr>
        <p:spPr>
          <a:xfrm>
            <a:off x="3634097" y="3326079"/>
            <a:ext cx="2174516" cy="1409126"/>
          </a:xfrm>
          <a:prstGeom prst="arc">
            <a:avLst>
              <a:gd name="adj1" fmla="val 11269841"/>
              <a:gd name="adj2" fmla="val 572674"/>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6" name="Arc 5">
            <a:extLst>
              <a:ext uri="{FF2B5EF4-FFF2-40B4-BE49-F238E27FC236}">
                <a16:creationId xmlns:a16="http://schemas.microsoft.com/office/drawing/2014/main" id="{A6EE3A0F-90BD-9F72-CB46-C0F926DB4703}"/>
              </a:ext>
            </a:extLst>
          </p:cNvPr>
          <p:cNvSpPr/>
          <p:nvPr/>
        </p:nvSpPr>
        <p:spPr>
          <a:xfrm>
            <a:off x="4641440" y="3326078"/>
            <a:ext cx="1153078" cy="1020507"/>
          </a:xfrm>
          <a:prstGeom prst="arc">
            <a:avLst>
              <a:gd name="adj1" fmla="val 11269841"/>
              <a:gd name="adj2" fmla="val 1908015"/>
            </a:avLst>
          </a:prstGeom>
          <a:ln w="28575">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ranklin Gothic Book" panose="020B0503020102020204"/>
              <a:ea typeface="+mn-ea"/>
              <a:cs typeface="+mn-cs"/>
            </a:endParaRPr>
          </a:p>
        </p:txBody>
      </p:sp>
      <p:sp>
        <p:nvSpPr>
          <p:cNvPr id="21" name="Title 1">
            <a:extLst>
              <a:ext uri="{FF2B5EF4-FFF2-40B4-BE49-F238E27FC236}">
                <a16:creationId xmlns:a16="http://schemas.microsoft.com/office/drawing/2014/main" id="{D2A2F507-17C8-A446-AB6D-F1B080E422E0}"/>
              </a:ext>
            </a:extLst>
          </p:cNvPr>
          <p:cNvSpPr txBox="1">
            <a:spLocks/>
          </p:cNvSpPr>
          <p:nvPr/>
        </p:nvSpPr>
        <p:spPr>
          <a:xfrm>
            <a:off x="1524000" y="734621"/>
            <a:ext cx="9362743" cy="1485900"/>
          </a:xfrm>
          <a:prstGeom prst="rect">
            <a:avLst/>
          </a:prstGeom>
          <a:solidFill>
            <a:schemeClr val="accent1">
              <a:lumMod val="20000"/>
              <a:lumOff val="80000"/>
            </a:schemeClr>
          </a:solidFill>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US" dirty="0"/>
              <a:t>Language structure may scaffold concept acquisition</a:t>
            </a:r>
          </a:p>
        </p:txBody>
      </p:sp>
    </p:spTree>
    <p:extLst>
      <p:ext uri="{BB962C8B-B14F-4D97-AF65-F5344CB8AC3E}">
        <p14:creationId xmlns:p14="http://schemas.microsoft.com/office/powerpoint/2010/main" val="4175796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p:bldP spid="29" grpId="0"/>
      <p:bldP spid="31" grpId="0"/>
      <p:bldP spid="32" grpId="0"/>
      <p:bldP spid="33" grpId="0"/>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CA7F7E-F563-8B74-BAF0-9F1B2F12DB35}"/>
            </a:ext>
          </a:extLst>
        </p:cNvPr>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CB7C5E63-0EFA-2AB1-7813-DDED52F29D61}"/>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42CEFE8-C232-3AD1-F35C-0EA5401C361A}"/>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11" name="TextBox 10">
            <a:extLst>
              <a:ext uri="{FF2B5EF4-FFF2-40B4-BE49-F238E27FC236}">
                <a16:creationId xmlns:a16="http://schemas.microsoft.com/office/drawing/2014/main" id="{9680AB19-74E8-260A-A82F-1439030E4AD5}"/>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12" name="TextBox 11">
            <a:extLst>
              <a:ext uri="{FF2B5EF4-FFF2-40B4-BE49-F238E27FC236}">
                <a16:creationId xmlns:a16="http://schemas.microsoft.com/office/drawing/2014/main" id="{75EC1462-0C86-A3CC-D940-DD4FE5A8732C}"/>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 name="Right Arrow 2">
            <a:extLst>
              <a:ext uri="{FF2B5EF4-FFF2-40B4-BE49-F238E27FC236}">
                <a16:creationId xmlns:a16="http://schemas.microsoft.com/office/drawing/2014/main" id="{864A9FDF-DB0A-A9D8-CF59-378D92EFC206}"/>
              </a:ext>
            </a:extLst>
          </p:cNvPr>
          <p:cNvSpPr/>
          <p:nvPr/>
        </p:nvSpPr>
        <p:spPr>
          <a:xfrm rot="16200000">
            <a:off x="293235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3" name="TextBox 12">
            <a:extLst>
              <a:ext uri="{FF2B5EF4-FFF2-40B4-BE49-F238E27FC236}">
                <a16:creationId xmlns:a16="http://schemas.microsoft.com/office/drawing/2014/main" id="{EFB679CB-3FFB-6DCA-D6E1-E350BAC46967}"/>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6" name="TextBox 5">
            <a:extLst>
              <a:ext uri="{FF2B5EF4-FFF2-40B4-BE49-F238E27FC236}">
                <a16:creationId xmlns:a16="http://schemas.microsoft.com/office/drawing/2014/main" id="{C07A721D-C209-8638-9358-62B84D48553A}"/>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7" name="TextBox 6">
            <a:extLst>
              <a:ext uri="{FF2B5EF4-FFF2-40B4-BE49-F238E27FC236}">
                <a16:creationId xmlns:a16="http://schemas.microsoft.com/office/drawing/2014/main" id="{86A27D7A-0A71-4BA0-E9B8-B1B11F905C67}"/>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17" name="Picture 16">
            <a:extLst>
              <a:ext uri="{FF2B5EF4-FFF2-40B4-BE49-F238E27FC236}">
                <a16:creationId xmlns:a16="http://schemas.microsoft.com/office/drawing/2014/main" id="{ED15BDBD-CBCC-0BAF-23AD-D3C0EC280F65}"/>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18" name="Rectangle 17">
            <a:extLst>
              <a:ext uri="{FF2B5EF4-FFF2-40B4-BE49-F238E27FC236}">
                <a16:creationId xmlns:a16="http://schemas.microsoft.com/office/drawing/2014/main" id="{99B39540-3D2B-B5B9-ED08-7F8E5F7EC9B1}"/>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0" name="Rectangle 19">
            <a:extLst>
              <a:ext uri="{FF2B5EF4-FFF2-40B4-BE49-F238E27FC236}">
                <a16:creationId xmlns:a16="http://schemas.microsoft.com/office/drawing/2014/main" id="{BB8A5E8A-8AF7-0E4E-3839-454BEFCD2F19}"/>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1" name="Rectangle 20">
            <a:extLst>
              <a:ext uri="{FF2B5EF4-FFF2-40B4-BE49-F238E27FC236}">
                <a16:creationId xmlns:a16="http://schemas.microsoft.com/office/drawing/2014/main" id="{9254211F-2B6A-3249-73E0-6AFAA3E5921A}"/>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5" name="Rectangle 24">
            <a:extLst>
              <a:ext uri="{FF2B5EF4-FFF2-40B4-BE49-F238E27FC236}">
                <a16:creationId xmlns:a16="http://schemas.microsoft.com/office/drawing/2014/main" id="{16763E0A-3AD7-4036-BE93-929906701A68}"/>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7" name="Rectangle 26">
            <a:extLst>
              <a:ext uri="{FF2B5EF4-FFF2-40B4-BE49-F238E27FC236}">
                <a16:creationId xmlns:a16="http://schemas.microsoft.com/office/drawing/2014/main" id="{92495DBC-838E-8C82-18B6-2306B2E97C4C}"/>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8" name="Rectangle 27">
            <a:extLst>
              <a:ext uri="{FF2B5EF4-FFF2-40B4-BE49-F238E27FC236}">
                <a16:creationId xmlns:a16="http://schemas.microsoft.com/office/drawing/2014/main" id="{1D43FE4F-47D8-1212-69B5-638AC61DE4A1}"/>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24" name="Content Placeholder 4">
            <a:extLst>
              <a:ext uri="{FF2B5EF4-FFF2-40B4-BE49-F238E27FC236}">
                <a16:creationId xmlns:a16="http://schemas.microsoft.com/office/drawing/2014/main" id="{70A5027F-A7E7-F1E0-2CDA-1D9E17FCE9DA}"/>
              </a:ext>
            </a:extLst>
          </p:cNvPr>
          <p:cNvSpPr txBox="1">
            <a:spLocks/>
          </p:cNvSpPr>
          <p:nvPr/>
        </p:nvSpPr>
        <p:spPr>
          <a:xfrm>
            <a:off x="1122774" y="5666236"/>
            <a:ext cx="5052898" cy="923330"/>
          </a:xfrm>
          <a:prstGeom prst="rect">
            <a:avLst/>
          </a:prstGeom>
          <a:solidFill>
            <a:schemeClr val="accent1">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r>
              <a:rPr lang="en-US" dirty="0"/>
              <a:t>Learning the </a:t>
            </a:r>
            <a:r>
              <a:rPr lang="en-US" b="1" dirty="0"/>
              <a:t>concept</a:t>
            </a:r>
            <a:r>
              <a:rPr lang="en-US" dirty="0"/>
              <a:t> </a:t>
            </a:r>
            <a:r>
              <a:rPr lang="en-US" sz="1800" dirty="0"/>
              <a:t>NEGATION</a:t>
            </a:r>
            <a:r>
              <a:rPr lang="en-US" dirty="0"/>
              <a:t> is </a:t>
            </a:r>
          </a:p>
          <a:p>
            <a:pPr marL="0" indent="0" algn="ctr">
              <a:spcBef>
                <a:spcPts val="0"/>
              </a:spcBef>
              <a:spcAft>
                <a:spcPts val="0"/>
              </a:spcAft>
              <a:buFont typeface="Franklin Gothic Book" panose="020B0503020102020204" pitchFamily="34" charset="0"/>
              <a:buNone/>
            </a:pPr>
            <a:r>
              <a:rPr lang="en-US" dirty="0">
                <a:solidFill>
                  <a:schemeClr val="accent6"/>
                </a:solidFill>
              </a:rPr>
              <a:t>scaffolded </a:t>
            </a:r>
            <a:r>
              <a:rPr lang="en-US" dirty="0">
                <a:solidFill>
                  <a:schemeClr val="tx1"/>
                </a:solidFill>
              </a:rPr>
              <a:t>by</a:t>
            </a:r>
            <a:r>
              <a:rPr lang="en-US" dirty="0">
                <a:solidFill>
                  <a:schemeClr val="accent6"/>
                </a:solidFill>
              </a:rPr>
              <a:t> </a:t>
            </a:r>
            <a:r>
              <a:rPr lang="en-US" dirty="0">
                <a:solidFill>
                  <a:schemeClr val="tx1"/>
                </a:solidFill>
              </a:rPr>
              <a:t>mappings to </a:t>
            </a:r>
            <a:r>
              <a:rPr lang="en-US" sz="1800" dirty="0"/>
              <a:t>REJECTION</a:t>
            </a:r>
            <a:r>
              <a:rPr lang="en-US" dirty="0"/>
              <a:t>, </a:t>
            </a:r>
            <a:r>
              <a:rPr lang="en-US" sz="1800" dirty="0"/>
              <a:t>NONEXISTENCE</a:t>
            </a:r>
            <a:r>
              <a:rPr lang="en-US" dirty="0"/>
              <a:t>, and </a:t>
            </a:r>
            <a:r>
              <a:rPr lang="en-US" sz="1800" dirty="0"/>
              <a:t>PROHIBITION</a:t>
            </a:r>
            <a:endParaRPr lang="en-US" dirty="0"/>
          </a:p>
        </p:txBody>
      </p:sp>
      <p:sp>
        <p:nvSpPr>
          <p:cNvPr id="26" name="TextBox 25">
            <a:extLst>
              <a:ext uri="{FF2B5EF4-FFF2-40B4-BE49-F238E27FC236}">
                <a16:creationId xmlns:a16="http://schemas.microsoft.com/office/drawing/2014/main" id="{AC0D51F5-3CCB-3ECE-8506-50E92CF7D5D6}"/>
              </a:ext>
            </a:extLst>
          </p:cNvPr>
          <p:cNvSpPr txBox="1"/>
          <p:nvPr/>
        </p:nvSpPr>
        <p:spPr>
          <a:xfrm>
            <a:off x="2553410" y="5296903"/>
            <a:ext cx="2191626" cy="369332"/>
          </a:xfrm>
          <a:prstGeom prst="rect">
            <a:avLst/>
          </a:prstGeom>
          <a:noFill/>
        </p:spPr>
        <p:txBody>
          <a:bodyPr wrap="none" rtlCol="0">
            <a:spAutoFit/>
          </a:bodyPr>
          <a:lstStyle/>
          <a:p>
            <a:r>
              <a:rPr lang="en-US" dirty="0">
                <a:solidFill>
                  <a:srgbClr val="3799C8"/>
                </a:solidFill>
              </a:rPr>
              <a:t>CONCEPT LEARNING</a:t>
            </a:r>
          </a:p>
        </p:txBody>
      </p:sp>
    </p:spTree>
    <p:extLst>
      <p:ext uri="{BB962C8B-B14F-4D97-AF65-F5344CB8AC3E}">
        <p14:creationId xmlns:p14="http://schemas.microsoft.com/office/powerpoint/2010/main" val="2440044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animBg="1"/>
      <p:bldP spid="13" grpId="0"/>
      <p:bldP spid="24" grpId="0" animBg="1"/>
      <p:bldP spid="26" grpId="0"/>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003890-673A-F7CE-4A52-94C7E368E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F8D3C3-3404-3DE1-F56D-6E3E5114CDA2}"/>
              </a:ext>
            </a:extLst>
          </p:cNvPr>
          <p:cNvSpPr>
            <a:spLocks noGrp="1"/>
          </p:cNvSpPr>
          <p:nvPr>
            <p:ph type="title"/>
          </p:nvPr>
        </p:nvSpPr>
        <p:spPr>
          <a:solidFill>
            <a:schemeClr val="accent2">
              <a:lumMod val="20000"/>
              <a:lumOff val="80000"/>
            </a:schemeClr>
          </a:solidFill>
        </p:spPr>
        <p:txBody>
          <a:bodyPr>
            <a:normAutofit/>
          </a:bodyPr>
          <a:lstStyle/>
          <a:p>
            <a:pPr algn="ctr"/>
            <a:r>
              <a:rPr lang="en-US" dirty="0"/>
              <a:t>Clustered meanings could inhibit mapping </a:t>
            </a:r>
            <a:r>
              <a:rPr lang="en-US" sz="3600" dirty="0"/>
              <a:t>NEGATION </a:t>
            </a:r>
            <a:r>
              <a:rPr lang="en-US" dirty="0"/>
              <a:t>to language</a:t>
            </a:r>
          </a:p>
        </p:txBody>
      </p:sp>
      <p:pic>
        <p:nvPicPr>
          <p:cNvPr id="4" name="Picture 3">
            <a:extLst>
              <a:ext uri="{FF2B5EF4-FFF2-40B4-BE49-F238E27FC236}">
                <a16:creationId xmlns:a16="http://schemas.microsoft.com/office/drawing/2014/main" id="{BCCE942F-5761-1291-499E-2218302D2952}"/>
              </a:ext>
            </a:extLst>
          </p:cNvPr>
          <p:cNvPicPr>
            <a:picLocks noChangeAspect="1"/>
          </p:cNvPicPr>
          <p:nvPr/>
        </p:nvPicPr>
        <p:blipFill>
          <a:blip r:embed="rId3"/>
          <a:stretch>
            <a:fillRect/>
          </a:stretch>
        </p:blipFill>
        <p:spPr>
          <a:xfrm>
            <a:off x="763755" y="4331922"/>
            <a:ext cx="1326314" cy="1326314"/>
          </a:xfrm>
          <a:prstGeom prst="rect">
            <a:avLst/>
          </a:prstGeom>
        </p:spPr>
      </p:pic>
      <p:sp>
        <p:nvSpPr>
          <p:cNvPr id="6" name="TextBox 5">
            <a:extLst>
              <a:ext uri="{FF2B5EF4-FFF2-40B4-BE49-F238E27FC236}">
                <a16:creationId xmlns:a16="http://schemas.microsoft.com/office/drawing/2014/main" id="{92A2DEFE-6F35-522C-364B-C1FEA71D7D88}"/>
              </a:ext>
            </a:extLst>
          </p:cNvPr>
          <p:cNvSpPr txBox="1"/>
          <p:nvPr/>
        </p:nvSpPr>
        <p:spPr>
          <a:xfrm>
            <a:off x="8019738" y="5126636"/>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7" name="TextBox 6">
            <a:extLst>
              <a:ext uri="{FF2B5EF4-FFF2-40B4-BE49-F238E27FC236}">
                <a16:creationId xmlns:a16="http://schemas.microsoft.com/office/drawing/2014/main" id="{C50B4309-2C85-E152-7191-5C58936EF0F2}"/>
              </a:ext>
            </a:extLst>
          </p:cNvPr>
          <p:cNvSpPr txBox="1"/>
          <p:nvPr/>
        </p:nvSpPr>
        <p:spPr>
          <a:xfrm>
            <a:off x="6846838" y="2340941"/>
            <a:ext cx="4581177" cy="347787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Franklin Gothic Book" panose="020B0503020102020204"/>
              </a:rPr>
              <a:t>Children resist mapping new meanings to a word they have a meaning for (</a:t>
            </a:r>
            <a:r>
              <a:rPr kumimoji="0" lang="en-US" sz="2000" b="0" i="0" u="none" strike="noStrike" kern="1200" cap="none" spc="0" normalizeH="0" baseline="0" noProof="0" dirty="0" err="1">
                <a:ln>
                  <a:noFill/>
                </a:ln>
                <a:solidFill>
                  <a:prstClr val="black"/>
                </a:solidFill>
                <a:effectLst/>
                <a:uLnTx/>
                <a:uFillTx/>
                <a:latin typeface="Franklin Gothic Book" panose="020B0503020102020204"/>
              </a:rPr>
              <a:t>Casenheiser</a:t>
            </a:r>
            <a:r>
              <a:rPr kumimoji="0" lang="en-US" sz="2000" b="0" i="0" u="none" strike="noStrike" kern="1200" cap="none" spc="0" normalizeH="0" baseline="0" noProof="0" dirty="0">
                <a:ln>
                  <a:noFill/>
                </a:ln>
                <a:solidFill>
                  <a:prstClr val="black"/>
                </a:solidFill>
                <a:effectLst/>
                <a:uLnTx/>
                <a:uFillTx/>
                <a:latin typeface="Franklin Gothic Book" panose="020B0503020102020204"/>
              </a:rPr>
              <a:t>, 2005; Mazzocco, 1997)</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Franklin Gothic Book" panose="020B0503020102020204"/>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Franklin Gothic Book" panose="020B0503020102020204"/>
              </a:rPr>
              <a:t>Children have an easier time learning homophonous mappings when the meanings are syntactically or semantically distinct (</a:t>
            </a:r>
            <a:r>
              <a:rPr lang="en-US" sz="2000" dirty="0">
                <a:solidFill>
                  <a:prstClr val="black"/>
                </a:solidFill>
                <a:latin typeface="Franklin Gothic Book" panose="020B0503020102020204"/>
              </a:rPr>
              <a:t>D</a:t>
            </a:r>
            <a:r>
              <a:rPr kumimoji="0" lang="en-US" sz="2000" b="0" i="0" u="none" strike="noStrike" kern="1200" cap="none" spc="0" normalizeH="0" baseline="0" noProof="0" dirty="0" err="1">
                <a:ln>
                  <a:noFill/>
                </a:ln>
                <a:solidFill>
                  <a:prstClr val="black"/>
                </a:solidFill>
                <a:effectLst/>
                <a:uLnTx/>
                <a:uFillTx/>
                <a:latin typeface="Franklin Gothic Book" panose="020B0503020102020204"/>
              </a:rPr>
              <a:t>autriche</a:t>
            </a:r>
            <a:r>
              <a:rPr kumimoji="0" lang="en-US" sz="2000" b="0" i="0" u="none" strike="noStrike" kern="1200" cap="none" spc="0" normalizeH="0" baseline="0" noProof="0" dirty="0">
                <a:ln>
                  <a:noFill/>
                </a:ln>
                <a:solidFill>
                  <a:prstClr val="black"/>
                </a:solidFill>
                <a:effectLst/>
                <a:uLnTx/>
                <a:uFillTx/>
                <a:latin typeface="Franklin Gothic Book" panose="020B0503020102020204"/>
              </a:rPr>
              <a:t> et al., 2018)</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Franklin Gothic Book" panose="020B0503020102020204"/>
            </a:endParaRPr>
          </a:p>
        </p:txBody>
      </p:sp>
      <p:sp>
        <p:nvSpPr>
          <p:cNvPr id="32" name="Oval Callout 31">
            <a:extLst>
              <a:ext uri="{FF2B5EF4-FFF2-40B4-BE49-F238E27FC236}">
                <a16:creationId xmlns:a16="http://schemas.microsoft.com/office/drawing/2014/main" id="{271783A5-808E-855D-2594-1D6FD3B8EB4E}"/>
              </a:ext>
            </a:extLst>
          </p:cNvPr>
          <p:cNvSpPr/>
          <p:nvPr/>
        </p:nvSpPr>
        <p:spPr>
          <a:xfrm>
            <a:off x="3122223" y="491538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33" name="Cloud Callout 32">
            <a:extLst>
              <a:ext uri="{FF2B5EF4-FFF2-40B4-BE49-F238E27FC236}">
                <a16:creationId xmlns:a16="http://schemas.microsoft.com/office/drawing/2014/main" id="{85A1AB29-D90A-3F4E-44DC-16590F1D5EF0}"/>
              </a:ext>
            </a:extLst>
          </p:cNvPr>
          <p:cNvSpPr/>
          <p:nvPr/>
        </p:nvSpPr>
        <p:spPr>
          <a:xfrm>
            <a:off x="2090069" y="2598370"/>
            <a:ext cx="4773621" cy="1733552"/>
          </a:xfrm>
          <a:prstGeom prst="cloudCallout">
            <a:avLst>
              <a:gd name="adj1" fmla="val -51421"/>
              <a:gd name="adj2" fmla="val 6506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4" name="TextBox 33">
            <a:extLst>
              <a:ext uri="{FF2B5EF4-FFF2-40B4-BE49-F238E27FC236}">
                <a16:creationId xmlns:a16="http://schemas.microsoft.com/office/drawing/2014/main" id="{E871BE7B-0A2D-0526-4C93-0C707A675CC0}"/>
              </a:ext>
            </a:extLst>
          </p:cNvPr>
          <p:cNvSpPr txBox="1"/>
          <p:nvPr/>
        </p:nvSpPr>
        <p:spPr>
          <a:xfrm>
            <a:off x="2418908" y="3234058"/>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35" name="Straight Arrow Connector 34">
            <a:extLst>
              <a:ext uri="{FF2B5EF4-FFF2-40B4-BE49-F238E27FC236}">
                <a16:creationId xmlns:a16="http://schemas.microsoft.com/office/drawing/2014/main" id="{C9982A57-7B24-2BF1-70B0-F07C47E2DBF6}"/>
              </a:ext>
            </a:extLst>
          </p:cNvPr>
          <p:cNvCxnSpPr>
            <a:cxnSpLocks/>
            <a:stCxn id="34" idx="2"/>
          </p:cNvCxnSpPr>
          <p:nvPr/>
        </p:nvCxnSpPr>
        <p:spPr>
          <a:xfrm>
            <a:off x="2991341" y="357261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EE4B19A1-6DD8-1461-0711-F946F0F263B2}"/>
              </a:ext>
            </a:extLst>
          </p:cNvPr>
          <p:cNvSpPr txBox="1"/>
          <p:nvPr/>
        </p:nvSpPr>
        <p:spPr>
          <a:xfrm>
            <a:off x="3117460" y="3537087"/>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7" name="TextBox 36">
            <a:extLst>
              <a:ext uri="{FF2B5EF4-FFF2-40B4-BE49-F238E27FC236}">
                <a16:creationId xmlns:a16="http://schemas.microsoft.com/office/drawing/2014/main" id="{BD2FD2F0-E899-019E-8A38-6182338A14FC}"/>
              </a:ext>
            </a:extLst>
          </p:cNvPr>
          <p:cNvSpPr txBox="1"/>
          <p:nvPr/>
        </p:nvSpPr>
        <p:spPr>
          <a:xfrm>
            <a:off x="4001774" y="3104751"/>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38" name="Straight Arrow Connector 37">
            <a:extLst>
              <a:ext uri="{FF2B5EF4-FFF2-40B4-BE49-F238E27FC236}">
                <a16:creationId xmlns:a16="http://schemas.microsoft.com/office/drawing/2014/main" id="{A8F057CF-2E65-6645-1F63-0F1BE4EDE09E}"/>
              </a:ext>
            </a:extLst>
          </p:cNvPr>
          <p:cNvCxnSpPr>
            <a:cxnSpLocks/>
            <a:stCxn id="36" idx="2"/>
          </p:cNvCxnSpPr>
          <p:nvPr/>
        </p:nvCxnSpPr>
        <p:spPr>
          <a:xfrm>
            <a:off x="3779917" y="3875641"/>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32F2342-57DD-253C-6CB2-088E5D525F59}"/>
              </a:ext>
            </a:extLst>
          </p:cNvPr>
          <p:cNvCxnSpPr>
            <a:cxnSpLocks/>
            <a:stCxn id="37" idx="2"/>
          </p:cNvCxnSpPr>
          <p:nvPr/>
        </p:nvCxnSpPr>
        <p:spPr>
          <a:xfrm flipH="1">
            <a:off x="3978785" y="3443305"/>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BE174BAD-9EA9-5859-2FB4-08C636322681}"/>
              </a:ext>
            </a:extLst>
          </p:cNvPr>
          <p:cNvSpPr txBox="1"/>
          <p:nvPr/>
        </p:nvSpPr>
        <p:spPr>
          <a:xfrm>
            <a:off x="4944996" y="3557288"/>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NEGATION</a:t>
            </a:r>
          </a:p>
        </p:txBody>
      </p:sp>
      <p:cxnSp>
        <p:nvCxnSpPr>
          <p:cNvPr id="42" name="Straight Arrow Connector 41">
            <a:extLst>
              <a:ext uri="{FF2B5EF4-FFF2-40B4-BE49-F238E27FC236}">
                <a16:creationId xmlns:a16="http://schemas.microsoft.com/office/drawing/2014/main" id="{3905081A-E5E8-BA4B-577B-198D7F588963}"/>
              </a:ext>
            </a:extLst>
          </p:cNvPr>
          <p:cNvCxnSpPr>
            <a:cxnSpLocks/>
          </p:cNvCxnSpPr>
          <p:nvPr/>
        </p:nvCxnSpPr>
        <p:spPr>
          <a:xfrm flipH="1">
            <a:off x="4275790" y="3895842"/>
            <a:ext cx="1077474" cy="1341639"/>
          </a:xfrm>
          <a:prstGeom prst="straightConnector1">
            <a:avLst/>
          </a:prstGeom>
          <a:ln w="28575">
            <a:solidFill>
              <a:schemeClr val="accent1">
                <a:alpha val="54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Freeform 42">
            <a:extLst>
              <a:ext uri="{FF2B5EF4-FFF2-40B4-BE49-F238E27FC236}">
                <a16:creationId xmlns:a16="http://schemas.microsoft.com/office/drawing/2014/main" id="{BC64B671-BF78-485F-AED3-4717FDBC0F36}"/>
              </a:ext>
            </a:extLst>
          </p:cNvPr>
          <p:cNvSpPr/>
          <p:nvPr/>
        </p:nvSpPr>
        <p:spPr>
          <a:xfrm rot="159957">
            <a:off x="2636253" y="3602501"/>
            <a:ext cx="1973017" cy="1239689"/>
          </a:xfrm>
          <a:custGeom>
            <a:avLst/>
            <a:gdLst>
              <a:gd name="connsiteX0" fmla="*/ 0 w 1965277"/>
              <a:gd name="connsiteY0" fmla="*/ 0 h 1267322"/>
              <a:gd name="connsiteX1" fmla="*/ 1037230 w 1965277"/>
              <a:gd name="connsiteY1" fmla="*/ 1160060 h 1267322"/>
              <a:gd name="connsiteX2" fmla="*/ 1965277 w 1965277"/>
              <a:gd name="connsiteY2" fmla="*/ 1146412 h 1267322"/>
            </a:gdLst>
            <a:ahLst/>
            <a:cxnLst>
              <a:cxn ang="0">
                <a:pos x="connsiteX0" y="connsiteY0"/>
              </a:cxn>
              <a:cxn ang="0">
                <a:pos x="connsiteX1" y="connsiteY1"/>
              </a:cxn>
              <a:cxn ang="0">
                <a:pos x="connsiteX2" y="connsiteY2"/>
              </a:cxn>
            </a:cxnLst>
            <a:rect l="l" t="t" r="r" b="b"/>
            <a:pathLst>
              <a:path w="1965277" h="1267322">
                <a:moveTo>
                  <a:pt x="0" y="0"/>
                </a:moveTo>
                <a:cubicBezTo>
                  <a:pt x="354842" y="484495"/>
                  <a:pt x="709684" y="968991"/>
                  <a:pt x="1037230" y="1160060"/>
                </a:cubicBezTo>
                <a:cubicBezTo>
                  <a:pt x="1364776" y="1351129"/>
                  <a:pt x="1665026" y="1248770"/>
                  <a:pt x="1965277" y="1146412"/>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4" name="Freeform 43">
            <a:extLst>
              <a:ext uri="{FF2B5EF4-FFF2-40B4-BE49-F238E27FC236}">
                <a16:creationId xmlns:a16="http://schemas.microsoft.com/office/drawing/2014/main" id="{60CCA876-AB10-753F-38B1-C2ED177D8E91}"/>
              </a:ext>
            </a:extLst>
          </p:cNvPr>
          <p:cNvSpPr/>
          <p:nvPr/>
        </p:nvSpPr>
        <p:spPr>
          <a:xfrm>
            <a:off x="4074403" y="3849131"/>
            <a:ext cx="557551" cy="821345"/>
          </a:xfrm>
          <a:custGeom>
            <a:avLst/>
            <a:gdLst>
              <a:gd name="connsiteX0" fmla="*/ 0 w 504968"/>
              <a:gd name="connsiteY0" fmla="*/ 0 h 764275"/>
              <a:gd name="connsiteX1" fmla="*/ 272956 w 504968"/>
              <a:gd name="connsiteY1" fmla="*/ 559559 h 764275"/>
              <a:gd name="connsiteX2" fmla="*/ 504968 w 504968"/>
              <a:gd name="connsiteY2" fmla="*/ 764275 h 764275"/>
              <a:gd name="connsiteX3" fmla="*/ 504968 w 504968"/>
              <a:gd name="connsiteY3" fmla="*/ 764275 h 764275"/>
            </a:gdLst>
            <a:ahLst/>
            <a:cxnLst>
              <a:cxn ang="0">
                <a:pos x="connsiteX0" y="connsiteY0"/>
              </a:cxn>
              <a:cxn ang="0">
                <a:pos x="connsiteX1" y="connsiteY1"/>
              </a:cxn>
              <a:cxn ang="0">
                <a:pos x="connsiteX2" y="connsiteY2"/>
              </a:cxn>
              <a:cxn ang="0">
                <a:pos x="connsiteX3" y="connsiteY3"/>
              </a:cxn>
            </a:cxnLst>
            <a:rect l="l" t="t" r="r" b="b"/>
            <a:pathLst>
              <a:path w="504968" h="764275">
                <a:moveTo>
                  <a:pt x="0" y="0"/>
                </a:moveTo>
                <a:cubicBezTo>
                  <a:pt x="94397" y="216090"/>
                  <a:pt x="188795" y="432180"/>
                  <a:pt x="272956" y="559559"/>
                </a:cubicBezTo>
                <a:cubicBezTo>
                  <a:pt x="357117" y="686938"/>
                  <a:pt x="504968" y="764275"/>
                  <a:pt x="504968" y="764275"/>
                </a:cubicBezTo>
                <a:lnTo>
                  <a:pt x="504968" y="764275"/>
                </a:ln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5" name="Freeform 44">
            <a:extLst>
              <a:ext uri="{FF2B5EF4-FFF2-40B4-BE49-F238E27FC236}">
                <a16:creationId xmlns:a16="http://schemas.microsoft.com/office/drawing/2014/main" id="{CD1BECE1-7220-4807-3D75-D4A14C6B8BDE}"/>
              </a:ext>
            </a:extLst>
          </p:cNvPr>
          <p:cNvSpPr/>
          <p:nvPr/>
        </p:nvSpPr>
        <p:spPr>
          <a:xfrm>
            <a:off x="4452394" y="3443305"/>
            <a:ext cx="278093" cy="1142123"/>
          </a:xfrm>
          <a:custGeom>
            <a:avLst/>
            <a:gdLst>
              <a:gd name="connsiteX0" fmla="*/ 0 w 245660"/>
              <a:gd name="connsiteY0" fmla="*/ 0 h 1064525"/>
              <a:gd name="connsiteX1" fmla="*/ 109182 w 245660"/>
              <a:gd name="connsiteY1" fmla="*/ 736979 h 1064525"/>
              <a:gd name="connsiteX2" fmla="*/ 245660 w 245660"/>
              <a:gd name="connsiteY2" fmla="*/ 1064525 h 1064525"/>
            </a:gdLst>
            <a:ahLst/>
            <a:cxnLst>
              <a:cxn ang="0">
                <a:pos x="connsiteX0" y="connsiteY0"/>
              </a:cxn>
              <a:cxn ang="0">
                <a:pos x="connsiteX1" y="connsiteY1"/>
              </a:cxn>
              <a:cxn ang="0">
                <a:pos x="connsiteX2" y="connsiteY2"/>
              </a:cxn>
            </a:cxnLst>
            <a:rect l="l" t="t" r="r" b="b"/>
            <a:pathLst>
              <a:path w="245660" h="1064525">
                <a:moveTo>
                  <a:pt x="0" y="0"/>
                </a:moveTo>
                <a:cubicBezTo>
                  <a:pt x="34119" y="279779"/>
                  <a:pt x="68239" y="559558"/>
                  <a:pt x="109182" y="736979"/>
                </a:cubicBezTo>
                <a:cubicBezTo>
                  <a:pt x="150125" y="914400"/>
                  <a:pt x="197892" y="989462"/>
                  <a:pt x="245660" y="1064525"/>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109898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32" grpId="0" animBg="1"/>
      <p:bldP spid="33" grpId="0" animBg="1"/>
      <p:bldP spid="34" grpId="0"/>
      <p:bldP spid="36" grpId="0"/>
      <p:bldP spid="37" grpId="0"/>
      <p:bldP spid="40" grpId="0"/>
      <p:bldP spid="43" grpId="0" animBg="1"/>
      <p:bldP spid="44" grpId="0" animBg="1"/>
      <p:bldP spid="45"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890CE5-0F95-B932-B30A-B958569CF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644C3-1935-5F6B-DF39-43CF56B074CE}"/>
              </a:ext>
            </a:extLst>
          </p:cNvPr>
          <p:cNvSpPr>
            <a:spLocks noGrp="1"/>
          </p:cNvSpPr>
          <p:nvPr>
            <p:ph type="title"/>
          </p:nvPr>
        </p:nvSpPr>
        <p:spPr>
          <a:solidFill>
            <a:schemeClr val="accent2">
              <a:lumMod val="20000"/>
              <a:lumOff val="80000"/>
            </a:schemeClr>
          </a:solidFill>
        </p:spPr>
        <p:txBody>
          <a:bodyPr>
            <a:normAutofit/>
          </a:bodyPr>
          <a:lstStyle/>
          <a:p>
            <a:pPr algn="ctr"/>
            <a:r>
              <a:rPr lang="en-US" dirty="0"/>
              <a:t>Clustered meanings could inhibit mapping </a:t>
            </a:r>
            <a:r>
              <a:rPr lang="en-US" sz="3600" dirty="0"/>
              <a:t>NEGATION </a:t>
            </a:r>
            <a:r>
              <a:rPr lang="en-US" dirty="0"/>
              <a:t>to language</a:t>
            </a:r>
          </a:p>
        </p:txBody>
      </p:sp>
      <p:pic>
        <p:nvPicPr>
          <p:cNvPr id="4" name="Picture 3">
            <a:extLst>
              <a:ext uri="{FF2B5EF4-FFF2-40B4-BE49-F238E27FC236}">
                <a16:creationId xmlns:a16="http://schemas.microsoft.com/office/drawing/2014/main" id="{381F4B2B-CD6D-54CF-8951-259FE109668C}"/>
              </a:ext>
            </a:extLst>
          </p:cNvPr>
          <p:cNvPicPr>
            <a:picLocks noChangeAspect="1"/>
          </p:cNvPicPr>
          <p:nvPr/>
        </p:nvPicPr>
        <p:blipFill>
          <a:blip r:embed="rId3"/>
          <a:stretch>
            <a:fillRect/>
          </a:stretch>
        </p:blipFill>
        <p:spPr>
          <a:xfrm>
            <a:off x="763755" y="4331922"/>
            <a:ext cx="1326314" cy="1326314"/>
          </a:xfrm>
          <a:prstGeom prst="rect">
            <a:avLst/>
          </a:prstGeom>
        </p:spPr>
      </p:pic>
      <p:sp>
        <p:nvSpPr>
          <p:cNvPr id="6" name="TextBox 5">
            <a:extLst>
              <a:ext uri="{FF2B5EF4-FFF2-40B4-BE49-F238E27FC236}">
                <a16:creationId xmlns:a16="http://schemas.microsoft.com/office/drawing/2014/main" id="{6578BA8B-AA4F-334C-294A-047171D5825F}"/>
              </a:ext>
            </a:extLst>
          </p:cNvPr>
          <p:cNvSpPr txBox="1"/>
          <p:nvPr/>
        </p:nvSpPr>
        <p:spPr>
          <a:xfrm>
            <a:off x="8125396" y="5162782"/>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2" name="Oval Callout 31">
            <a:extLst>
              <a:ext uri="{FF2B5EF4-FFF2-40B4-BE49-F238E27FC236}">
                <a16:creationId xmlns:a16="http://schemas.microsoft.com/office/drawing/2014/main" id="{714BD0E6-F9CF-6C59-D9D2-E08A066D996E}"/>
              </a:ext>
            </a:extLst>
          </p:cNvPr>
          <p:cNvSpPr/>
          <p:nvPr/>
        </p:nvSpPr>
        <p:spPr>
          <a:xfrm>
            <a:off x="3122223" y="4915383"/>
            <a:ext cx="1812680" cy="981433"/>
          </a:xfrm>
          <a:prstGeom prst="wedgeEllipseCallout">
            <a:avLst>
              <a:gd name="adj1" fmla="val -102359"/>
              <a:gd name="adj2" fmla="val -3829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“no”</a:t>
            </a:r>
          </a:p>
        </p:txBody>
      </p:sp>
      <p:sp>
        <p:nvSpPr>
          <p:cNvPr id="33" name="Cloud Callout 32">
            <a:extLst>
              <a:ext uri="{FF2B5EF4-FFF2-40B4-BE49-F238E27FC236}">
                <a16:creationId xmlns:a16="http://schemas.microsoft.com/office/drawing/2014/main" id="{6984B69E-0166-5E54-F2E2-695DCB32D3CC}"/>
              </a:ext>
            </a:extLst>
          </p:cNvPr>
          <p:cNvSpPr/>
          <p:nvPr/>
        </p:nvSpPr>
        <p:spPr>
          <a:xfrm>
            <a:off x="2090069" y="2598370"/>
            <a:ext cx="4773621" cy="1733552"/>
          </a:xfrm>
          <a:prstGeom prst="cloudCallout">
            <a:avLst>
              <a:gd name="adj1" fmla="val -51421"/>
              <a:gd name="adj2" fmla="val 6506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endParaRPr>
          </a:p>
        </p:txBody>
      </p:sp>
      <p:sp>
        <p:nvSpPr>
          <p:cNvPr id="34" name="TextBox 33">
            <a:extLst>
              <a:ext uri="{FF2B5EF4-FFF2-40B4-BE49-F238E27FC236}">
                <a16:creationId xmlns:a16="http://schemas.microsoft.com/office/drawing/2014/main" id="{987491E9-BD9F-4012-71B9-24F814D44C17}"/>
              </a:ext>
            </a:extLst>
          </p:cNvPr>
          <p:cNvSpPr txBox="1"/>
          <p:nvPr/>
        </p:nvSpPr>
        <p:spPr>
          <a:xfrm>
            <a:off x="2418908" y="3234058"/>
            <a:ext cx="1144865"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REJECTION</a:t>
            </a:r>
          </a:p>
        </p:txBody>
      </p:sp>
      <p:cxnSp>
        <p:nvCxnSpPr>
          <p:cNvPr id="35" name="Straight Arrow Connector 34">
            <a:extLst>
              <a:ext uri="{FF2B5EF4-FFF2-40B4-BE49-F238E27FC236}">
                <a16:creationId xmlns:a16="http://schemas.microsoft.com/office/drawing/2014/main" id="{63726C57-CC0D-DF03-1A65-AF9D135692F7}"/>
              </a:ext>
            </a:extLst>
          </p:cNvPr>
          <p:cNvCxnSpPr>
            <a:cxnSpLocks/>
            <a:stCxn id="34" idx="2"/>
          </p:cNvCxnSpPr>
          <p:nvPr/>
        </p:nvCxnSpPr>
        <p:spPr>
          <a:xfrm>
            <a:off x="2991341" y="3572612"/>
            <a:ext cx="987444"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48555B8-04E5-E783-8434-5B7485FDF79D}"/>
              </a:ext>
            </a:extLst>
          </p:cNvPr>
          <p:cNvSpPr txBox="1"/>
          <p:nvPr/>
        </p:nvSpPr>
        <p:spPr>
          <a:xfrm>
            <a:off x="3117460" y="3537087"/>
            <a:ext cx="132491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PROHIBITION</a:t>
            </a:r>
          </a:p>
        </p:txBody>
      </p:sp>
      <p:sp>
        <p:nvSpPr>
          <p:cNvPr id="37" name="TextBox 36">
            <a:extLst>
              <a:ext uri="{FF2B5EF4-FFF2-40B4-BE49-F238E27FC236}">
                <a16:creationId xmlns:a16="http://schemas.microsoft.com/office/drawing/2014/main" id="{FACE2CA5-CB48-2448-E658-25402D6A167F}"/>
              </a:ext>
            </a:extLst>
          </p:cNvPr>
          <p:cNvSpPr txBox="1"/>
          <p:nvPr/>
        </p:nvSpPr>
        <p:spPr>
          <a:xfrm>
            <a:off x="4001774" y="3104751"/>
            <a:ext cx="1544718"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NONEXISTENCE</a:t>
            </a:r>
          </a:p>
        </p:txBody>
      </p:sp>
      <p:cxnSp>
        <p:nvCxnSpPr>
          <p:cNvPr id="38" name="Straight Arrow Connector 37">
            <a:extLst>
              <a:ext uri="{FF2B5EF4-FFF2-40B4-BE49-F238E27FC236}">
                <a16:creationId xmlns:a16="http://schemas.microsoft.com/office/drawing/2014/main" id="{1B3C2C5B-0AF9-9719-2DCF-4979D9970016}"/>
              </a:ext>
            </a:extLst>
          </p:cNvPr>
          <p:cNvCxnSpPr>
            <a:cxnSpLocks/>
            <a:stCxn id="36" idx="2"/>
          </p:cNvCxnSpPr>
          <p:nvPr/>
        </p:nvCxnSpPr>
        <p:spPr>
          <a:xfrm>
            <a:off x="3779917" y="3875641"/>
            <a:ext cx="198868" cy="1361840"/>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EFE71E2-4C02-7349-8FBE-7D7E9E07BAB8}"/>
              </a:ext>
            </a:extLst>
          </p:cNvPr>
          <p:cNvCxnSpPr>
            <a:cxnSpLocks/>
            <a:stCxn id="37" idx="2"/>
          </p:cNvCxnSpPr>
          <p:nvPr/>
        </p:nvCxnSpPr>
        <p:spPr>
          <a:xfrm flipH="1">
            <a:off x="3978785" y="3443305"/>
            <a:ext cx="795348" cy="1794176"/>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15C21A4-FE3B-9BFE-FB8F-86F9000FA6FD}"/>
              </a:ext>
            </a:extLst>
          </p:cNvPr>
          <p:cNvSpPr txBox="1"/>
          <p:nvPr/>
        </p:nvSpPr>
        <p:spPr>
          <a:xfrm>
            <a:off x="4944996" y="3557288"/>
            <a:ext cx="1077474" cy="338554"/>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Franklin Gothic Book" panose="020B0503020102020204"/>
                <a:ea typeface="+mn-ea"/>
                <a:cs typeface="+mn-cs"/>
              </a:rPr>
              <a:t>NEGATION</a:t>
            </a:r>
          </a:p>
        </p:txBody>
      </p:sp>
      <p:cxnSp>
        <p:nvCxnSpPr>
          <p:cNvPr id="42" name="Straight Arrow Connector 41">
            <a:extLst>
              <a:ext uri="{FF2B5EF4-FFF2-40B4-BE49-F238E27FC236}">
                <a16:creationId xmlns:a16="http://schemas.microsoft.com/office/drawing/2014/main" id="{86777DEC-E9BF-B679-986E-C6DBD9CAE687}"/>
              </a:ext>
            </a:extLst>
          </p:cNvPr>
          <p:cNvCxnSpPr>
            <a:cxnSpLocks/>
          </p:cNvCxnSpPr>
          <p:nvPr/>
        </p:nvCxnSpPr>
        <p:spPr>
          <a:xfrm flipH="1">
            <a:off x="4275790" y="3895842"/>
            <a:ext cx="1077474" cy="1341639"/>
          </a:xfrm>
          <a:prstGeom prst="straightConnector1">
            <a:avLst/>
          </a:prstGeom>
          <a:ln w="28575">
            <a:solidFill>
              <a:schemeClr val="accent1">
                <a:alpha val="54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 name="Freeform 42">
            <a:extLst>
              <a:ext uri="{FF2B5EF4-FFF2-40B4-BE49-F238E27FC236}">
                <a16:creationId xmlns:a16="http://schemas.microsoft.com/office/drawing/2014/main" id="{5AA95CB1-7F6E-CBCA-91DA-8542BDAA4727}"/>
              </a:ext>
            </a:extLst>
          </p:cNvPr>
          <p:cNvSpPr/>
          <p:nvPr/>
        </p:nvSpPr>
        <p:spPr>
          <a:xfrm rot="159957">
            <a:off x="2636253" y="3602501"/>
            <a:ext cx="1973017" cy="1239689"/>
          </a:xfrm>
          <a:custGeom>
            <a:avLst/>
            <a:gdLst>
              <a:gd name="connsiteX0" fmla="*/ 0 w 1965277"/>
              <a:gd name="connsiteY0" fmla="*/ 0 h 1267322"/>
              <a:gd name="connsiteX1" fmla="*/ 1037230 w 1965277"/>
              <a:gd name="connsiteY1" fmla="*/ 1160060 h 1267322"/>
              <a:gd name="connsiteX2" fmla="*/ 1965277 w 1965277"/>
              <a:gd name="connsiteY2" fmla="*/ 1146412 h 1267322"/>
            </a:gdLst>
            <a:ahLst/>
            <a:cxnLst>
              <a:cxn ang="0">
                <a:pos x="connsiteX0" y="connsiteY0"/>
              </a:cxn>
              <a:cxn ang="0">
                <a:pos x="connsiteX1" y="connsiteY1"/>
              </a:cxn>
              <a:cxn ang="0">
                <a:pos x="connsiteX2" y="connsiteY2"/>
              </a:cxn>
            </a:cxnLst>
            <a:rect l="l" t="t" r="r" b="b"/>
            <a:pathLst>
              <a:path w="1965277" h="1267322">
                <a:moveTo>
                  <a:pt x="0" y="0"/>
                </a:moveTo>
                <a:cubicBezTo>
                  <a:pt x="354842" y="484495"/>
                  <a:pt x="709684" y="968991"/>
                  <a:pt x="1037230" y="1160060"/>
                </a:cubicBezTo>
                <a:cubicBezTo>
                  <a:pt x="1364776" y="1351129"/>
                  <a:pt x="1665026" y="1248770"/>
                  <a:pt x="1965277" y="1146412"/>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4" name="Freeform 43">
            <a:extLst>
              <a:ext uri="{FF2B5EF4-FFF2-40B4-BE49-F238E27FC236}">
                <a16:creationId xmlns:a16="http://schemas.microsoft.com/office/drawing/2014/main" id="{EEFB7E26-9E6B-177A-8B36-26F4436147FD}"/>
              </a:ext>
            </a:extLst>
          </p:cNvPr>
          <p:cNvSpPr/>
          <p:nvPr/>
        </p:nvSpPr>
        <p:spPr>
          <a:xfrm>
            <a:off x="4074403" y="3849131"/>
            <a:ext cx="557551" cy="821345"/>
          </a:xfrm>
          <a:custGeom>
            <a:avLst/>
            <a:gdLst>
              <a:gd name="connsiteX0" fmla="*/ 0 w 504968"/>
              <a:gd name="connsiteY0" fmla="*/ 0 h 764275"/>
              <a:gd name="connsiteX1" fmla="*/ 272956 w 504968"/>
              <a:gd name="connsiteY1" fmla="*/ 559559 h 764275"/>
              <a:gd name="connsiteX2" fmla="*/ 504968 w 504968"/>
              <a:gd name="connsiteY2" fmla="*/ 764275 h 764275"/>
              <a:gd name="connsiteX3" fmla="*/ 504968 w 504968"/>
              <a:gd name="connsiteY3" fmla="*/ 764275 h 764275"/>
            </a:gdLst>
            <a:ahLst/>
            <a:cxnLst>
              <a:cxn ang="0">
                <a:pos x="connsiteX0" y="connsiteY0"/>
              </a:cxn>
              <a:cxn ang="0">
                <a:pos x="connsiteX1" y="connsiteY1"/>
              </a:cxn>
              <a:cxn ang="0">
                <a:pos x="connsiteX2" y="connsiteY2"/>
              </a:cxn>
              <a:cxn ang="0">
                <a:pos x="connsiteX3" y="connsiteY3"/>
              </a:cxn>
            </a:cxnLst>
            <a:rect l="l" t="t" r="r" b="b"/>
            <a:pathLst>
              <a:path w="504968" h="764275">
                <a:moveTo>
                  <a:pt x="0" y="0"/>
                </a:moveTo>
                <a:cubicBezTo>
                  <a:pt x="94397" y="216090"/>
                  <a:pt x="188795" y="432180"/>
                  <a:pt x="272956" y="559559"/>
                </a:cubicBezTo>
                <a:cubicBezTo>
                  <a:pt x="357117" y="686938"/>
                  <a:pt x="504968" y="764275"/>
                  <a:pt x="504968" y="764275"/>
                </a:cubicBezTo>
                <a:lnTo>
                  <a:pt x="504968" y="764275"/>
                </a:ln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5" name="Freeform 44">
            <a:extLst>
              <a:ext uri="{FF2B5EF4-FFF2-40B4-BE49-F238E27FC236}">
                <a16:creationId xmlns:a16="http://schemas.microsoft.com/office/drawing/2014/main" id="{7B447E7A-6E39-6358-8649-5BE1C9465B60}"/>
              </a:ext>
            </a:extLst>
          </p:cNvPr>
          <p:cNvSpPr/>
          <p:nvPr/>
        </p:nvSpPr>
        <p:spPr>
          <a:xfrm>
            <a:off x="4452394" y="3443305"/>
            <a:ext cx="278093" cy="1142123"/>
          </a:xfrm>
          <a:custGeom>
            <a:avLst/>
            <a:gdLst>
              <a:gd name="connsiteX0" fmla="*/ 0 w 245660"/>
              <a:gd name="connsiteY0" fmla="*/ 0 h 1064525"/>
              <a:gd name="connsiteX1" fmla="*/ 109182 w 245660"/>
              <a:gd name="connsiteY1" fmla="*/ 736979 h 1064525"/>
              <a:gd name="connsiteX2" fmla="*/ 245660 w 245660"/>
              <a:gd name="connsiteY2" fmla="*/ 1064525 h 1064525"/>
            </a:gdLst>
            <a:ahLst/>
            <a:cxnLst>
              <a:cxn ang="0">
                <a:pos x="connsiteX0" y="connsiteY0"/>
              </a:cxn>
              <a:cxn ang="0">
                <a:pos x="connsiteX1" y="connsiteY1"/>
              </a:cxn>
              <a:cxn ang="0">
                <a:pos x="connsiteX2" y="connsiteY2"/>
              </a:cxn>
            </a:cxnLst>
            <a:rect l="l" t="t" r="r" b="b"/>
            <a:pathLst>
              <a:path w="245660" h="1064525">
                <a:moveTo>
                  <a:pt x="0" y="0"/>
                </a:moveTo>
                <a:cubicBezTo>
                  <a:pt x="34119" y="279779"/>
                  <a:pt x="68239" y="559558"/>
                  <a:pt x="109182" y="736979"/>
                </a:cubicBezTo>
                <a:cubicBezTo>
                  <a:pt x="150125" y="914400"/>
                  <a:pt x="197892" y="989462"/>
                  <a:pt x="245660" y="1064525"/>
                </a:cubicBezTo>
              </a:path>
            </a:pathLst>
          </a:custGeom>
          <a:noFill/>
          <a:ln>
            <a:solidFill>
              <a:srgbClr val="FF000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5" name="Oval Callout 4">
            <a:extLst>
              <a:ext uri="{FF2B5EF4-FFF2-40B4-BE49-F238E27FC236}">
                <a16:creationId xmlns:a16="http://schemas.microsoft.com/office/drawing/2014/main" id="{F44D7406-67E5-441D-FC42-2820B1FEE1A7}"/>
              </a:ext>
            </a:extLst>
          </p:cNvPr>
          <p:cNvSpPr/>
          <p:nvPr/>
        </p:nvSpPr>
        <p:spPr>
          <a:xfrm>
            <a:off x="7543455" y="4967610"/>
            <a:ext cx="4169184" cy="981433"/>
          </a:xfrm>
          <a:prstGeom prst="wedgeEllipseCallout">
            <a:avLst>
              <a:gd name="adj1" fmla="val -62196"/>
              <a:gd name="adj2" fmla="val -2026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Cloud Callout 7">
            <a:extLst>
              <a:ext uri="{FF2B5EF4-FFF2-40B4-BE49-F238E27FC236}">
                <a16:creationId xmlns:a16="http://schemas.microsoft.com/office/drawing/2014/main" id="{830B0D28-A91F-443D-59F9-2C67321C04DA}"/>
              </a:ext>
            </a:extLst>
          </p:cNvPr>
          <p:cNvSpPr/>
          <p:nvPr/>
        </p:nvSpPr>
        <p:spPr>
          <a:xfrm>
            <a:off x="7265859" y="2598370"/>
            <a:ext cx="4773621" cy="1733552"/>
          </a:xfrm>
          <a:prstGeom prst="cloudCallout">
            <a:avLst>
              <a:gd name="adj1" fmla="val -48959"/>
              <a:gd name="adj2" fmla="val 6368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ndParaRPr>
          </a:p>
        </p:txBody>
      </p:sp>
      <p:sp>
        <p:nvSpPr>
          <p:cNvPr id="9" name="TextBox 8">
            <a:extLst>
              <a:ext uri="{FF2B5EF4-FFF2-40B4-BE49-F238E27FC236}">
                <a16:creationId xmlns:a16="http://schemas.microsoft.com/office/drawing/2014/main" id="{5A0DFBBE-07AB-3A92-5267-C87F5B37DC5E}"/>
              </a:ext>
            </a:extLst>
          </p:cNvPr>
          <p:cNvSpPr txBox="1"/>
          <p:nvPr/>
        </p:nvSpPr>
        <p:spPr>
          <a:xfrm>
            <a:off x="7594698" y="3234058"/>
            <a:ext cx="1144865" cy="338554"/>
          </a:xfrm>
          <a:prstGeom prst="rect">
            <a:avLst/>
          </a:prstGeom>
          <a:noFill/>
        </p:spPr>
        <p:txBody>
          <a:bodyPr wrap="none" rtlCol="0">
            <a:spAutoFit/>
          </a:bodyPr>
          <a:lstStyle/>
          <a:p>
            <a:r>
              <a:rPr lang="en-US" sz="1600" dirty="0"/>
              <a:t>REJECTION</a:t>
            </a:r>
          </a:p>
        </p:txBody>
      </p:sp>
      <p:sp>
        <p:nvSpPr>
          <p:cNvPr id="10" name="TextBox 9">
            <a:extLst>
              <a:ext uri="{FF2B5EF4-FFF2-40B4-BE49-F238E27FC236}">
                <a16:creationId xmlns:a16="http://schemas.microsoft.com/office/drawing/2014/main" id="{DCF9F0B9-95A2-6F7A-2929-C41D06A7DBE5}"/>
              </a:ext>
            </a:extLst>
          </p:cNvPr>
          <p:cNvSpPr txBox="1"/>
          <p:nvPr/>
        </p:nvSpPr>
        <p:spPr>
          <a:xfrm>
            <a:off x="8293250" y="3537087"/>
            <a:ext cx="1324914" cy="338554"/>
          </a:xfrm>
          <a:prstGeom prst="rect">
            <a:avLst/>
          </a:prstGeom>
          <a:noFill/>
        </p:spPr>
        <p:txBody>
          <a:bodyPr wrap="none" rtlCol="0">
            <a:spAutoFit/>
          </a:bodyPr>
          <a:lstStyle/>
          <a:p>
            <a:r>
              <a:rPr lang="en-US" sz="1600" dirty="0"/>
              <a:t>PROHIBITION</a:t>
            </a:r>
          </a:p>
        </p:txBody>
      </p:sp>
      <p:sp>
        <p:nvSpPr>
          <p:cNvPr id="11" name="TextBox 10">
            <a:extLst>
              <a:ext uri="{FF2B5EF4-FFF2-40B4-BE49-F238E27FC236}">
                <a16:creationId xmlns:a16="http://schemas.microsoft.com/office/drawing/2014/main" id="{622A742B-9A22-DA0E-0089-640FA8B9CB02}"/>
              </a:ext>
            </a:extLst>
          </p:cNvPr>
          <p:cNvSpPr txBox="1"/>
          <p:nvPr/>
        </p:nvSpPr>
        <p:spPr>
          <a:xfrm>
            <a:off x="9177564" y="3104751"/>
            <a:ext cx="1544718" cy="338554"/>
          </a:xfrm>
          <a:prstGeom prst="rect">
            <a:avLst/>
          </a:prstGeom>
          <a:noFill/>
        </p:spPr>
        <p:txBody>
          <a:bodyPr wrap="none" rtlCol="0">
            <a:spAutoFit/>
          </a:bodyPr>
          <a:lstStyle/>
          <a:p>
            <a:r>
              <a:rPr lang="en-US" sz="1600" dirty="0"/>
              <a:t>NONEXISTENCE</a:t>
            </a:r>
          </a:p>
        </p:txBody>
      </p:sp>
      <p:sp>
        <p:nvSpPr>
          <p:cNvPr id="12" name="TextBox 11">
            <a:extLst>
              <a:ext uri="{FF2B5EF4-FFF2-40B4-BE49-F238E27FC236}">
                <a16:creationId xmlns:a16="http://schemas.microsoft.com/office/drawing/2014/main" id="{8CBE5D48-65FD-703B-55B3-7EF615F7ECA5}"/>
              </a:ext>
            </a:extLst>
          </p:cNvPr>
          <p:cNvSpPr txBox="1"/>
          <p:nvPr/>
        </p:nvSpPr>
        <p:spPr>
          <a:xfrm>
            <a:off x="10120786" y="3557288"/>
            <a:ext cx="1077474" cy="338554"/>
          </a:xfrm>
          <a:prstGeom prst="rect">
            <a:avLst/>
          </a:prstGeom>
          <a:noFill/>
        </p:spPr>
        <p:txBody>
          <a:bodyPr wrap="none" rtlCol="0">
            <a:spAutoFit/>
          </a:bodyPr>
          <a:lstStyle/>
          <a:p>
            <a:r>
              <a:rPr lang="en-US" sz="1600" dirty="0"/>
              <a:t>NEGATION</a:t>
            </a:r>
          </a:p>
        </p:txBody>
      </p:sp>
      <p:sp>
        <p:nvSpPr>
          <p:cNvPr id="13" name="TextBox 12">
            <a:extLst>
              <a:ext uri="{FF2B5EF4-FFF2-40B4-BE49-F238E27FC236}">
                <a16:creationId xmlns:a16="http://schemas.microsoft.com/office/drawing/2014/main" id="{D8B43EDF-5EE6-08F4-0054-7CE2ACD179B9}"/>
              </a:ext>
            </a:extLst>
          </p:cNvPr>
          <p:cNvSpPr txBox="1"/>
          <p:nvPr/>
        </p:nvSpPr>
        <p:spPr>
          <a:xfrm>
            <a:off x="7817831" y="5270639"/>
            <a:ext cx="3600666" cy="646331"/>
          </a:xfrm>
          <a:prstGeom prst="rect">
            <a:avLst/>
          </a:prstGeom>
          <a:noFill/>
        </p:spPr>
        <p:txBody>
          <a:bodyPr wrap="none" rtlCol="0">
            <a:spAutoFit/>
          </a:bodyPr>
          <a:lstStyle/>
          <a:p>
            <a:r>
              <a:rPr lang="en-US" dirty="0">
                <a:solidFill>
                  <a:schemeClr val="tx1"/>
                </a:solidFill>
              </a:rPr>
              <a:t>“</a:t>
            </a:r>
            <a:r>
              <a:rPr lang="en-US" dirty="0" err="1">
                <a:solidFill>
                  <a:schemeClr val="tx1"/>
                </a:solidFill>
              </a:rPr>
              <a:t>ayaw</a:t>
            </a:r>
            <a:r>
              <a:rPr lang="en-US" dirty="0">
                <a:solidFill>
                  <a:schemeClr val="tx1"/>
                </a:solidFill>
              </a:rPr>
              <a:t>”	“</a:t>
            </a:r>
            <a:r>
              <a:rPr lang="en-US" dirty="0" err="1">
                <a:solidFill>
                  <a:schemeClr val="tx1"/>
                </a:solidFill>
              </a:rPr>
              <a:t>huwag</a:t>
            </a:r>
            <a:r>
              <a:rPr lang="en-US" dirty="0">
                <a:solidFill>
                  <a:schemeClr val="tx1"/>
                </a:solidFill>
              </a:rPr>
              <a:t>”	“</a:t>
            </a:r>
            <a:r>
              <a:rPr lang="en-US" dirty="0" err="1">
                <a:solidFill>
                  <a:schemeClr val="tx1"/>
                </a:solidFill>
              </a:rPr>
              <a:t>wala</a:t>
            </a:r>
            <a:r>
              <a:rPr lang="en-US" dirty="0">
                <a:solidFill>
                  <a:schemeClr val="tx1"/>
                </a:solidFill>
              </a:rPr>
              <a:t>”	“</a:t>
            </a:r>
            <a:r>
              <a:rPr lang="en-US" dirty="0" err="1">
                <a:solidFill>
                  <a:schemeClr val="tx1"/>
                </a:solidFill>
              </a:rPr>
              <a:t>hindi</a:t>
            </a:r>
            <a:r>
              <a:rPr lang="en-US" dirty="0">
                <a:solidFill>
                  <a:schemeClr val="tx1"/>
                </a:solidFill>
              </a:rPr>
              <a:t>"</a:t>
            </a:r>
          </a:p>
          <a:p>
            <a:endParaRPr lang="en-US" dirty="0"/>
          </a:p>
        </p:txBody>
      </p:sp>
      <p:cxnSp>
        <p:nvCxnSpPr>
          <p:cNvPr id="14" name="Straight Arrow Connector 13">
            <a:extLst>
              <a:ext uri="{FF2B5EF4-FFF2-40B4-BE49-F238E27FC236}">
                <a16:creationId xmlns:a16="http://schemas.microsoft.com/office/drawing/2014/main" id="{0DFD184C-133D-2876-7D83-C5EEE31D3CF0}"/>
              </a:ext>
            </a:extLst>
          </p:cNvPr>
          <p:cNvCxnSpPr>
            <a:cxnSpLocks/>
          </p:cNvCxnSpPr>
          <p:nvPr/>
        </p:nvCxnSpPr>
        <p:spPr>
          <a:xfrm>
            <a:off x="8137300" y="3605770"/>
            <a:ext cx="62301" cy="166486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4BADB42-B71F-EA05-5597-51A78B9BF1CD}"/>
              </a:ext>
            </a:extLst>
          </p:cNvPr>
          <p:cNvCxnSpPr>
            <a:cxnSpLocks/>
          </p:cNvCxnSpPr>
          <p:nvPr/>
        </p:nvCxnSpPr>
        <p:spPr>
          <a:xfrm>
            <a:off x="8955707" y="3817332"/>
            <a:ext cx="271285" cy="1537222"/>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68458D9-1278-4A83-724B-164FF9E3C310}"/>
              </a:ext>
            </a:extLst>
          </p:cNvPr>
          <p:cNvCxnSpPr>
            <a:cxnSpLocks/>
          </p:cNvCxnSpPr>
          <p:nvPr/>
        </p:nvCxnSpPr>
        <p:spPr>
          <a:xfrm>
            <a:off x="9939843" y="3449727"/>
            <a:ext cx="67780" cy="1904827"/>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3AD5A26-CC65-F168-40E2-8B625128D71A}"/>
              </a:ext>
            </a:extLst>
          </p:cNvPr>
          <p:cNvCxnSpPr>
            <a:cxnSpLocks/>
          </p:cNvCxnSpPr>
          <p:nvPr/>
        </p:nvCxnSpPr>
        <p:spPr>
          <a:xfrm>
            <a:off x="10689323" y="3875641"/>
            <a:ext cx="303078" cy="1415199"/>
          </a:xfrm>
          <a:prstGeom prst="straightConnector1">
            <a:avLst/>
          </a:prstGeom>
          <a:ln w="28575">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6387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BF9225-5855-2D3B-9ED0-BC1B703B3FE0}"/>
            </a:ext>
          </a:extLst>
        </p:cNvPr>
        <p:cNvGrpSpPr/>
        <p:nvPr/>
      </p:nvGrpSpPr>
      <p:grpSpPr>
        <a:xfrm>
          <a:off x="0" y="0"/>
          <a:ext cx="0" cy="0"/>
          <a:chOff x="0" y="0"/>
          <a:chExt cx="0" cy="0"/>
        </a:xfrm>
      </p:grpSpPr>
      <p:sp>
        <p:nvSpPr>
          <p:cNvPr id="10" name="Right Arrow 9">
            <a:extLst>
              <a:ext uri="{FF2B5EF4-FFF2-40B4-BE49-F238E27FC236}">
                <a16:creationId xmlns:a16="http://schemas.microsoft.com/office/drawing/2014/main" id="{145681B1-8C97-0CB0-6613-BAF3AE98ACF5}"/>
              </a:ext>
            </a:extLst>
          </p:cNvPr>
          <p:cNvSpPr/>
          <p:nvPr/>
        </p:nvSpPr>
        <p:spPr>
          <a:xfrm rot="16200000">
            <a:off x="8547298"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4" name="TextBox 13">
            <a:extLst>
              <a:ext uri="{FF2B5EF4-FFF2-40B4-BE49-F238E27FC236}">
                <a16:creationId xmlns:a16="http://schemas.microsoft.com/office/drawing/2014/main" id="{1C0CCEFB-F79A-59D7-FE85-5E54E69A8512}"/>
              </a:ext>
            </a:extLst>
          </p:cNvPr>
          <p:cNvSpPr txBox="1"/>
          <p:nvPr/>
        </p:nvSpPr>
        <p:spPr>
          <a:xfrm>
            <a:off x="8391495" y="4254698"/>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15" name="Content Placeholder 4">
            <a:extLst>
              <a:ext uri="{FF2B5EF4-FFF2-40B4-BE49-F238E27FC236}">
                <a16:creationId xmlns:a16="http://schemas.microsoft.com/office/drawing/2014/main" id="{C664D099-0719-A547-E207-5AA3C516ACD3}"/>
              </a:ext>
            </a:extLst>
          </p:cNvPr>
          <p:cNvSpPr txBox="1">
            <a:spLocks/>
          </p:cNvSpPr>
          <p:nvPr/>
        </p:nvSpPr>
        <p:spPr>
          <a:xfrm>
            <a:off x="6688755" y="5666235"/>
            <a:ext cx="5052898" cy="923331"/>
          </a:xfrm>
          <a:prstGeom prst="rect">
            <a:avLst/>
          </a:prstGeom>
          <a:solidFill>
            <a:schemeClr val="accent2">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Learning the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NEGATION </a:t>
            </a:r>
            <a:r>
              <a:rPr kumimoji="0" lang="en-US" i="0" u="none" strike="noStrike" kern="1200" cap="none" spc="0" normalizeH="0" baseline="0" noProof="0" dirty="0">
                <a:ln>
                  <a:noFill/>
                </a:ln>
                <a:solidFill>
                  <a:srgbClr val="0E2841"/>
                </a:solidFill>
                <a:effectLst/>
                <a:uLnTx/>
                <a:uFillTx/>
                <a:latin typeface="Franklin Gothic Book" panose="020B0503020102020204"/>
                <a:ea typeface="+mn-ea"/>
                <a:cs typeface="+mn-cs"/>
              </a:rPr>
              <a:t>meaning of </a:t>
            </a:r>
            <a:r>
              <a:rPr kumimoji="0" lang="en-US" b="1" i="0" u="none" strike="noStrike" kern="1200" cap="none" spc="0" normalizeH="0" baseline="0" noProof="0" dirty="0">
                <a:ln>
                  <a:noFill/>
                </a:ln>
                <a:solidFill>
                  <a:srgbClr val="0E2841"/>
                </a:solidFill>
                <a:effectLst/>
                <a:uLnTx/>
                <a:uFillTx/>
                <a:latin typeface="Franklin Gothic Book" panose="020B0503020102020204"/>
                <a:ea typeface="+mn-ea"/>
                <a:cs typeface="+mn-cs"/>
              </a:rPr>
              <a:t>words</a:t>
            </a:r>
            <a:r>
              <a:rPr kumimoji="0" lang="en-US" b="0" i="0" u="none" strike="noStrike" kern="1200" cap="none" spc="0" normalizeH="0" baseline="0" noProof="0" dirty="0">
                <a:ln>
                  <a:noFill/>
                </a:ln>
                <a:solidFill>
                  <a:srgbClr val="0E2841"/>
                </a:solidFill>
                <a:effectLst/>
                <a:uLnTx/>
                <a:uFillTx/>
                <a:latin typeface="Franklin Gothic Book" panose="020B0503020102020204"/>
                <a:ea typeface="+mn-ea"/>
                <a:cs typeface="+mn-cs"/>
              </a:rPr>
              <a:t> is</a:t>
            </a:r>
            <a:r>
              <a:rPr kumimoji="0" lang="en-US" b="0" i="0" u="none" strike="noStrike" kern="1200" cap="none" spc="0" normalizeH="0" baseline="0" noProof="0" dirty="0">
                <a:ln>
                  <a:noFill/>
                </a:ln>
                <a:solidFill>
                  <a:srgbClr val="FF0000"/>
                </a:solidFill>
                <a:effectLst/>
                <a:uLnTx/>
                <a:uFillTx/>
                <a:latin typeface="Franklin Gothic Book" panose="020B0503020102020204"/>
                <a:ea typeface="+mn-ea"/>
                <a:cs typeface="+mn-cs"/>
              </a:rPr>
              <a:t> </a:t>
            </a:r>
          </a:p>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2000" b="0" i="0" u="none" strike="noStrike" kern="1200" cap="none" spc="0" normalizeH="0" baseline="0" noProof="0" dirty="0">
                <a:ln>
                  <a:noFill/>
                </a:ln>
                <a:solidFill>
                  <a:srgbClr val="FF0000"/>
                </a:solidFill>
                <a:effectLst/>
                <a:uLnTx/>
                <a:uFillTx/>
                <a:latin typeface="Franklin Gothic Book" panose="020B0503020102020204"/>
                <a:ea typeface="+mn-ea"/>
                <a:cs typeface="+mn-cs"/>
              </a:rPr>
              <a:t>inhibited </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by mappings to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REJECTION</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NONEXISTENCE</a:t>
            </a:r>
            <a:r>
              <a:rPr kumimoji="0" lang="en-US" sz="20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and </a:t>
            </a: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PROHIBITION</a:t>
            </a:r>
          </a:p>
        </p:txBody>
      </p:sp>
      <p:sp>
        <p:nvSpPr>
          <p:cNvPr id="8" name="TextBox 7">
            <a:extLst>
              <a:ext uri="{FF2B5EF4-FFF2-40B4-BE49-F238E27FC236}">
                <a16:creationId xmlns:a16="http://schemas.microsoft.com/office/drawing/2014/main" id="{D74972DF-0619-397B-E876-BDEAB913DEF5}"/>
              </a:ext>
            </a:extLst>
          </p:cNvPr>
          <p:cNvSpPr txBox="1"/>
          <p:nvPr/>
        </p:nvSpPr>
        <p:spPr>
          <a:xfrm>
            <a:off x="8052097" y="5296903"/>
            <a:ext cx="2326214" cy="369332"/>
          </a:xfrm>
          <a:prstGeom prst="rect">
            <a:avLst/>
          </a:prstGeom>
          <a:noFill/>
        </p:spPr>
        <p:txBody>
          <a:bodyPr wrap="none" rtlCol="0">
            <a:spAutoFit/>
          </a:bodyPr>
          <a:lstStyle/>
          <a:p>
            <a:r>
              <a:rPr lang="en-US" dirty="0">
                <a:solidFill>
                  <a:schemeClr val="accent2">
                    <a:lumMod val="75000"/>
                  </a:schemeClr>
                </a:solidFill>
              </a:rPr>
              <a:t>LANGUAGE LEARNING</a:t>
            </a:r>
          </a:p>
        </p:txBody>
      </p:sp>
      <p:cxnSp>
        <p:nvCxnSpPr>
          <p:cNvPr id="26" name="Straight Arrow Connector 25">
            <a:extLst>
              <a:ext uri="{FF2B5EF4-FFF2-40B4-BE49-F238E27FC236}">
                <a16:creationId xmlns:a16="http://schemas.microsoft.com/office/drawing/2014/main" id="{F9EFF1B7-94EA-BB7C-C10F-5E5FC508C14F}"/>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6418505-A222-E6BC-44E9-0E6B004DD2CC}"/>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30" name="TextBox 29">
            <a:extLst>
              <a:ext uri="{FF2B5EF4-FFF2-40B4-BE49-F238E27FC236}">
                <a16:creationId xmlns:a16="http://schemas.microsoft.com/office/drawing/2014/main" id="{D7BBB1E3-726C-5ED8-F67A-5F3614E9AE67}"/>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31" name="TextBox 30">
            <a:extLst>
              <a:ext uri="{FF2B5EF4-FFF2-40B4-BE49-F238E27FC236}">
                <a16:creationId xmlns:a16="http://schemas.microsoft.com/office/drawing/2014/main" id="{9982578F-7C30-5A8A-78C3-D30ECEE0E252}"/>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2" name="Right Arrow 31">
            <a:extLst>
              <a:ext uri="{FF2B5EF4-FFF2-40B4-BE49-F238E27FC236}">
                <a16:creationId xmlns:a16="http://schemas.microsoft.com/office/drawing/2014/main" id="{5BCD0290-E7AE-1C78-73AC-E3D491ED5E64}"/>
              </a:ext>
            </a:extLst>
          </p:cNvPr>
          <p:cNvSpPr/>
          <p:nvPr/>
        </p:nvSpPr>
        <p:spPr>
          <a:xfrm rot="16200000">
            <a:off x="293235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33" name="TextBox 32">
            <a:extLst>
              <a:ext uri="{FF2B5EF4-FFF2-40B4-BE49-F238E27FC236}">
                <a16:creationId xmlns:a16="http://schemas.microsoft.com/office/drawing/2014/main" id="{01096309-DB1D-D6AD-D07E-3D5E80874A07}"/>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34" name="TextBox 33">
            <a:extLst>
              <a:ext uri="{FF2B5EF4-FFF2-40B4-BE49-F238E27FC236}">
                <a16:creationId xmlns:a16="http://schemas.microsoft.com/office/drawing/2014/main" id="{3B9E6948-25B5-024A-FDAE-2ACC0717A5EE}"/>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35" name="TextBox 34">
            <a:extLst>
              <a:ext uri="{FF2B5EF4-FFF2-40B4-BE49-F238E27FC236}">
                <a16:creationId xmlns:a16="http://schemas.microsoft.com/office/drawing/2014/main" id="{0575B9CC-DA93-FE40-2CF2-5284EA1DA464}"/>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36" name="Picture 35">
            <a:extLst>
              <a:ext uri="{FF2B5EF4-FFF2-40B4-BE49-F238E27FC236}">
                <a16:creationId xmlns:a16="http://schemas.microsoft.com/office/drawing/2014/main" id="{28D4FB65-E858-B7CD-838B-6A9BA7C85A39}"/>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37" name="Rectangle 36">
            <a:extLst>
              <a:ext uri="{FF2B5EF4-FFF2-40B4-BE49-F238E27FC236}">
                <a16:creationId xmlns:a16="http://schemas.microsoft.com/office/drawing/2014/main" id="{2A69E6E3-6F11-AF47-8625-6A9F87A18B0A}"/>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8" name="Rectangle 37">
            <a:extLst>
              <a:ext uri="{FF2B5EF4-FFF2-40B4-BE49-F238E27FC236}">
                <a16:creationId xmlns:a16="http://schemas.microsoft.com/office/drawing/2014/main" id="{A8F0B647-1226-DE1D-0DE7-F0E4CF89808C}"/>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9" name="Rectangle 38">
            <a:extLst>
              <a:ext uri="{FF2B5EF4-FFF2-40B4-BE49-F238E27FC236}">
                <a16:creationId xmlns:a16="http://schemas.microsoft.com/office/drawing/2014/main" id="{79C348D0-3CBD-A698-46FA-9F219B41CF12}"/>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0" name="Rectangle 39">
            <a:extLst>
              <a:ext uri="{FF2B5EF4-FFF2-40B4-BE49-F238E27FC236}">
                <a16:creationId xmlns:a16="http://schemas.microsoft.com/office/drawing/2014/main" id="{A0BE1647-76C7-F542-F652-E31C3E898E25}"/>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1" name="Rectangle 40">
            <a:extLst>
              <a:ext uri="{FF2B5EF4-FFF2-40B4-BE49-F238E27FC236}">
                <a16:creationId xmlns:a16="http://schemas.microsoft.com/office/drawing/2014/main" id="{56F5A4A6-7A13-52B1-F617-815AD56CFEC8}"/>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2" name="Rectangle 41">
            <a:extLst>
              <a:ext uri="{FF2B5EF4-FFF2-40B4-BE49-F238E27FC236}">
                <a16:creationId xmlns:a16="http://schemas.microsoft.com/office/drawing/2014/main" id="{1F0F3FF9-4544-0945-5F83-5D6C5BB80256}"/>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3" name="Content Placeholder 4">
            <a:extLst>
              <a:ext uri="{FF2B5EF4-FFF2-40B4-BE49-F238E27FC236}">
                <a16:creationId xmlns:a16="http://schemas.microsoft.com/office/drawing/2014/main" id="{9B4A3F3C-CC6E-B8E4-CD84-F35671C165EB}"/>
              </a:ext>
            </a:extLst>
          </p:cNvPr>
          <p:cNvSpPr txBox="1">
            <a:spLocks/>
          </p:cNvSpPr>
          <p:nvPr/>
        </p:nvSpPr>
        <p:spPr>
          <a:xfrm>
            <a:off x="1122774" y="5666236"/>
            <a:ext cx="5052898" cy="923330"/>
          </a:xfrm>
          <a:prstGeom prst="rect">
            <a:avLst/>
          </a:prstGeom>
          <a:solidFill>
            <a:schemeClr val="accent1">
              <a:lumMod val="20000"/>
              <a:lumOff val="80000"/>
            </a:schemeClr>
          </a:solidFill>
        </p:spPr>
        <p:txBody>
          <a:bodyPr vert="horz" lIns="91440" tIns="45720" rIns="91440" bIns="45720" rtlCol="0" anchor="ctr">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r>
              <a:rPr lang="en-US" dirty="0"/>
              <a:t>Learning the </a:t>
            </a:r>
            <a:r>
              <a:rPr lang="en-US" b="1" dirty="0"/>
              <a:t>concept</a:t>
            </a:r>
            <a:r>
              <a:rPr lang="en-US" dirty="0"/>
              <a:t> </a:t>
            </a:r>
            <a:r>
              <a:rPr lang="en-US" sz="1800" dirty="0"/>
              <a:t>NEGATION</a:t>
            </a:r>
            <a:r>
              <a:rPr lang="en-US" dirty="0"/>
              <a:t> is </a:t>
            </a:r>
          </a:p>
          <a:p>
            <a:pPr marL="0" indent="0" algn="ctr">
              <a:spcBef>
                <a:spcPts val="0"/>
              </a:spcBef>
              <a:spcAft>
                <a:spcPts val="0"/>
              </a:spcAft>
              <a:buFont typeface="Franklin Gothic Book" panose="020B0503020102020204" pitchFamily="34" charset="0"/>
              <a:buNone/>
            </a:pPr>
            <a:r>
              <a:rPr lang="en-US" dirty="0">
                <a:solidFill>
                  <a:schemeClr val="accent6"/>
                </a:solidFill>
              </a:rPr>
              <a:t>scaffolded </a:t>
            </a:r>
            <a:r>
              <a:rPr lang="en-US" dirty="0">
                <a:solidFill>
                  <a:schemeClr val="tx1"/>
                </a:solidFill>
              </a:rPr>
              <a:t>by</a:t>
            </a:r>
            <a:r>
              <a:rPr lang="en-US" dirty="0">
                <a:solidFill>
                  <a:schemeClr val="accent6"/>
                </a:solidFill>
              </a:rPr>
              <a:t> </a:t>
            </a:r>
            <a:r>
              <a:rPr lang="en-US" dirty="0">
                <a:solidFill>
                  <a:schemeClr val="tx1"/>
                </a:solidFill>
              </a:rPr>
              <a:t>mappings to </a:t>
            </a:r>
            <a:r>
              <a:rPr lang="en-US" sz="1800" dirty="0"/>
              <a:t>REJECTION</a:t>
            </a:r>
            <a:r>
              <a:rPr lang="en-US" dirty="0"/>
              <a:t>, </a:t>
            </a:r>
            <a:r>
              <a:rPr lang="en-US" sz="1800" dirty="0"/>
              <a:t>NONEXISTENCE</a:t>
            </a:r>
            <a:r>
              <a:rPr lang="en-US" dirty="0"/>
              <a:t>, and </a:t>
            </a:r>
            <a:r>
              <a:rPr lang="en-US" sz="1800" dirty="0"/>
              <a:t>PROHIBITION</a:t>
            </a:r>
            <a:endParaRPr lang="en-US" dirty="0"/>
          </a:p>
        </p:txBody>
      </p:sp>
      <p:sp>
        <p:nvSpPr>
          <p:cNvPr id="44" name="TextBox 43">
            <a:extLst>
              <a:ext uri="{FF2B5EF4-FFF2-40B4-BE49-F238E27FC236}">
                <a16:creationId xmlns:a16="http://schemas.microsoft.com/office/drawing/2014/main" id="{DF53CFAB-098F-A9CB-EBD2-24BA149B9611}"/>
              </a:ext>
            </a:extLst>
          </p:cNvPr>
          <p:cNvSpPr txBox="1"/>
          <p:nvPr/>
        </p:nvSpPr>
        <p:spPr>
          <a:xfrm>
            <a:off x="2553410" y="5296903"/>
            <a:ext cx="2191626" cy="369332"/>
          </a:xfrm>
          <a:prstGeom prst="rect">
            <a:avLst/>
          </a:prstGeom>
          <a:noFill/>
        </p:spPr>
        <p:txBody>
          <a:bodyPr wrap="none" rtlCol="0">
            <a:spAutoFit/>
          </a:bodyPr>
          <a:lstStyle/>
          <a:p>
            <a:r>
              <a:rPr lang="en-US" dirty="0">
                <a:solidFill>
                  <a:srgbClr val="3799C8"/>
                </a:solidFill>
              </a:rPr>
              <a:t>CONCEPT LEARNING</a:t>
            </a:r>
          </a:p>
        </p:txBody>
      </p:sp>
      <p:sp>
        <p:nvSpPr>
          <p:cNvPr id="5" name="Title 4">
            <a:extLst>
              <a:ext uri="{FF2B5EF4-FFF2-40B4-BE49-F238E27FC236}">
                <a16:creationId xmlns:a16="http://schemas.microsoft.com/office/drawing/2014/main" id="{ECF96A69-727D-AC06-8231-75350BF63F02}"/>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231531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p:bldP spid="15" grpId="0" animBg="1"/>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237877-D3F9-5ECE-0D66-7E51243EDADD}"/>
            </a:ext>
          </a:extLst>
        </p:cNvPr>
        <p:cNvGrpSpPr/>
        <p:nvPr/>
      </p:nvGrpSpPr>
      <p:grpSpPr>
        <a:xfrm>
          <a:off x="0" y="0"/>
          <a:ext cx="0" cy="0"/>
          <a:chOff x="0" y="0"/>
          <a:chExt cx="0" cy="0"/>
        </a:xfrm>
      </p:grpSpPr>
      <p:sp>
        <p:nvSpPr>
          <p:cNvPr id="10" name="Right Arrow 9">
            <a:extLst>
              <a:ext uri="{FF2B5EF4-FFF2-40B4-BE49-F238E27FC236}">
                <a16:creationId xmlns:a16="http://schemas.microsoft.com/office/drawing/2014/main" id="{64AB9ED4-104F-7057-D82B-DD3F1D7ABC65}"/>
              </a:ext>
            </a:extLst>
          </p:cNvPr>
          <p:cNvSpPr/>
          <p:nvPr/>
        </p:nvSpPr>
        <p:spPr>
          <a:xfrm rot="16200000">
            <a:off x="8581581"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14" name="TextBox 13">
            <a:extLst>
              <a:ext uri="{FF2B5EF4-FFF2-40B4-BE49-F238E27FC236}">
                <a16:creationId xmlns:a16="http://schemas.microsoft.com/office/drawing/2014/main" id="{B70FA205-336E-E5F9-A817-D9A51A17C0CC}"/>
              </a:ext>
            </a:extLst>
          </p:cNvPr>
          <p:cNvSpPr txBox="1"/>
          <p:nvPr/>
        </p:nvSpPr>
        <p:spPr>
          <a:xfrm>
            <a:off x="8391495" y="4254698"/>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15" name="Content Placeholder 4">
            <a:extLst>
              <a:ext uri="{FF2B5EF4-FFF2-40B4-BE49-F238E27FC236}">
                <a16:creationId xmlns:a16="http://schemas.microsoft.com/office/drawing/2014/main" id="{E3B4BC98-480E-3DBB-345B-947FBADA7745}"/>
              </a:ext>
            </a:extLst>
          </p:cNvPr>
          <p:cNvSpPr txBox="1">
            <a:spLocks/>
          </p:cNvSpPr>
          <p:nvPr/>
        </p:nvSpPr>
        <p:spPr>
          <a:xfrm>
            <a:off x="7322106" y="5613985"/>
            <a:ext cx="3904639" cy="646330"/>
          </a:xfrm>
          <a:prstGeom prst="rect">
            <a:avLst/>
          </a:prstGeom>
          <a:solidFill>
            <a:schemeClr val="accent2">
              <a:lumMod val="20000"/>
              <a:lumOff val="80000"/>
            </a:schemeClr>
          </a:solidFill>
        </p:spPr>
        <p:txBody>
          <a:bodyPr vert="horz" lIns="91440" tIns="45720" rIns="91440" bIns="45720" rtlCol="0" anchor="ct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marR="0" lvl="0" indent="0" algn="ctr" defTabSz="914400" rtl="0" eaLnBrk="1" fontAlgn="auto" latinLnBrk="0" hangingPunct="1">
              <a:lnSpc>
                <a:spcPct val="94000"/>
              </a:lnSpc>
              <a:spcBef>
                <a:spcPts val="0"/>
              </a:spcBef>
              <a:spcAft>
                <a:spcPts val="0"/>
              </a:spcAft>
              <a:buClrTx/>
              <a:buSzTx/>
              <a:buFont typeface="Franklin Gothic Book" panose="020B0503020102020204" pitchFamily="34" charset="0"/>
              <a:buNone/>
              <a:tabLst/>
              <a:defRPr/>
            </a:pPr>
            <a:r>
              <a:rPr kumimoji="0" lang="en-US" sz="1800" b="0" i="0" u="none" strike="noStrike" kern="1200" cap="none" spc="0" normalizeH="0" baseline="0" noProof="0" dirty="0">
                <a:ln>
                  <a:noFill/>
                </a:ln>
                <a:solidFill>
                  <a:srgbClr val="0E2841"/>
                </a:solidFill>
                <a:effectLst/>
                <a:uLnTx/>
                <a:uFillTx/>
                <a:latin typeface="Franklin Gothic Book" panose="020B0503020102020204"/>
                <a:ea typeface="+mn-ea"/>
                <a:cs typeface="+mn-cs"/>
              </a:rPr>
              <a:t>        </a:t>
            </a:r>
          </a:p>
        </p:txBody>
      </p:sp>
      <p:sp>
        <p:nvSpPr>
          <p:cNvPr id="8" name="TextBox 7">
            <a:extLst>
              <a:ext uri="{FF2B5EF4-FFF2-40B4-BE49-F238E27FC236}">
                <a16:creationId xmlns:a16="http://schemas.microsoft.com/office/drawing/2014/main" id="{69499B02-EC4B-4296-6D5C-25CC1F71B5A7}"/>
              </a:ext>
            </a:extLst>
          </p:cNvPr>
          <p:cNvSpPr txBox="1"/>
          <p:nvPr/>
        </p:nvSpPr>
        <p:spPr>
          <a:xfrm>
            <a:off x="7856410" y="5752484"/>
            <a:ext cx="2912913" cy="369332"/>
          </a:xfrm>
          <a:prstGeom prst="rect">
            <a:avLst/>
          </a:prstGeom>
          <a:noFill/>
        </p:spPr>
        <p:txBody>
          <a:bodyPr wrap="none" rtlCol="0">
            <a:spAutoFit/>
          </a:bodyPr>
          <a:lstStyle/>
          <a:p>
            <a:r>
              <a:rPr lang="en-US" dirty="0">
                <a:solidFill>
                  <a:schemeClr val="accent2">
                    <a:lumMod val="75000"/>
                  </a:schemeClr>
                </a:solidFill>
              </a:rPr>
              <a:t>LANGUAGE LEARNING LIMIT</a:t>
            </a:r>
          </a:p>
        </p:txBody>
      </p:sp>
      <p:cxnSp>
        <p:nvCxnSpPr>
          <p:cNvPr id="26" name="Straight Arrow Connector 25">
            <a:extLst>
              <a:ext uri="{FF2B5EF4-FFF2-40B4-BE49-F238E27FC236}">
                <a16:creationId xmlns:a16="http://schemas.microsoft.com/office/drawing/2014/main" id="{17D6805C-3D3A-8881-B1AD-FB8D96152BC4}"/>
              </a:ext>
            </a:extLst>
          </p:cNvPr>
          <p:cNvCxnSpPr/>
          <p:nvPr/>
        </p:nvCxnSpPr>
        <p:spPr>
          <a:xfrm>
            <a:off x="3590227" y="3208719"/>
            <a:ext cx="5816049" cy="0"/>
          </a:xfrm>
          <a:prstGeom prst="straightConnector1">
            <a:avLst/>
          </a:prstGeom>
          <a:ln w="38100">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AC8CD86-6744-85F4-F7E0-4DE82BAC0CDB}"/>
              </a:ext>
            </a:extLst>
          </p:cNvPr>
          <p:cNvSpPr txBox="1"/>
          <p:nvPr/>
        </p:nvSpPr>
        <p:spPr>
          <a:xfrm>
            <a:off x="2755320" y="4414327"/>
            <a:ext cx="1765862"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negation faster</a:t>
            </a:r>
          </a:p>
        </p:txBody>
      </p:sp>
      <p:sp>
        <p:nvSpPr>
          <p:cNvPr id="30" name="TextBox 29">
            <a:extLst>
              <a:ext uri="{FF2B5EF4-FFF2-40B4-BE49-F238E27FC236}">
                <a16:creationId xmlns:a16="http://schemas.microsoft.com/office/drawing/2014/main" id="{5122EEC9-5CC9-FCB0-0B88-1E07AAE382AD}"/>
              </a:ext>
            </a:extLst>
          </p:cNvPr>
          <p:cNvSpPr txBox="1"/>
          <p:nvPr/>
        </p:nvSpPr>
        <p:spPr>
          <a:xfrm>
            <a:off x="3299346" y="2409858"/>
            <a:ext cx="92204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English</a:t>
            </a:r>
          </a:p>
        </p:txBody>
      </p:sp>
      <p:sp>
        <p:nvSpPr>
          <p:cNvPr id="31" name="TextBox 30">
            <a:extLst>
              <a:ext uri="{FF2B5EF4-FFF2-40B4-BE49-F238E27FC236}">
                <a16:creationId xmlns:a16="http://schemas.microsoft.com/office/drawing/2014/main" id="{3EA8649A-99ED-79A7-5E51-997E06B861AF}"/>
              </a:ext>
            </a:extLst>
          </p:cNvPr>
          <p:cNvSpPr txBox="1"/>
          <p:nvPr/>
        </p:nvSpPr>
        <p:spPr>
          <a:xfrm>
            <a:off x="8735329" y="2409858"/>
            <a:ext cx="9597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Franklin Gothic Book" panose="020B0503020102020204"/>
                <a:ea typeface="+mn-ea"/>
                <a:cs typeface="+mn-cs"/>
              </a:rPr>
              <a:t>Tagalog</a:t>
            </a:r>
          </a:p>
        </p:txBody>
      </p:sp>
      <p:sp>
        <p:nvSpPr>
          <p:cNvPr id="32" name="Right Arrow 31">
            <a:extLst>
              <a:ext uri="{FF2B5EF4-FFF2-40B4-BE49-F238E27FC236}">
                <a16:creationId xmlns:a16="http://schemas.microsoft.com/office/drawing/2014/main" id="{6291B90A-44CA-A45F-350B-74A074196C5C}"/>
              </a:ext>
            </a:extLst>
          </p:cNvPr>
          <p:cNvSpPr/>
          <p:nvPr/>
        </p:nvSpPr>
        <p:spPr>
          <a:xfrm rot="16200000">
            <a:off x="2897382" y="2755459"/>
            <a:ext cx="1385690" cy="358593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endParaRPr>
          </a:p>
        </p:txBody>
      </p:sp>
      <p:sp>
        <p:nvSpPr>
          <p:cNvPr id="33" name="TextBox 32">
            <a:extLst>
              <a:ext uri="{FF2B5EF4-FFF2-40B4-BE49-F238E27FC236}">
                <a16:creationId xmlns:a16="http://schemas.microsoft.com/office/drawing/2014/main" id="{51C4002D-4547-55E9-3CB9-F386F218513B}"/>
              </a:ext>
            </a:extLst>
          </p:cNvPr>
          <p:cNvSpPr txBox="1"/>
          <p:nvPr/>
        </p:nvSpPr>
        <p:spPr>
          <a:xfrm>
            <a:off x="2771329" y="4228295"/>
            <a:ext cx="1765862" cy="92333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Franklin Gothic Book" panose="020B0503020102020204"/>
                <a:ea typeface="+mn-ea"/>
                <a:cs typeface="+mn-cs"/>
              </a:rPr>
              <a:t>This side learns denial negation language earlier</a:t>
            </a:r>
          </a:p>
        </p:txBody>
      </p:sp>
      <p:sp>
        <p:nvSpPr>
          <p:cNvPr id="34" name="TextBox 33">
            <a:extLst>
              <a:ext uri="{FF2B5EF4-FFF2-40B4-BE49-F238E27FC236}">
                <a16:creationId xmlns:a16="http://schemas.microsoft.com/office/drawing/2014/main" id="{1329AF59-6A66-6A60-869A-9908D78BA03B}"/>
              </a:ext>
            </a:extLst>
          </p:cNvPr>
          <p:cNvSpPr txBox="1"/>
          <p:nvPr/>
        </p:nvSpPr>
        <p:spPr>
          <a:xfrm>
            <a:off x="2060831" y="2912999"/>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more shared negation  meanings</a:t>
            </a:r>
          </a:p>
        </p:txBody>
      </p:sp>
      <p:sp>
        <p:nvSpPr>
          <p:cNvPr id="35" name="TextBox 34">
            <a:extLst>
              <a:ext uri="{FF2B5EF4-FFF2-40B4-BE49-F238E27FC236}">
                <a16:creationId xmlns:a16="http://schemas.microsoft.com/office/drawing/2014/main" id="{3F965772-61FD-B8B3-54FD-C703B04D2DA8}"/>
              </a:ext>
            </a:extLst>
          </p:cNvPr>
          <p:cNvSpPr txBox="1"/>
          <p:nvPr/>
        </p:nvSpPr>
        <p:spPr>
          <a:xfrm>
            <a:off x="9444717" y="2908415"/>
            <a:ext cx="1588392" cy="92333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panose="020B0503020102020204"/>
                <a:ea typeface="+mn-ea"/>
                <a:cs typeface="+mn-cs"/>
              </a:rPr>
              <a:t>fewer shared negation  meanings</a:t>
            </a:r>
          </a:p>
        </p:txBody>
      </p:sp>
      <p:pic>
        <p:nvPicPr>
          <p:cNvPr id="36" name="Picture 35">
            <a:extLst>
              <a:ext uri="{FF2B5EF4-FFF2-40B4-BE49-F238E27FC236}">
                <a16:creationId xmlns:a16="http://schemas.microsoft.com/office/drawing/2014/main" id="{3B00BC46-E5C4-06DB-C474-350256C65022}"/>
              </a:ext>
            </a:extLst>
          </p:cNvPr>
          <p:cNvPicPr>
            <a:picLocks noChangeAspect="1"/>
          </p:cNvPicPr>
          <p:nvPr/>
        </p:nvPicPr>
        <p:blipFill rotWithShape="1">
          <a:blip r:embed="rId3"/>
          <a:srcRect t="351" b="351"/>
          <a:stretch/>
        </p:blipFill>
        <p:spPr>
          <a:xfrm>
            <a:off x="1582929" y="625138"/>
            <a:ext cx="8112150" cy="2315718"/>
          </a:xfrm>
          <a:prstGeom prst="rect">
            <a:avLst/>
          </a:prstGeom>
        </p:spPr>
      </p:pic>
      <p:sp>
        <p:nvSpPr>
          <p:cNvPr id="37" name="Rectangle 36">
            <a:extLst>
              <a:ext uri="{FF2B5EF4-FFF2-40B4-BE49-F238E27FC236}">
                <a16:creationId xmlns:a16="http://schemas.microsoft.com/office/drawing/2014/main" id="{54E3D0F5-789F-E9A1-2820-D955578D492E}"/>
              </a:ext>
            </a:extLst>
          </p:cNvPr>
          <p:cNvSpPr/>
          <p:nvPr/>
        </p:nvSpPr>
        <p:spPr>
          <a:xfrm>
            <a:off x="3760369" y="1470065"/>
            <a:ext cx="1065631" cy="1317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8" name="Rectangle 37">
            <a:extLst>
              <a:ext uri="{FF2B5EF4-FFF2-40B4-BE49-F238E27FC236}">
                <a16:creationId xmlns:a16="http://schemas.microsoft.com/office/drawing/2014/main" id="{0DCA582B-06F9-A77E-D58B-0BB53A3386F7}"/>
              </a:ext>
            </a:extLst>
          </p:cNvPr>
          <p:cNvSpPr/>
          <p:nvPr/>
        </p:nvSpPr>
        <p:spPr>
          <a:xfrm>
            <a:off x="6359202" y="1444665"/>
            <a:ext cx="1268503"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9" name="Rectangle 38">
            <a:extLst>
              <a:ext uri="{FF2B5EF4-FFF2-40B4-BE49-F238E27FC236}">
                <a16:creationId xmlns:a16="http://schemas.microsoft.com/office/drawing/2014/main" id="{5A344E11-F130-C097-413C-F0BFF515D0FA}"/>
              </a:ext>
            </a:extLst>
          </p:cNvPr>
          <p:cNvSpPr/>
          <p:nvPr/>
        </p:nvSpPr>
        <p:spPr>
          <a:xfrm>
            <a:off x="7687708" y="1457131"/>
            <a:ext cx="908362" cy="13945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0" name="Rectangle 39">
            <a:extLst>
              <a:ext uri="{FF2B5EF4-FFF2-40B4-BE49-F238E27FC236}">
                <a16:creationId xmlns:a16="http://schemas.microsoft.com/office/drawing/2014/main" id="{115FF2C4-857C-568F-DF50-FAD26C1750B5}"/>
              </a:ext>
            </a:extLst>
          </p:cNvPr>
          <p:cNvSpPr/>
          <p:nvPr/>
        </p:nvSpPr>
        <p:spPr>
          <a:xfrm>
            <a:off x="3759012"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1" name="Rectangle 40">
            <a:extLst>
              <a:ext uri="{FF2B5EF4-FFF2-40B4-BE49-F238E27FC236}">
                <a16:creationId xmlns:a16="http://schemas.microsoft.com/office/drawing/2014/main" id="{F999DBF0-4406-A826-820C-9CF0787C1B8F}"/>
              </a:ext>
            </a:extLst>
          </p:cNvPr>
          <p:cNvSpPr/>
          <p:nvPr/>
        </p:nvSpPr>
        <p:spPr>
          <a:xfrm>
            <a:off x="6467910" y="1089711"/>
            <a:ext cx="1065631" cy="289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2" name="Rectangle 41">
            <a:extLst>
              <a:ext uri="{FF2B5EF4-FFF2-40B4-BE49-F238E27FC236}">
                <a16:creationId xmlns:a16="http://schemas.microsoft.com/office/drawing/2014/main" id="{B23EDAA5-7C69-3E2B-9E8C-BBCB8A6569C0}"/>
              </a:ext>
            </a:extLst>
          </p:cNvPr>
          <p:cNvSpPr/>
          <p:nvPr/>
        </p:nvSpPr>
        <p:spPr>
          <a:xfrm>
            <a:off x="7725808" y="1097673"/>
            <a:ext cx="870261" cy="28142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43" name="Content Placeholder 4">
            <a:extLst>
              <a:ext uri="{FF2B5EF4-FFF2-40B4-BE49-F238E27FC236}">
                <a16:creationId xmlns:a16="http://schemas.microsoft.com/office/drawing/2014/main" id="{43467297-F2C5-2575-EF34-C18EBF0F2BD1}"/>
              </a:ext>
            </a:extLst>
          </p:cNvPr>
          <p:cNvSpPr txBox="1">
            <a:spLocks/>
          </p:cNvSpPr>
          <p:nvPr/>
        </p:nvSpPr>
        <p:spPr>
          <a:xfrm>
            <a:off x="1637907" y="5613985"/>
            <a:ext cx="3904639" cy="646330"/>
          </a:xfrm>
          <a:prstGeom prst="rect">
            <a:avLst/>
          </a:prstGeom>
          <a:solidFill>
            <a:schemeClr val="accent1">
              <a:lumMod val="20000"/>
              <a:lumOff val="80000"/>
            </a:schemeClr>
          </a:solidFill>
        </p:spPr>
        <p:txBody>
          <a:bodyPr vert="horz" lIns="91440" tIns="45720" rIns="91440" bIns="45720" rtlCol="0" anchor="ctr">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spcBef>
                <a:spcPts val="0"/>
              </a:spcBef>
              <a:spcAft>
                <a:spcPts val="0"/>
              </a:spcAft>
              <a:buFont typeface="Franklin Gothic Book" panose="020B0503020102020204" pitchFamily="34" charset="0"/>
              <a:buNone/>
            </a:pPr>
            <a:endParaRPr lang="en-US" dirty="0"/>
          </a:p>
        </p:txBody>
      </p:sp>
      <p:sp>
        <p:nvSpPr>
          <p:cNvPr id="44" name="TextBox 43">
            <a:extLst>
              <a:ext uri="{FF2B5EF4-FFF2-40B4-BE49-F238E27FC236}">
                <a16:creationId xmlns:a16="http://schemas.microsoft.com/office/drawing/2014/main" id="{F2139726-5451-018D-897D-8DC4E755ABF2}"/>
              </a:ext>
            </a:extLst>
          </p:cNvPr>
          <p:cNvSpPr txBox="1"/>
          <p:nvPr/>
        </p:nvSpPr>
        <p:spPr>
          <a:xfrm>
            <a:off x="2214118" y="5752484"/>
            <a:ext cx="2778325" cy="369332"/>
          </a:xfrm>
          <a:prstGeom prst="rect">
            <a:avLst/>
          </a:prstGeom>
          <a:noFill/>
        </p:spPr>
        <p:txBody>
          <a:bodyPr wrap="none" rtlCol="0">
            <a:spAutoFit/>
          </a:bodyPr>
          <a:lstStyle/>
          <a:p>
            <a:r>
              <a:rPr lang="en-US" dirty="0">
                <a:solidFill>
                  <a:srgbClr val="3799C8"/>
                </a:solidFill>
              </a:rPr>
              <a:t>CONCEPT LEARNING LIMIT</a:t>
            </a:r>
          </a:p>
        </p:txBody>
      </p:sp>
      <p:sp>
        <p:nvSpPr>
          <p:cNvPr id="45" name="Rectangle 44">
            <a:extLst>
              <a:ext uri="{FF2B5EF4-FFF2-40B4-BE49-F238E27FC236}">
                <a16:creationId xmlns:a16="http://schemas.microsoft.com/office/drawing/2014/main" id="{7515DBD6-9D5A-155E-2479-B8430EFDAA99}"/>
              </a:ext>
            </a:extLst>
          </p:cNvPr>
          <p:cNvSpPr/>
          <p:nvPr/>
        </p:nvSpPr>
        <p:spPr>
          <a:xfrm>
            <a:off x="8617973" y="1089711"/>
            <a:ext cx="984300" cy="1762649"/>
          </a:xfrm>
          <a:prstGeom prst="rect">
            <a:avLst/>
          </a:prstGeom>
          <a:solidFill>
            <a:schemeClr val="bg2">
              <a:lumMod val="75000"/>
              <a:alpha val="5621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ranklin Gothic Book" panose="020B0503020102020204"/>
              <a:ea typeface="+mn-ea"/>
              <a:cs typeface="+mn-cs"/>
            </a:endParaRPr>
          </a:p>
        </p:txBody>
      </p:sp>
      <p:sp>
        <p:nvSpPr>
          <p:cNvPr id="3" name="Title 2">
            <a:extLst>
              <a:ext uri="{FF2B5EF4-FFF2-40B4-BE49-F238E27FC236}">
                <a16:creationId xmlns:a16="http://schemas.microsoft.com/office/drawing/2014/main" id="{81E43E23-B7B5-0DB5-CF3A-81CC11443CC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32429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41"/>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42"/>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2236</Words>
  <Application>Microsoft Macintosh PowerPoint</Application>
  <PresentationFormat>Widescreen</PresentationFormat>
  <Paragraphs>281</Paragraphs>
  <Slides>37</Slides>
  <Notes>15</Notes>
  <HiddenSlides>11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Aptos</vt:lpstr>
      <vt:lpstr>Aptos Display</vt:lpstr>
      <vt:lpstr>Arial</vt:lpstr>
      <vt:lpstr>Franklin Gothic Book</vt:lpstr>
      <vt:lpstr>Times New Roman</vt:lpstr>
      <vt:lpstr>Wingdings</vt:lpstr>
      <vt:lpstr>Office Theme</vt:lpstr>
      <vt:lpstr>Using LLMs to semantically categorize children’s productions of negation</vt:lpstr>
      <vt:lpstr>Background: Cross-linguistic corpus analysis</vt:lpstr>
      <vt:lpstr>PowerPoint Presentation</vt:lpstr>
      <vt:lpstr>PowerPoint Presentation</vt:lpstr>
      <vt:lpstr>Human coded data</vt:lpstr>
      <vt:lpstr>Inter-coder reliability – theoretical ceiling</vt:lpstr>
      <vt:lpstr>Coding pipeline</vt:lpstr>
      <vt:lpstr>Prompt v1</vt:lpstr>
      <vt:lpstr>Prompt v1</vt:lpstr>
      <vt:lpstr>Prompt v1</vt:lpstr>
      <vt:lpstr>LLM–human agreement across versions</vt:lpstr>
      <vt:lpstr>What changed: v1 → v2</vt:lpstr>
      <vt:lpstr>Prompt v2</vt:lpstr>
      <vt:lpstr>Prompt v2</vt:lpstr>
      <vt:lpstr>Prompt v2</vt:lpstr>
      <vt:lpstr>Prompt v2</vt:lpstr>
      <vt:lpstr>LLM–human agreement across versions</vt:lpstr>
      <vt:lpstr>What changed: v2 → v3</vt:lpstr>
      <vt:lpstr>Prompt v3</vt:lpstr>
      <vt:lpstr>Prompt v3</vt:lpstr>
      <vt:lpstr>Prompt v3</vt:lpstr>
      <vt:lpstr>Prompt v3</vt:lpstr>
      <vt:lpstr>Prompt v3</vt:lpstr>
      <vt:lpstr>LLM–human agreement across versions</vt:lpstr>
      <vt:lpstr>Why v2 looked so good: it was graded on its own answers</vt:lpstr>
      <vt:lpstr>References</vt:lpstr>
      <vt:lpstr>Origins of logical thought:  Two opposing views</vt:lpstr>
      <vt:lpstr>Logical negation emerges late</vt:lpstr>
      <vt:lpstr>Specific functions may imply specific meanings</vt:lpstr>
      <vt:lpstr>What makes negation hard?</vt:lpstr>
      <vt:lpstr>PowerPoint Presentation</vt:lpstr>
      <vt:lpstr>PowerPoint Presentation</vt:lpstr>
      <vt:lpstr>PowerPoint Presentation</vt:lpstr>
      <vt:lpstr>Clustered meanings could inhibit mapping NEGATION to language</vt:lpstr>
      <vt:lpstr>Clustered meanings could inhibit mapping NEGATION to language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McDermott-Hinman, Annika</dc:creator>
  <cp:lastModifiedBy>McDermott-Hinman, Annika</cp:lastModifiedBy>
  <cp:revision>5</cp:revision>
  <dcterms:created xsi:type="dcterms:W3CDTF">2026-06-23T20:25:02Z</dcterms:created>
  <dcterms:modified xsi:type="dcterms:W3CDTF">2026-06-25T21:36:58Z</dcterms:modified>
</cp:coreProperties>
</file>