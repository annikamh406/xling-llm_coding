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62"/>
  </p:notesMasterIdLst>
  <p:sldIdLst>
    <p:sldId id="256" r:id="rId3"/>
    <p:sldId id="257" r:id="rId4"/>
    <p:sldId id="471" r:id="rId5"/>
    <p:sldId id="473" r:id="rId6"/>
    <p:sldId id="519" r:id="rId7"/>
    <p:sldId id="476" r:id="rId8"/>
    <p:sldId id="474" r:id="rId9"/>
    <p:sldId id="475" r:id="rId10"/>
    <p:sldId id="502" r:id="rId11"/>
    <p:sldId id="507" r:id="rId12"/>
    <p:sldId id="505" r:id="rId13"/>
    <p:sldId id="506" r:id="rId14"/>
    <p:sldId id="508" r:id="rId15"/>
    <p:sldId id="504" r:id="rId16"/>
    <p:sldId id="503" r:id="rId17"/>
    <p:sldId id="509" r:id="rId18"/>
    <p:sldId id="486" r:id="rId19"/>
    <p:sldId id="487" r:id="rId20"/>
    <p:sldId id="488" r:id="rId21"/>
    <p:sldId id="489" r:id="rId22"/>
    <p:sldId id="490" r:id="rId23"/>
    <p:sldId id="499" r:id="rId24"/>
    <p:sldId id="513" r:id="rId25"/>
    <p:sldId id="501" r:id="rId26"/>
    <p:sldId id="511" r:id="rId27"/>
    <p:sldId id="512" r:id="rId28"/>
    <p:sldId id="521" r:id="rId29"/>
    <p:sldId id="491" r:id="rId30"/>
    <p:sldId id="520" r:id="rId31"/>
    <p:sldId id="515" r:id="rId32"/>
    <p:sldId id="516" r:id="rId33"/>
    <p:sldId id="517" r:id="rId34"/>
    <p:sldId id="518" r:id="rId35"/>
    <p:sldId id="510" r:id="rId36"/>
    <p:sldId id="477" r:id="rId37"/>
    <p:sldId id="478" r:id="rId38"/>
    <p:sldId id="479" r:id="rId39"/>
    <p:sldId id="496" r:id="rId40"/>
    <p:sldId id="493" r:id="rId41"/>
    <p:sldId id="480" r:id="rId42"/>
    <p:sldId id="481" r:id="rId43"/>
    <p:sldId id="482" r:id="rId44"/>
    <p:sldId id="483" r:id="rId45"/>
    <p:sldId id="484" r:id="rId46"/>
    <p:sldId id="497" r:id="rId47"/>
    <p:sldId id="498" r:id="rId48"/>
    <p:sldId id="494" r:id="rId49"/>
    <p:sldId id="485" r:id="rId50"/>
    <p:sldId id="419" r:id="rId51"/>
    <p:sldId id="314" r:id="rId52"/>
    <p:sldId id="332" r:id="rId53"/>
    <p:sldId id="428" r:id="rId54"/>
    <p:sldId id="291" r:id="rId55"/>
    <p:sldId id="261" r:id="rId56"/>
    <p:sldId id="409" r:id="rId57"/>
    <p:sldId id="394" r:id="rId58"/>
    <p:sldId id="415" r:id="rId59"/>
    <p:sldId id="397" r:id="rId60"/>
    <p:sldId id="467"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1"/>
    <p:restoredTop sz="86438"/>
  </p:normalViewPr>
  <p:slideViewPr>
    <p:cSldViewPr snapToGrid="0" showGuides="1">
      <p:cViewPr varScale="1">
        <p:scale>
          <a:sx n="102" d="100"/>
          <a:sy n="102" d="100"/>
        </p:scale>
        <p:origin x="192" y="232"/>
      </p:cViewPr>
      <p:guideLst>
        <p:guide orient="horz" pos="2160"/>
        <p:guide pos="3840"/>
      </p:guideLst>
    </p:cSldViewPr>
  </p:slideViewPr>
  <p:outlineViewPr>
    <p:cViewPr>
      <p:scale>
        <a:sx n="33" d="100"/>
        <a:sy n="33" d="100"/>
      </p:scale>
      <p:origin x="0" y="-7128"/>
    </p:cViewPr>
  </p:outlineViewPr>
  <p:notesTextViewPr>
    <p:cViewPr>
      <p:scale>
        <a:sx n="1" d="1"/>
        <a:sy n="1" d="1"/>
      </p:scale>
      <p:origin x="0" y="0"/>
    </p:cViewPr>
  </p:notesTextViewPr>
  <p:sorterViewPr>
    <p:cViewPr>
      <p:scale>
        <a:sx n="103" d="100"/>
        <a:sy n="103"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B5296-7E33-5C47-B673-048D955D45B2}"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1BB7C-C147-7D4C-984C-FF89F0196791}" type="slidenum">
              <a:rPr lang="en-US" smtClean="0"/>
              <a:t>‹#›</a:t>
            </a:fld>
            <a:endParaRPr lang="en-US"/>
          </a:p>
        </p:txBody>
      </p:sp>
    </p:spTree>
    <p:extLst>
      <p:ext uri="{BB962C8B-B14F-4D97-AF65-F5344CB8AC3E}">
        <p14:creationId xmlns:p14="http://schemas.microsoft.com/office/powerpoint/2010/main" val="284716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05FAE-331D-E807-8DB6-04D25679A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B9ECB-061B-DCBE-499F-F401F65C6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6633E-6513-1D86-3101-78E3CF40364A}"/>
              </a:ext>
            </a:extLst>
          </p:cNvPr>
          <p:cNvSpPr>
            <a:spLocks noGrp="1"/>
          </p:cNvSpPr>
          <p:nvPr>
            <p:ph type="body" idx="1"/>
          </p:nvPr>
        </p:nvSpPr>
        <p:spPr/>
        <p:txBody>
          <a:bodyPr/>
          <a:lstStyle/>
          <a:p>
            <a:r>
              <a:rPr lang="en-US" dirty="0"/>
              <a:t>If that’s the way no behaves in the child’s lexicon, and if those early concepts, which are more perceptual and affective, are easier, then a child might end up with a meaning space for “no” that looks something like this</a:t>
            </a:r>
          </a:p>
          <a:p>
            <a:endParaRPr lang="en-US" dirty="0"/>
          </a:p>
          <a:p>
            <a:r>
              <a:rPr lang="en-US" dirty="0"/>
              <a:t>And this is what they would have to then add logical negation to</a:t>
            </a:r>
          </a:p>
          <a:p>
            <a:endParaRPr lang="en-US" dirty="0"/>
          </a:p>
          <a:p>
            <a:r>
              <a:rPr lang="en-US" dirty="0"/>
              <a:t>Compare this to a language like </a:t>
            </a:r>
            <a:r>
              <a:rPr lang="en-US" dirty="0" err="1"/>
              <a:t>tagalog</a:t>
            </a:r>
            <a:r>
              <a:rPr lang="en-US" dirty="0"/>
              <a:t>, where each of these communicative functions is expressed by a separate word</a:t>
            </a:r>
          </a:p>
        </p:txBody>
      </p:sp>
      <p:sp>
        <p:nvSpPr>
          <p:cNvPr id="4" name="Slide Number Placeholder 3">
            <a:extLst>
              <a:ext uri="{FF2B5EF4-FFF2-40B4-BE49-F238E27FC236}">
                <a16:creationId xmlns:a16="http://schemas.microsoft.com/office/drawing/2014/main" id="{B6F14495-6678-925A-CD81-C66A7E60FC1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8526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71BB7C-C147-7D4C-984C-FF89F0196791}" type="slidenum">
              <a:rPr lang="en-US" smtClean="0"/>
              <a:t>28</a:t>
            </a:fld>
            <a:endParaRPr lang="en-US"/>
          </a:p>
        </p:txBody>
      </p:sp>
    </p:spTree>
    <p:extLst>
      <p:ext uri="{BB962C8B-B14F-4D97-AF65-F5344CB8AC3E}">
        <p14:creationId xmlns:p14="http://schemas.microsoft.com/office/powerpoint/2010/main" val="4098609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0DFA0-E88E-E3CD-D5C8-14DEED9CD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6632-B1A8-EE46-C901-11CC3C243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34009-4307-0883-053B-77052EEBC9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CDDB86-F74D-EB13-D957-04AE88DF9310}"/>
              </a:ext>
            </a:extLst>
          </p:cNvPr>
          <p:cNvSpPr>
            <a:spLocks noGrp="1"/>
          </p:cNvSpPr>
          <p:nvPr>
            <p:ph type="sldNum" sz="quarter" idx="5"/>
          </p:nvPr>
        </p:nvSpPr>
        <p:spPr/>
        <p:txBody>
          <a:bodyPr/>
          <a:lstStyle/>
          <a:p>
            <a:fld id="{0271BB7C-C147-7D4C-984C-FF89F0196791}" type="slidenum">
              <a:rPr lang="en-US" smtClean="0"/>
              <a:t>29</a:t>
            </a:fld>
            <a:endParaRPr lang="en-US"/>
          </a:p>
        </p:txBody>
      </p:sp>
    </p:spTree>
    <p:extLst>
      <p:ext uri="{BB962C8B-B14F-4D97-AF65-F5344CB8AC3E}">
        <p14:creationId xmlns:p14="http://schemas.microsoft.com/office/powerpoint/2010/main" val="362780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71BB7C-C147-7D4C-984C-FF89F0196791}" type="slidenum">
              <a:rPr lang="en-US" smtClean="0"/>
              <a:t>38</a:t>
            </a:fld>
            <a:endParaRPr lang="en-US"/>
          </a:p>
        </p:txBody>
      </p:sp>
    </p:spTree>
    <p:extLst>
      <p:ext uri="{BB962C8B-B14F-4D97-AF65-F5344CB8AC3E}">
        <p14:creationId xmlns:p14="http://schemas.microsoft.com/office/powerpoint/2010/main" val="1964897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E580-60FD-FC83-02AF-6B440022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77B49-FB12-6CC0-208A-33CFCE40D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102DC-1DF1-E50A-DA44-43C467CC7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F3DB66-E084-547B-9039-9A077AE8C1D7}"/>
              </a:ext>
            </a:extLst>
          </p:cNvPr>
          <p:cNvSpPr>
            <a:spLocks noGrp="1"/>
          </p:cNvSpPr>
          <p:nvPr>
            <p:ph type="sldNum" sz="quarter" idx="5"/>
          </p:nvPr>
        </p:nvSpPr>
        <p:spPr/>
        <p:txBody>
          <a:bodyPr/>
          <a:lstStyle/>
          <a:p>
            <a:fld id="{0271BB7C-C147-7D4C-984C-FF89F0196791}" type="slidenum">
              <a:rPr lang="en-US" smtClean="0"/>
              <a:t>39</a:t>
            </a:fld>
            <a:endParaRPr lang="en-US"/>
          </a:p>
        </p:txBody>
      </p:sp>
    </p:spTree>
    <p:extLst>
      <p:ext uri="{BB962C8B-B14F-4D97-AF65-F5344CB8AC3E}">
        <p14:creationId xmlns:p14="http://schemas.microsoft.com/office/powerpoint/2010/main" val="77032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CB84B-22B2-85E0-0481-2FDC2BD8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AB18E-3825-6C29-D5F0-761145969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6A0FF-F600-D0C1-DBC6-4CD34D2E28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C6290-CFA1-6E90-1CBB-9453C54D4E3C}"/>
              </a:ext>
            </a:extLst>
          </p:cNvPr>
          <p:cNvSpPr>
            <a:spLocks noGrp="1"/>
          </p:cNvSpPr>
          <p:nvPr>
            <p:ph type="sldNum" sz="quarter" idx="5"/>
          </p:nvPr>
        </p:nvSpPr>
        <p:spPr/>
        <p:txBody>
          <a:bodyPr/>
          <a:lstStyle/>
          <a:p>
            <a:fld id="{0271BB7C-C147-7D4C-984C-FF89F0196791}" type="slidenum">
              <a:rPr lang="en-US" smtClean="0"/>
              <a:t>47</a:t>
            </a:fld>
            <a:endParaRPr lang="en-US"/>
          </a:p>
        </p:txBody>
      </p:sp>
    </p:spTree>
    <p:extLst>
      <p:ext uri="{BB962C8B-B14F-4D97-AF65-F5344CB8AC3E}">
        <p14:creationId xmlns:p14="http://schemas.microsoft.com/office/powerpoint/2010/main" val="309107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71BB7C-C147-7D4C-984C-FF89F0196791}" type="slidenum">
              <a:rPr lang="en-US" smtClean="0"/>
              <a:t>48</a:t>
            </a:fld>
            <a:endParaRPr lang="en-US"/>
          </a:p>
        </p:txBody>
      </p:sp>
    </p:spTree>
    <p:extLst>
      <p:ext uri="{BB962C8B-B14F-4D97-AF65-F5344CB8AC3E}">
        <p14:creationId xmlns:p14="http://schemas.microsoft.com/office/powerpoint/2010/main" val="1066211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Negation as a test case</a:t>
            </a:r>
          </a:p>
          <a:p>
            <a:endParaRPr lang="en-US" dirty="0"/>
          </a:p>
          <a:p>
            <a:pPr>
              <a:buFont typeface="Wingdings" pitchFamily="2" charset="2"/>
              <a:buChar char="Ø"/>
            </a:pPr>
            <a:r>
              <a:rPr lang="en-US" sz="1200" dirty="0"/>
              <a:t>Logical content</a:t>
            </a:r>
          </a:p>
          <a:p>
            <a:pPr>
              <a:buFont typeface="Wingdings" pitchFamily="2" charset="2"/>
              <a:buChar char="Ø"/>
            </a:pPr>
            <a:r>
              <a:rPr lang="en-US" sz="1200" dirty="0"/>
              <a:t>Abstract, compositional meaning</a:t>
            </a:r>
          </a:p>
          <a:p>
            <a:pPr>
              <a:buFont typeface="Wingdings" pitchFamily="2" charset="2"/>
              <a:buChar char="Ø"/>
            </a:pPr>
            <a:r>
              <a:rPr lang="en-US" sz="1200" dirty="0"/>
              <a:t>Empirically, it seems hard to learn!</a:t>
            </a:r>
          </a:p>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49</a:t>
            </a:fld>
            <a:endParaRPr lang="en-US"/>
          </a:p>
        </p:txBody>
      </p:sp>
    </p:spTree>
    <p:extLst>
      <p:ext uri="{BB962C8B-B14F-4D97-AF65-F5344CB8AC3E}">
        <p14:creationId xmlns:p14="http://schemas.microsoft.com/office/powerpoint/2010/main" val="1124447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reason that negation is a good case study is that it seems to be hard– children don’t produce “no” to mean denial, nor understand “no” or “not” to mean denial, until after their second birthday (according to much of the existing body of work)</a:t>
            </a:r>
          </a:p>
          <a:p>
            <a:endParaRPr lang="en-US" dirty="0"/>
          </a:p>
          <a:p>
            <a:endParaRPr lang="en-US" dirty="0"/>
          </a:p>
          <a:p>
            <a:r>
              <a:rPr lang="en-US" dirty="0"/>
              <a:t>One reason to think these are separate concepts is that kids express them long before denial; another reason is that they’re separate words in </a:t>
            </a:r>
            <a:r>
              <a:rPr lang="en-US" dirty="0" err="1"/>
              <a:t>tagalog</a:t>
            </a:r>
            <a:endParaRPr lang="en-US" dirty="0"/>
          </a:p>
          <a:p>
            <a:endParaRPr lang="en-US" dirty="0"/>
          </a:p>
          <a:p>
            <a:endParaRPr lang="en-US" dirty="0"/>
          </a:p>
          <a:p>
            <a:r>
              <a:rPr lang="en-US" dirty="0"/>
              <a:t>Reasons to think early negation might be function-specific</a:t>
            </a:r>
          </a:p>
          <a:p>
            <a:pPr marL="171450" indent="-171450">
              <a:buFontTx/>
              <a:buChar char="-"/>
            </a:pPr>
            <a:r>
              <a:rPr lang="en-US" dirty="0"/>
              <a:t>They use it specifically, according to some accounts</a:t>
            </a:r>
          </a:p>
          <a:p>
            <a:pPr marL="171450" indent="-171450">
              <a:buFontTx/>
              <a:buChar char="-"/>
            </a:pPr>
            <a:r>
              <a:rPr lang="en-US" dirty="0"/>
              <a:t>They fail comprehension tasks until later</a:t>
            </a:r>
          </a:p>
          <a:p>
            <a:pPr marL="171450" indent="-171450">
              <a:buFontTx/>
              <a:buChar char="-"/>
            </a:pPr>
            <a:r>
              <a:rPr lang="en-US" dirty="0"/>
              <a:t>They hear no as a one-word rejection/prohibition, and it’s easier to identify in those contexts (</a:t>
            </a:r>
            <a:r>
              <a:rPr lang="en-US" dirty="0" err="1"/>
              <a:t>hsp</a:t>
            </a:r>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4672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is not ‘no must have the meaning rejection’, it’s ‘children likely hypothesize that no means rejection’</a:t>
            </a:r>
          </a:p>
          <a:p>
            <a:r>
              <a:rPr lang="en-US" dirty="0"/>
              <a:t>And further, that this hypothesis is likely in English, but not Tagalog</a:t>
            </a:r>
          </a:p>
        </p:txBody>
      </p:sp>
      <p:sp>
        <p:nvSpPr>
          <p:cNvPr id="4" name="Slide Number Placeholder 3"/>
          <p:cNvSpPr>
            <a:spLocks noGrp="1"/>
          </p:cNvSpPr>
          <p:nvPr>
            <p:ph type="sldNum" sz="quarter" idx="5"/>
          </p:nvPr>
        </p:nvSpPr>
        <p:spPr/>
        <p:txBody>
          <a:bodyPr/>
          <a:lstStyle/>
          <a:p>
            <a:fld id="{19302342-D82F-B746-8A55-FE9F04EC56A1}" type="slidenum">
              <a:rPr lang="en-US" smtClean="0"/>
              <a:t>51</a:t>
            </a:fld>
            <a:endParaRPr lang="en-US"/>
          </a:p>
        </p:txBody>
      </p:sp>
    </p:spTree>
    <p:extLst>
      <p:ext uri="{BB962C8B-B14F-4D97-AF65-F5344CB8AC3E}">
        <p14:creationId xmlns:p14="http://schemas.microsoft.com/office/powerpoint/2010/main" val="1021465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D6295-9B90-E254-F2B0-07CFF9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B9503-5840-0667-B126-1F2899CFC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D3A57-3EF5-6297-4749-312F7823A219}"/>
              </a:ext>
            </a:extLst>
          </p:cNvPr>
          <p:cNvSpPr>
            <a:spLocks noGrp="1"/>
          </p:cNvSpPr>
          <p:nvPr>
            <p:ph type="body" idx="1"/>
          </p:nvPr>
        </p:nvSpPr>
        <p:spPr/>
        <p:txBody>
          <a:bodyPr/>
          <a:lstStyle/>
          <a:p>
            <a:r>
              <a:rPr lang="en-US" dirty="0"/>
              <a:t>Does the concept </a:t>
            </a:r>
            <a:r>
              <a:rPr lang="en-US" dirty="0" err="1"/>
              <a:t>preced</a:t>
            </a:r>
            <a:r>
              <a:rPr lang="en-US" dirty="0"/>
              <a:t> the language, or does the language precede the concept?</a:t>
            </a:r>
          </a:p>
        </p:txBody>
      </p:sp>
      <p:sp>
        <p:nvSpPr>
          <p:cNvPr id="4" name="Slide Number Placeholder 3">
            <a:extLst>
              <a:ext uri="{FF2B5EF4-FFF2-40B4-BE49-F238E27FC236}">
                <a16:creationId xmlns:a16="http://schemas.microsoft.com/office/drawing/2014/main" id="{060C5A8F-F6CA-AC0E-D13A-EC199FAA4959}"/>
              </a:ext>
            </a:extLst>
          </p:cNvPr>
          <p:cNvSpPr>
            <a:spLocks noGrp="1"/>
          </p:cNvSpPr>
          <p:nvPr>
            <p:ph type="sldNum" sz="quarter" idx="5"/>
          </p:nvPr>
        </p:nvSpPr>
        <p:spPr/>
        <p:txBody>
          <a:bodyPr/>
          <a:lstStyle/>
          <a:p>
            <a:fld id="{19302342-D82F-B746-8A55-FE9F04EC56A1}" type="slidenum">
              <a:rPr lang="en-US" smtClean="0"/>
              <a:t>52</a:t>
            </a:fld>
            <a:endParaRPr lang="en-US"/>
          </a:p>
        </p:txBody>
      </p:sp>
    </p:spTree>
    <p:extLst>
      <p:ext uri="{BB962C8B-B14F-4D97-AF65-F5344CB8AC3E}">
        <p14:creationId xmlns:p14="http://schemas.microsoft.com/office/powerpoint/2010/main" val="457147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Our argument is that this clustering of meanings might scaffold the process of concept acquisition, if that is what’s happening</a:t>
            </a:r>
          </a:p>
          <a:p>
            <a:endParaRPr lang="en-US" dirty="0"/>
          </a:p>
          <a:p>
            <a:r>
              <a:rPr lang="en-US" dirty="0"/>
              <a:t>So that could look something like a child noticing a sort of analogy: want has the same relationship to reject as allowed has to prohibited, and as exists has to nonexistence; then, they might abstract away from those specific concepts to discover that any proposition P and it’s negation are also in that same relation. To be very clear, this is not a mechanistically spelled out story, this is merely a way to give you an intuition for what this hypothesis might look like. This proposal has been made several times in the literature, and nobody has given a mechanistic account of how it might happen</a:t>
            </a:r>
          </a:p>
          <a:p>
            <a:endParaRPr lang="en-US" dirty="0"/>
          </a:p>
          <a:p>
            <a:r>
              <a:rPr lang="en-US" dirty="0"/>
              <a:t>The point is though that even without a mechanistic account, this class of proposals makes specific empirical predictions that we can test. In particular, it makes the following prediction:</a:t>
            </a:r>
          </a:p>
        </p:txBody>
      </p:sp>
      <p:sp>
        <p:nvSpPr>
          <p:cNvPr id="4" name="Slide Number Placeholder 3"/>
          <p:cNvSpPr>
            <a:spLocks noGrp="1"/>
          </p:cNvSpPr>
          <p:nvPr>
            <p:ph type="sldNum" sz="quarter" idx="5"/>
          </p:nvPr>
        </p:nvSpPr>
        <p:spPr/>
        <p:txBody>
          <a:bodyPr/>
          <a:lstStyle/>
          <a:p>
            <a:fld id="{19302342-D82F-B746-8A55-FE9F04EC56A1}" type="slidenum">
              <a:rPr lang="en-US" smtClean="0"/>
              <a:t>53</a:t>
            </a:fld>
            <a:endParaRPr lang="en-US"/>
          </a:p>
        </p:txBody>
      </p:sp>
    </p:spTree>
    <p:extLst>
      <p:ext uri="{BB962C8B-B14F-4D97-AF65-F5344CB8AC3E}">
        <p14:creationId xmlns:p14="http://schemas.microsoft.com/office/powerpoint/2010/main" val="2092766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In English, all of these specific negative concepts are expressed by a single word, “no”, and so the word ”no” offers a child a convenient pointer to just the concepts they need to be paying attention to in the process of learning negation. In contrast, in Tagalog each of these meanings is expressed by a different word, and so children learning Tagalog don’t get the same leg up in learning the concept negation</a:t>
            </a:r>
          </a:p>
        </p:txBody>
      </p:sp>
      <p:sp>
        <p:nvSpPr>
          <p:cNvPr id="4" name="Slide Number Placeholder 3"/>
          <p:cNvSpPr>
            <a:spLocks noGrp="1"/>
          </p:cNvSpPr>
          <p:nvPr>
            <p:ph type="sldNum" sz="quarter" idx="5"/>
          </p:nvPr>
        </p:nvSpPr>
        <p:spPr/>
        <p:txBody>
          <a:bodyPr/>
          <a:lstStyle/>
          <a:p>
            <a:fld id="{19302342-D82F-B746-8A55-FE9F04EC56A1}" type="slidenum">
              <a:rPr lang="en-US" smtClean="0"/>
              <a:t>54</a:t>
            </a:fld>
            <a:endParaRPr lang="en-US"/>
          </a:p>
        </p:txBody>
      </p:sp>
    </p:spTree>
    <p:extLst>
      <p:ext uri="{BB962C8B-B14F-4D97-AF65-F5344CB8AC3E}">
        <p14:creationId xmlns:p14="http://schemas.microsoft.com/office/powerpoint/2010/main" val="981902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EEC4-04C7-5A54-504C-0B586B6BC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AF2D9-B2BE-82D7-9854-0679AC57B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23E74-0D42-1B0F-77B7-899537975D04}"/>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p>
          <a:p>
            <a:pPr marL="342900" marR="0" lvl="0" indent="-342900">
              <a:spcBef>
                <a:spcPts val="0"/>
              </a:spcBef>
              <a:spcAft>
                <a:spcPts val="0"/>
              </a:spcAft>
              <a:buFont typeface="Times New Roman" panose="02020603050405020304" pitchFamily="18" charset="0"/>
              <a:buChar char="-"/>
            </a:pPr>
            <a:r>
              <a:rPr lang="en-US" sz="1200" b="0" i="0" kern="1200" dirty="0">
                <a:solidFill>
                  <a:schemeClr val="tx1"/>
                </a:solidFill>
                <a:effectLst/>
                <a:latin typeface="+mn-lt"/>
                <a:ea typeface="+mn-ea"/>
                <a:cs typeface="+mn-cs"/>
              </a:rPr>
              <a:t>not can be used to express r, p,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but it must do so compositionally--</a:t>
            </a:r>
            <a:r>
              <a:rPr lang="en-US" sz="1200" b="0" i="0" kern="1200" dirty="0" err="1">
                <a:solidFill>
                  <a:schemeClr val="tx1"/>
                </a:solidFill>
                <a:effectLst/>
                <a:latin typeface="+mn-lt"/>
                <a:ea typeface="+mn-ea"/>
                <a:cs typeface="+mn-cs"/>
              </a:rPr>
              <a:t>ie</a:t>
            </a:r>
            <a:r>
              <a:rPr lang="en-US" sz="1200" b="0" i="0" kern="1200" dirty="0">
                <a:solidFill>
                  <a:schemeClr val="tx1"/>
                </a:solidFill>
                <a:effectLst/>
                <a:latin typeface="+mn-lt"/>
                <a:ea typeface="+mn-ea"/>
                <a:cs typeface="+mn-cs"/>
              </a:rPr>
              <a:t> by composing with want to express rejections-- this makes it less likely that not is mapped to a specific concept of rejection, etc.</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41F286E-E8E2-8EA2-268A-F257AC7D58B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2566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56</a:t>
            </a:fld>
            <a:endParaRPr lang="en-US"/>
          </a:p>
        </p:txBody>
      </p:sp>
    </p:spTree>
    <p:extLst>
      <p:ext uri="{BB962C8B-B14F-4D97-AF65-F5344CB8AC3E}">
        <p14:creationId xmlns:p14="http://schemas.microsoft.com/office/powerpoint/2010/main" val="2329757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442F-CBC2-D131-510B-D93CEDB5B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83119-8147-4A4A-D63B-FDEB25F20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ADC49-8D23-D49D-B37D-B33C98E93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F0602B-15FF-2880-8FE7-92D1D70D814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9988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A8AD-1E50-E3BE-D764-604495C61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BB1BB-084F-955E-550F-EB1897583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8AAFC-1564-3730-82CB-452B60CAE0F3}"/>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B070D4A4-8F89-0484-ADD6-D17F9DEABF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4486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27FF-5A4E-4554-9647-F9B92212C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C80A4-B47E-1313-0AD5-86855E769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1129A-6AC7-26D7-D230-F4D90FA17F27}"/>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085C9D2-EC3F-BAF8-49D4-EFBEA20731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8978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96ED-0547-1397-D65A-76E1F4A550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801D02-2D54-898A-A063-74AB57CA37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A042A1-EE54-E327-8D7E-63C56055AAA3}"/>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3958B081-3050-58F8-AFA5-6129CB79A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25E87-857C-1FFA-E99E-2A24E54F1750}"/>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4365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356C-EE7C-68A6-6C66-FB28B61B4D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EA0325-EA19-53A0-CAF6-BDF150640E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DA1AB6-C988-FE77-03E2-E41D0EF0E351}"/>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AE0887B7-276A-08A3-3F61-B4A8DBEED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F24C2-48D4-51CD-C06A-01AD78A840FB}"/>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711078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651A-673A-74CC-BD60-96BDFDCE31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A723C4-BFF2-5B2C-927A-4A306EABFE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A623CC-79C8-2A1A-9E62-24079CFD34AE}"/>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071C572E-FDA0-0AF8-E9D6-7404223C24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05DDC-EB5E-6D1D-4864-B69789A9BF6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3833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91F8-CC60-5E0E-1A9A-71397F0F8D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37D252-AB5D-68E0-C6B6-6425A66562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87E39-E4B9-C5CD-72F9-97FE59915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154F3B-BE38-DDA4-9241-8E5ED60E2F06}"/>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a:extLst>
              <a:ext uri="{FF2B5EF4-FFF2-40B4-BE49-F238E27FC236}">
                <a16:creationId xmlns:a16="http://schemas.microsoft.com/office/drawing/2014/main" id="{A833EA60-8E74-C19C-2A7A-34A86D7879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387140-54B1-94DA-FFDF-A76EDE57144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88216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AC93-D3C4-D878-AC44-2747562475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AFB80-B1EC-9E82-5614-7BB70BFDCE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81C482-0308-3281-295E-A3E963EA1B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50DDA7-F144-0C09-4E09-A6FC6D4ABC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56FCA-921B-A935-A241-0E28C3D0A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13E8E8-90FE-B61F-3AC2-EDB7338FDF66}"/>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8" name="Footer Placeholder 7">
            <a:extLst>
              <a:ext uri="{FF2B5EF4-FFF2-40B4-BE49-F238E27FC236}">
                <a16:creationId xmlns:a16="http://schemas.microsoft.com/office/drawing/2014/main" id="{CF8A08EF-C2C1-00E0-2249-0403E6F666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0918C6-AE8B-CC33-102F-5E49B56C0F9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4609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D89D-7707-8686-A8BD-49E24DC9EC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75BA78-65A3-D90B-A96E-E6E1582B3DFD}"/>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4" name="Footer Placeholder 3">
            <a:extLst>
              <a:ext uri="{FF2B5EF4-FFF2-40B4-BE49-F238E27FC236}">
                <a16:creationId xmlns:a16="http://schemas.microsoft.com/office/drawing/2014/main" id="{51D7AAC8-8065-F1AF-E6F8-4E382C99C1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481449-A801-D5C9-729E-0CF9F1A5C2D2}"/>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0917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A7215E-3CF9-0B01-351C-4D483DC346F7}"/>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3" name="Footer Placeholder 2">
            <a:extLst>
              <a:ext uri="{FF2B5EF4-FFF2-40B4-BE49-F238E27FC236}">
                <a16:creationId xmlns:a16="http://schemas.microsoft.com/office/drawing/2014/main" id="{8E42D518-636A-6665-0E7A-1AE398C888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A7BEBB-4FC8-13C2-1584-05075190F12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59538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AEFFB-0217-6EB4-7EB7-A5E3034322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CC07D9-329F-19AA-1F2C-97B3EA1B42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B65A64-B747-4057-9711-043D7FB06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782D0-34C2-117D-E295-9883BDAD2673}"/>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a:extLst>
              <a:ext uri="{FF2B5EF4-FFF2-40B4-BE49-F238E27FC236}">
                <a16:creationId xmlns:a16="http://schemas.microsoft.com/office/drawing/2014/main" id="{5955BF6F-0844-11C4-179B-3427F9B5AA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365EBF-E66D-3292-B671-4C5D8E953C06}"/>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581742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B1BE-D34D-F95D-2CF8-AEC45A600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C13DF3-D770-4513-E069-5B3F12BA1D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1B6897-8157-8695-BE39-D1EC2165A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28D6C4-2C6E-38A4-EAD7-AAA48460476A}"/>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a:extLst>
              <a:ext uri="{FF2B5EF4-FFF2-40B4-BE49-F238E27FC236}">
                <a16:creationId xmlns:a16="http://schemas.microsoft.com/office/drawing/2014/main" id="{E99D329E-CB82-9522-1D51-2606669A6C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D2BB2C-F75F-4AFB-FB72-4C3C1FA1EC9C}"/>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50731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2A1DC-BA7A-57EF-4306-49D6B009D6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0B629-09DF-C3EE-00B1-61A73A901E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7AB0AB-7D88-65EB-AD0E-B55135FEC8D8}"/>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15B8F3B7-B4AB-FAAB-517E-A002A2FF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D259C-DEDE-F7C8-4C5F-A2386723A453}"/>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66462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80BE55-A368-34C7-8588-ECAAE60A2B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EF658A-C85F-B2D6-AAFD-B1888FF237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D4FC2-4C50-89E4-AB62-EB422CB87F81}"/>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274988C9-3FBA-EE70-03C0-9264878EC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EF1D1-803F-62B1-AC6F-06310AA19EAE}"/>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0079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03625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669406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434829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784737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E51D5E-D8B5-794A-B1D0-EF01185CB4A7}" type="datetimeFigureOut">
              <a:rPr lang="en-US" smtClean="0"/>
              <a:t>7/7/26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545391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E51D5E-D8B5-794A-B1D0-EF01185CB4A7}" type="datetimeFigureOut">
              <a:rPr lang="en-US" smtClean="0"/>
              <a:t>7/7/26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28850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E51D5E-D8B5-794A-B1D0-EF01185CB4A7}" type="datetimeFigureOut">
              <a:rPr lang="en-US" smtClean="0"/>
              <a:t>7/7/26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420660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519045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7427469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504859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8944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09C69-A874-64A9-845B-185FC3EB6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D691A-DCF4-E1C9-1E6C-5B9472435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B88F63-4A66-A62A-EDC8-8735FBD07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31D43CDD-7E2F-B5B7-438B-D613B8C9C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CB2873-8876-5B79-787B-9B27210C9D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572DB2-6813-A349-9FBC-83F6FB486039}" type="slidenum">
              <a:rPr lang="en-US" smtClean="0"/>
              <a:t>‹#›</a:t>
            </a:fld>
            <a:endParaRPr lang="en-US"/>
          </a:p>
        </p:txBody>
      </p:sp>
    </p:spTree>
    <p:extLst>
      <p:ext uri="{BB962C8B-B14F-4D97-AF65-F5344CB8AC3E}">
        <p14:creationId xmlns:p14="http://schemas.microsoft.com/office/powerpoint/2010/main" val="3762896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3DE51D5E-D8B5-794A-B1D0-EF01185CB4A7}" type="datetimeFigureOut">
              <a:rPr lang="en-US" smtClean="0"/>
              <a:t>7/7/26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C2572DB2-6813-A349-9FBC-83F6FB486039}" type="slidenum">
              <a:rPr lang="en-US" smtClean="0"/>
              <a:t>‹#›</a:t>
            </a:fld>
            <a:endParaRPr lang="en-US"/>
          </a:p>
        </p:txBody>
      </p:sp>
    </p:spTree>
    <p:extLst>
      <p:ext uri="{BB962C8B-B14F-4D97-AF65-F5344CB8AC3E}">
        <p14:creationId xmlns:p14="http://schemas.microsoft.com/office/powerpoint/2010/main" val="205034119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3F87-F71C-3F5A-DC4D-846C327940F5}"/>
              </a:ext>
            </a:extLst>
          </p:cNvPr>
          <p:cNvSpPr>
            <a:spLocks noGrp="1"/>
          </p:cNvSpPr>
          <p:nvPr>
            <p:ph type="ctrTitle"/>
          </p:nvPr>
        </p:nvSpPr>
        <p:spPr>
          <a:xfrm>
            <a:off x="1524000" y="1122362"/>
            <a:ext cx="9144000" cy="3271838"/>
          </a:xfrm>
        </p:spPr>
        <p:txBody>
          <a:bodyPr>
            <a:normAutofit/>
          </a:bodyPr>
          <a:lstStyle/>
          <a:p>
            <a:r>
              <a:rPr lang="en-US" dirty="0"/>
              <a:t>Using LLMs to semantically categorize children’s productions of negation</a:t>
            </a:r>
          </a:p>
        </p:txBody>
      </p:sp>
      <p:sp>
        <p:nvSpPr>
          <p:cNvPr id="3" name="Subtitle 2">
            <a:extLst>
              <a:ext uri="{FF2B5EF4-FFF2-40B4-BE49-F238E27FC236}">
                <a16:creationId xmlns:a16="http://schemas.microsoft.com/office/drawing/2014/main" id="{59A651F7-B65A-2856-6DF4-E2ECB68B24CD}"/>
              </a:ext>
            </a:extLst>
          </p:cNvPr>
          <p:cNvSpPr>
            <a:spLocks noGrp="1"/>
          </p:cNvSpPr>
          <p:nvPr>
            <p:ph type="subTitle" idx="1"/>
          </p:nvPr>
        </p:nvSpPr>
        <p:spPr>
          <a:xfrm>
            <a:off x="1524000" y="4660900"/>
            <a:ext cx="9144000" cy="596900"/>
          </a:xfrm>
        </p:spPr>
        <p:txBody>
          <a:bodyPr>
            <a:normAutofit/>
          </a:bodyPr>
          <a:lstStyle/>
          <a:p>
            <a:r>
              <a:rPr lang="en-US" dirty="0"/>
              <a:t>Solar Lab, July 7</a:t>
            </a:r>
            <a:r>
              <a:rPr lang="en-US" baseline="30000" dirty="0"/>
              <a:t>th</a:t>
            </a:r>
            <a:r>
              <a:rPr lang="en-US" dirty="0"/>
              <a:t>, 2026</a:t>
            </a:r>
          </a:p>
        </p:txBody>
      </p:sp>
    </p:spTree>
    <p:extLst>
      <p:ext uri="{BB962C8B-B14F-4D97-AF65-F5344CB8AC3E}">
        <p14:creationId xmlns:p14="http://schemas.microsoft.com/office/powerpoint/2010/main" val="1643562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C2EA6-8310-C8D4-1DEC-6C53FFA46E78}"/>
              </a:ext>
            </a:extLst>
          </p:cNvPr>
          <p:cNvSpPr>
            <a:spLocks noGrp="1"/>
          </p:cNvSpPr>
          <p:nvPr>
            <p:ph type="title"/>
          </p:nvPr>
        </p:nvSpPr>
        <p:spPr>
          <a:xfrm>
            <a:off x="838200" y="69396"/>
            <a:ext cx="10515600" cy="1325563"/>
          </a:xfrm>
        </p:spPr>
        <p:txBody>
          <a:bodyPr/>
          <a:lstStyle/>
          <a:p>
            <a:r>
              <a:rPr lang="en-US" dirty="0"/>
              <a:t>Background: Cross-linguistic corpus analysis</a:t>
            </a:r>
          </a:p>
        </p:txBody>
      </p:sp>
      <p:sp>
        <p:nvSpPr>
          <p:cNvPr id="4" name="TextBox 3">
            <a:extLst>
              <a:ext uri="{FF2B5EF4-FFF2-40B4-BE49-F238E27FC236}">
                <a16:creationId xmlns:a16="http://schemas.microsoft.com/office/drawing/2014/main" id="{B93B3C3C-ACC3-CD71-A628-26872923FA6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5" name="Straight Arrow Connector 4">
            <a:extLst>
              <a:ext uri="{FF2B5EF4-FFF2-40B4-BE49-F238E27FC236}">
                <a16:creationId xmlns:a16="http://schemas.microsoft.com/office/drawing/2014/main" id="{27550855-0DA9-6E1A-62F1-70F69EEF416E}"/>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49B7700-A000-D738-C1E7-0B8E1BD03BD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7" name="TextBox 6">
            <a:extLst>
              <a:ext uri="{FF2B5EF4-FFF2-40B4-BE49-F238E27FC236}">
                <a16:creationId xmlns:a16="http://schemas.microsoft.com/office/drawing/2014/main" id="{20EBF43D-D6A5-0073-F9F2-048D3E1863D4}"/>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8" name="TextBox 7">
            <a:extLst>
              <a:ext uri="{FF2B5EF4-FFF2-40B4-BE49-F238E27FC236}">
                <a16:creationId xmlns:a16="http://schemas.microsoft.com/office/drawing/2014/main" id="{BA8DD488-9B97-212C-B392-D0AC6D760F6A}"/>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9" name="Straight Connector 8">
            <a:extLst>
              <a:ext uri="{FF2B5EF4-FFF2-40B4-BE49-F238E27FC236}">
                <a16:creationId xmlns:a16="http://schemas.microsoft.com/office/drawing/2014/main" id="{70C7B270-4A18-6C74-2F88-614BC45438A5}"/>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5BA3C3A-D1C7-67C4-DCE5-FCF1F49AE9B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11" name="Straight Connector 10">
            <a:extLst>
              <a:ext uri="{FF2B5EF4-FFF2-40B4-BE49-F238E27FC236}">
                <a16:creationId xmlns:a16="http://schemas.microsoft.com/office/drawing/2014/main" id="{0B35E52F-8A0F-A03F-BD87-AFDF42855B8E}"/>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E69A87-6032-A743-C079-56DBA3D9910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0D602A9-5C64-EE6F-31B5-8FAD1D992FCB}"/>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14" name="TextBox 13">
            <a:extLst>
              <a:ext uri="{FF2B5EF4-FFF2-40B4-BE49-F238E27FC236}">
                <a16:creationId xmlns:a16="http://schemas.microsoft.com/office/drawing/2014/main" id="{6B9A5EC1-8C32-6459-9EB9-DCD1827B95BC}"/>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15" name="Rectangle 14">
            <a:extLst>
              <a:ext uri="{FF2B5EF4-FFF2-40B4-BE49-F238E27FC236}">
                <a16:creationId xmlns:a16="http://schemas.microsoft.com/office/drawing/2014/main" id="{2A20A873-9802-3E47-A392-F7A2FEDA2327}"/>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6" descr="Broccoli Clipart Images - Free Download on Freepik">
            <a:extLst>
              <a:ext uri="{FF2B5EF4-FFF2-40B4-BE49-F238E27FC236}">
                <a16:creationId xmlns:a16="http://schemas.microsoft.com/office/drawing/2014/main" id="{5D8D5148-58E3-D365-1BEE-E6E7DD99E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976" y="3874719"/>
            <a:ext cx="1180736" cy="10464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2B36838B-C007-584C-7FFE-20149451ED74}"/>
              </a:ext>
            </a:extLst>
          </p:cNvPr>
          <p:cNvPicPr>
            <a:picLocks noChangeAspect="1"/>
          </p:cNvPicPr>
          <p:nvPr/>
        </p:nvPicPr>
        <p:blipFill>
          <a:blip r:embed="rId3"/>
          <a:stretch>
            <a:fillRect/>
          </a:stretch>
        </p:blipFill>
        <p:spPr>
          <a:xfrm>
            <a:off x="2382672" y="5134495"/>
            <a:ext cx="1326314" cy="1326314"/>
          </a:xfrm>
          <a:prstGeom prst="rect">
            <a:avLst/>
          </a:prstGeom>
        </p:spPr>
      </p:pic>
    </p:spTree>
    <p:extLst>
      <p:ext uri="{BB962C8B-B14F-4D97-AF65-F5344CB8AC3E}">
        <p14:creationId xmlns:p14="http://schemas.microsoft.com/office/powerpoint/2010/main" val="34952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3" grpId="0"/>
      <p:bldP spid="14" grpId="0"/>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4535-70AE-F012-20AC-C31FB31AAF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2F92A2-58AA-D9F6-9176-B4DBF7EF263D}"/>
              </a:ext>
            </a:extLst>
          </p:cNvPr>
          <p:cNvSpPr txBox="1"/>
          <p:nvPr/>
        </p:nvSpPr>
        <p:spPr>
          <a:xfrm>
            <a:off x="3849189" y="1446511"/>
            <a:ext cx="966931"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pic>
        <p:nvPicPr>
          <p:cNvPr id="8" name="Picture 7">
            <a:extLst>
              <a:ext uri="{FF2B5EF4-FFF2-40B4-BE49-F238E27FC236}">
                <a16:creationId xmlns:a16="http://schemas.microsoft.com/office/drawing/2014/main" id="{A7857F7F-C5EE-A39D-B6C1-D4844FEBC404}"/>
              </a:ext>
            </a:extLst>
          </p:cNvPr>
          <p:cNvPicPr>
            <a:picLocks noChangeAspect="1"/>
          </p:cNvPicPr>
          <p:nvPr/>
        </p:nvPicPr>
        <p:blipFill>
          <a:blip r:embed="rId3"/>
          <a:stretch>
            <a:fillRect/>
          </a:stretch>
        </p:blipFill>
        <p:spPr>
          <a:xfrm>
            <a:off x="833027" y="4165170"/>
            <a:ext cx="1326314" cy="1326314"/>
          </a:xfrm>
          <a:prstGeom prst="rect">
            <a:avLst/>
          </a:prstGeom>
        </p:spPr>
      </p:pic>
      <p:sp>
        <p:nvSpPr>
          <p:cNvPr id="9" name="Oval Callout 8">
            <a:extLst>
              <a:ext uri="{FF2B5EF4-FFF2-40B4-BE49-F238E27FC236}">
                <a16:creationId xmlns:a16="http://schemas.microsoft.com/office/drawing/2014/main" id="{04EA6BCD-756F-337C-2177-DB63B5C1962A}"/>
              </a:ext>
            </a:extLst>
          </p:cNvPr>
          <p:cNvSpPr/>
          <p:nvPr/>
        </p:nvSpPr>
        <p:spPr>
          <a:xfrm>
            <a:off x="3191495" y="4606866"/>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10" name="Cloud Callout 9">
            <a:extLst>
              <a:ext uri="{FF2B5EF4-FFF2-40B4-BE49-F238E27FC236}">
                <a16:creationId xmlns:a16="http://schemas.microsoft.com/office/drawing/2014/main" id="{AEA12350-E56C-2F7C-0741-1B692B2A8596}"/>
              </a:ext>
            </a:extLst>
          </p:cNvPr>
          <p:cNvSpPr/>
          <p:nvPr/>
        </p:nvSpPr>
        <p:spPr>
          <a:xfrm>
            <a:off x="215934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11" name="TextBox 10">
            <a:extLst>
              <a:ext uri="{FF2B5EF4-FFF2-40B4-BE49-F238E27FC236}">
                <a16:creationId xmlns:a16="http://schemas.microsoft.com/office/drawing/2014/main" id="{35891039-C23E-8217-45E6-B0FD170430D6}"/>
              </a:ext>
            </a:extLst>
          </p:cNvPr>
          <p:cNvSpPr txBox="1"/>
          <p:nvPr/>
        </p:nvSpPr>
        <p:spPr>
          <a:xfrm>
            <a:off x="248818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13" name="Straight Arrow Connector 12">
            <a:extLst>
              <a:ext uri="{FF2B5EF4-FFF2-40B4-BE49-F238E27FC236}">
                <a16:creationId xmlns:a16="http://schemas.microsoft.com/office/drawing/2014/main" id="{1823BD6B-7E03-D6D5-ECBA-8003ADC3581F}"/>
              </a:ext>
            </a:extLst>
          </p:cNvPr>
          <p:cNvCxnSpPr>
            <a:cxnSpLocks/>
            <a:stCxn id="11" idx="2"/>
          </p:cNvCxnSpPr>
          <p:nvPr/>
        </p:nvCxnSpPr>
        <p:spPr>
          <a:xfrm>
            <a:off x="3060613" y="3264095"/>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CEC959-BE20-50B9-AF07-2A0B13C5C675}"/>
              </a:ext>
            </a:extLst>
          </p:cNvPr>
          <p:cNvSpPr txBox="1"/>
          <p:nvPr/>
        </p:nvSpPr>
        <p:spPr>
          <a:xfrm>
            <a:off x="318673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17" name="TextBox 16">
            <a:extLst>
              <a:ext uri="{FF2B5EF4-FFF2-40B4-BE49-F238E27FC236}">
                <a16:creationId xmlns:a16="http://schemas.microsoft.com/office/drawing/2014/main" id="{18A9001E-681D-CBA3-C125-A8CBA1C8141E}"/>
              </a:ext>
            </a:extLst>
          </p:cNvPr>
          <p:cNvSpPr txBox="1"/>
          <p:nvPr/>
        </p:nvSpPr>
        <p:spPr>
          <a:xfrm>
            <a:off x="407104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20" name="Straight Arrow Connector 19">
            <a:extLst>
              <a:ext uri="{FF2B5EF4-FFF2-40B4-BE49-F238E27FC236}">
                <a16:creationId xmlns:a16="http://schemas.microsoft.com/office/drawing/2014/main" id="{E4DADE0A-5DF1-2532-F37B-5397F3FD836B}"/>
              </a:ext>
            </a:extLst>
          </p:cNvPr>
          <p:cNvCxnSpPr>
            <a:cxnSpLocks/>
            <a:stCxn id="14" idx="2"/>
          </p:cNvCxnSpPr>
          <p:nvPr/>
        </p:nvCxnSpPr>
        <p:spPr>
          <a:xfrm>
            <a:off x="3849189" y="3567124"/>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1C5851C-DF01-F31E-DC5B-E854B5F73456}"/>
              </a:ext>
            </a:extLst>
          </p:cNvPr>
          <p:cNvCxnSpPr>
            <a:cxnSpLocks/>
            <a:stCxn id="17" idx="2"/>
          </p:cNvCxnSpPr>
          <p:nvPr/>
        </p:nvCxnSpPr>
        <p:spPr>
          <a:xfrm flipH="1">
            <a:off x="4048057" y="3134788"/>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6FDB06D-08FB-0F4C-4884-14A35AF86F39}"/>
              </a:ext>
            </a:extLst>
          </p:cNvPr>
          <p:cNvSpPr txBox="1"/>
          <p:nvPr/>
        </p:nvSpPr>
        <p:spPr>
          <a:xfrm>
            <a:off x="501426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25" name="TextBox 24">
            <a:extLst>
              <a:ext uri="{FF2B5EF4-FFF2-40B4-BE49-F238E27FC236}">
                <a16:creationId xmlns:a16="http://schemas.microsoft.com/office/drawing/2014/main" id="{F634EF41-9745-8FFD-5757-973367C10058}"/>
              </a:ext>
            </a:extLst>
          </p:cNvPr>
          <p:cNvSpPr txBox="1"/>
          <p:nvPr/>
        </p:nvSpPr>
        <p:spPr>
          <a:xfrm>
            <a:off x="8951649" y="1446511"/>
            <a:ext cx="101091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26" name="Oval Callout 25">
            <a:extLst>
              <a:ext uri="{FF2B5EF4-FFF2-40B4-BE49-F238E27FC236}">
                <a16:creationId xmlns:a16="http://schemas.microsoft.com/office/drawing/2014/main" id="{DF86DF81-A65F-0059-E55C-D603F2663588}"/>
              </a:ext>
            </a:extLst>
          </p:cNvPr>
          <p:cNvSpPr/>
          <p:nvPr/>
        </p:nvSpPr>
        <p:spPr>
          <a:xfrm>
            <a:off x="7539397" y="4659093"/>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7" name="Cloud Callout 26">
            <a:extLst>
              <a:ext uri="{FF2B5EF4-FFF2-40B4-BE49-F238E27FC236}">
                <a16:creationId xmlns:a16="http://schemas.microsoft.com/office/drawing/2014/main" id="{FACC6385-0BA3-77FD-7B35-57BA1068DAA7}"/>
              </a:ext>
            </a:extLst>
          </p:cNvPr>
          <p:cNvSpPr/>
          <p:nvPr/>
        </p:nvSpPr>
        <p:spPr>
          <a:xfrm>
            <a:off x="726180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8" name="TextBox 27">
            <a:extLst>
              <a:ext uri="{FF2B5EF4-FFF2-40B4-BE49-F238E27FC236}">
                <a16:creationId xmlns:a16="http://schemas.microsoft.com/office/drawing/2014/main" id="{EC964A83-A9F6-CE95-74B2-5402606AB77F}"/>
              </a:ext>
            </a:extLst>
          </p:cNvPr>
          <p:cNvSpPr txBox="1"/>
          <p:nvPr/>
        </p:nvSpPr>
        <p:spPr>
          <a:xfrm>
            <a:off x="759064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sp>
        <p:nvSpPr>
          <p:cNvPr id="29" name="TextBox 28">
            <a:extLst>
              <a:ext uri="{FF2B5EF4-FFF2-40B4-BE49-F238E27FC236}">
                <a16:creationId xmlns:a16="http://schemas.microsoft.com/office/drawing/2014/main" id="{01FD7931-B79A-5A07-5BDA-85BDB09EA433}"/>
              </a:ext>
            </a:extLst>
          </p:cNvPr>
          <p:cNvSpPr txBox="1"/>
          <p:nvPr/>
        </p:nvSpPr>
        <p:spPr>
          <a:xfrm>
            <a:off x="828919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1" name="TextBox 30">
            <a:extLst>
              <a:ext uri="{FF2B5EF4-FFF2-40B4-BE49-F238E27FC236}">
                <a16:creationId xmlns:a16="http://schemas.microsoft.com/office/drawing/2014/main" id="{248B86BA-5953-E9AB-53BA-11EE39D19AF3}"/>
              </a:ext>
            </a:extLst>
          </p:cNvPr>
          <p:cNvSpPr txBox="1"/>
          <p:nvPr/>
        </p:nvSpPr>
        <p:spPr>
          <a:xfrm>
            <a:off x="917350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sp>
        <p:nvSpPr>
          <p:cNvPr id="32" name="TextBox 31">
            <a:extLst>
              <a:ext uri="{FF2B5EF4-FFF2-40B4-BE49-F238E27FC236}">
                <a16:creationId xmlns:a16="http://schemas.microsoft.com/office/drawing/2014/main" id="{5D94196C-4ABD-4F28-788D-21DDC8302DE5}"/>
              </a:ext>
            </a:extLst>
          </p:cNvPr>
          <p:cNvSpPr txBox="1"/>
          <p:nvPr/>
        </p:nvSpPr>
        <p:spPr>
          <a:xfrm>
            <a:off x="1011672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33" name="TextBox 32">
            <a:extLst>
              <a:ext uri="{FF2B5EF4-FFF2-40B4-BE49-F238E27FC236}">
                <a16:creationId xmlns:a16="http://schemas.microsoft.com/office/drawing/2014/main" id="{3A3DBAD6-7EF6-1B1D-3A09-960744E6CE3E}"/>
              </a:ext>
            </a:extLst>
          </p:cNvPr>
          <p:cNvSpPr txBox="1"/>
          <p:nvPr/>
        </p:nvSpPr>
        <p:spPr>
          <a:xfrm>
            <a:off x="7813773" y="4962122"/>
            <a:ext cx="3600666"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ayaw</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huwag</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wala</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hindi</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cxnSp>
        <p:nvCxnSpPr>
          <p:cNvPr id="34" name="Straight Arrow Connector 33">
            <a:extLst>
              <a:ext uri="{FF2B5EF4-FFF2-40B4-BE49-F238E27FC236}">
                <a16:creationId xmlns:a16="http://schemas.microsoft.com/office/drawing/2014/main" id="{5F2162C5-EA34-6DA7-0AEE-F9D47B0452D0}"/>
              </a:ext>
            </a:extLst>
          </p:cNvPr>
          <p:cNvCxnSpPr>
            <a:cxnSpLocks/>
          </p:cNvCxnSpPr>
          <p:nvPr/>
        </p:nvCxnSpPr>
        <p:spPr>
          <a:xfrm>
            <a:off x="8133242" y="3297253"/>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F1E175B-0088-43A4-C19C-683866FFD7D6}"/>
              </a:ext>
            </a:extLst>
          </p:cNvPr>
          <p:cNvCxnSpPr>
            <a:cxnSpLocks/>
          </p:cNvCxnSpPr>
          <p:nvPr/>
        </p:nvCxnSpPr>
        <p:spPr>
          <a:xfrm>
            <a:off x="8951649" y="3508815"/>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5779C89-5A40-734C-0481-7F48E0E7DF63}"/>
              </a:ext>
            </a:extLst>
          </p:cNvPr>
          <p:cNvCxnSpPr>
            <a:cxnSpLocks/>
          </p:cNvCxnSpPr>
          <p:nvPr/>
        </p:nvCxnSpPr>
        <p:spPr>
          <a:xfrm>
            <a:off x="9935785" y="3141210"/>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58937D4-7C6A-C3E0-5501-B726007A2992}"/>
              </a:ext>
            </a:extLst>
          </p:cNvPr>
          <p:cNvCxnSpPr>
            <a:cxnSpLocks/>
          </p:cNvCxnSpPr>
          <p:nvPr/>
        </p:nvCxnSpPr>
        <p:spPr>
          <a:xfrm>
            <a:off x="10685265" y="3567124"/>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C30F62F2-F457-E776-9E53-D74EEB56B06F}"/>
              </a:ext>
            </a:extLst>
          </p:cNvPr>
          <p:cNvCxnSpPr>
            <a:cxnSpLocks/>
            <a:stCxn id="23" idx="2"/>
          </p:cNvCxnSpPr>
          <p:nvPr/>
        </p:nvCxnSpPr>
        <p:spPr>
          <a:xfrm flipH="1">
            <a:off x="4071046" y="3587325"/>
            <a:ext cx="1481959" cy="134163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20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EEE623-DDC9-4607-2E0A-A456836204B4}"/>
              </a:ext>
            </a:extLst>
          </p:cNvPr>
          <p:cNvSpPr txBox="1">
            <a:spLocks/>
          </p:cNvSpPr>
          <p:nvPr/>
        </p:nvSpPr>
        <p:spPr>
          <a:xfrm>
            <a:off x="838200" y="220936"/>
            <a:ext cx="9601200" cy="1485900"/>
          </a:xfrm>
          <a:prstGeom prst="rect">
            <a:avLst/>
          </a:prstGeom>
          <a:ln>
            <a:solidFill>
              <a:schemeClr val="bg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 classification</a:t>
            </a:r>
          </a:p>
        </p:txBody>
      </p:sp>
      <p:graphicFrame>
        <p:nvGraphicFramePr>
          <p:cNvPr id="5" name="Content Placeholder 5">
            <a:extLst>
              <a:ext uri="{FF2B5EF4-FFF2-40B4-BE49-F238E27FC236}">
                <a16:creationId xmlns:a16="http://schemas.microsoft.com/office/drawing/2014/main" id="{19E1BA0E-5F0D-35CE-D343-9F0E056E6772}"/>
              </a:ext>
            </a:extLst>
          </p:cNvPr>
          <p:cNvGraphicFramePr>
            <a:graphicFrameLocks/>
          </p:cNvGraphicFramePr>
          <p:nvPr>
            <p:extLst>
              <p:ext uri="{D42A27DB-BD31-4B8C-83A1-F6EECF244321}">
                <p14:modId xmlns:p14="http://schemas.microsoft.com/office/powerpoint/2010/main" val="3658957625"/>
              </p:ext>
            </p:extLst>
          </p:nvPr>
        </p:nvGraphicFramePr>
        <p:xfrm>
          <a:off x="3537175" y="1428750"/>
          <a:ext cx="5355772" cy="4183841"/>
        </p:xfrm>
        <a:graphic>
          <a:graphicData uri="http://schemas.openxmlformats.org/drawingml/2006/table">
            <a:tbl>
              <a:tblPr firstRow="1" bandRow="1">
                <a:tableStyleId>{5C22544A-7EE6-4342-B048-85BDC9FD1C3A}</a:tableStyleId>
              </a:tblPr>
              <a:tblGrid>
                <a:gridCol w="1608536">
                  <a:extLst>
                    <a:ext uri="{9D8B030D-6E8A-4147-A177-3AD203B41FA5}">
                      <a16:colId xmlns:a16="http://schemas.microsoft.com/office/drawing/2014/main" val="2050137776"/>
                    </a:ext>
                  </a:extLst>
                </a:gridCol>
                <a:gridCol w="3747236">
                  <a:extLst>
                    <a:ext uri="{9D8B030D-6E8A-4147-A177-3AD203B41FA5}">
                      <a16:colId xmlns:a16="http://schemas.microsoft.com/office/drawing/2014/main" val="510998999"/>
                    </a:ext>
                  </a:extLst>
                </a:gridCol>
              </a:tblGrid>
              <a:tr h="688666">
                <a:tc>
                  <a:txBody>
                    <a:bodyPr/>
                    <a:lstStyle/>
                    <a:p>
                      <a:pPr algn="ctr"/>
                      <a:r>
                        <a:rPr lang="en-US" dirty="0"/>
                        <a:t>Bloom (1970)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184507356"/>
                  </a:ext>
                </a:extLst>
              </a:tr>
              <a:tr h="1136349">
                <a:tc>
                  <a:txBody>
                    <a:bodyPr/>
                    <a:lstStyle/>
                    <a:p>
                      <a:pPr algn="ctr"/>
                      <a:r>
                        <a:rPr lang="en-US" dirty="0"/>
                        <a:t>Rejection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“Do you want broccoli?” 	“No!”</a:t>
                      </a:r>
                    </a:p>
                    <a:p>
                      <a:r>
                        <a:rPr lang="en-US" sz="1800" dirty="0"/>
                        <a:t>“I don’t want broccoli”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792020"/>
                  </a:ext>
                </a:extLst>
              </a:tr>
              <a:tr h="1169970">
                <a:tc>
                  <a:txBody>
                    <a:bodyPr/>
                    <a:lstStyle/>
                    <a:p>
                      <a:pPr algn="ctr"/>
                      <a:r>
                        <a:rPr lang="en-US" dirty="0"/>
                        <a:t>Nonexistence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”There’s no juice”</a:t>
                      </a:r>
                    </a:p>
                    <a:p>
                      <a:r>
                        <a:rPr lang="en-US" sz="1800" dirty="0"/>
                        <a:t>“Mommy doesn’t have any juice”</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4709833"/>
                  </a:ext>
                </a:extLst>
              </a:tr>
              <a:tr h="1188856">
                <a:tc>
                  <a:txBody>
                    <a:bodyPr/>
                    <a:lstStyle/>
                    <a:p>
                      <a:pPr algn="ctr"/>
                      <a:r>
                        <a:rPr lang="en-US" dirty="0"/>
                        <a:t>Denial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“That’s not fire”</a:t>
                      </a:r>
                    </a:p>
                    <a:p>
                      <a:r>
                        <a:rPr lang="en-US" sz="1800" dirty="0"/>
                        <a:t>“I can’t drink water”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3773523"/>
                  </a:ext>
                </a:extLst>
              </a:tr>
            </a:tbl>
          </a:graphicData>
        </a:graphic>
      </p:graphicFrame>
      <p:sp>
        <p:nvSpPr>
          <p:cNvPr id="6" name="Rectangle 5">
            <a:extLst>
              <a:ext uri="{FF2B5EF4-FFF2-40B4-BE49-F238E27FC236}">
                <a16:creationId xmlns:a16="http://schemas.microsoft.com/office/drawing/2014/main" id="{130772D2-E229-B729-1B17-29E88CEE63B9}"/>
              </a:ext>
            </a:extLst>
          </p:cNvPr>
          <p:cNvSpPr/>
          <p:nvPr/>
        </p:nvSpPr>
        <p:spPr>
          <a:xfrm>
            <a:off x="5191127" y="2221707"/>
            <a:ext cx="3495673"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2846D33-16F4-F145-31CC-3BBF60C9094C}"/>
              </a:ext>
            </a:extLst>
          </p:cNvPr>
          <p:cNvSpPr/>
          <p:nvPr/>
        </p:nvSpPr>
        <p:spPr>
          <a:xfrm>
            <a:off x="5191128" y="3291029"/>
            <a:ext cx="3495672"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BF5AAC2-D6AC-6DF7-FA2F-18C1C372157A}"/>
              </a:ext>
            </a:extLst>
          </p:cNvPr>
          <p:cNvSpPr/>
          <p:nvPr/>
        </p:nvSpPr>
        <p:spPr>
          <a:xfrm>
            <a:off x="5191127" y="4546631"/>
            <a:ext cx="3495673" cy="882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BED8268-0F47-7947-01EC-74FB1F620ACF}"/>
              </a:ext>
            </a:extLst>
          </p:cNvPr>
          <p:cNvSpPr txBox="1"/>
          <p:nvPr/>
        </p:nvSpPr>
        <p:spPr>
          <a:xfrm>
            <a:off x="2546428" y="5850170"/>
            <a:ext cx="7337267" cy="707886"/>
          </a:xfrm>
          <a:prstGeom prst="rect">
            <a:avLst/>
          </a:prstGeom>
          <a:noFill/>
          <a:ln w="28575">
            <a:solidFill>
              <a:schemeClr val="tx2"/>
            </a:solidFill>
          </a:ln>
        </p:spPr>
        <p:txBody>
          <a:bodyPr wrap="square" rtlCol="0">
            <a:spAutoFit/>
          </a:bodyPr>
          <a:lstStyle/>
          <a:p>
            <a:pPr algn="ctr"/>
            <a:r>
              <a:rPr lang="en-US" sz="2000" b="1" dirty="0"/>
              <a:t>Do expressions of Denial emerge earlier in a language like English or a language like Tagalog?</a:t>
            </a:r>
          </a:p>
        </p:txBody>
      </p:sp>
      <p:sp>
        <p:nvSpPr>
          <p:cNvPr id="10" name="TextBox 9">
            <a:extLst>
              <a:ext uri="{FF2B5EF4-FFF2-40B4-BE49-F238E27FC236}">
                <a16:creationId xmlns:a16="http://schemas.microsoft.com/office/drawing/2014/main" id="{BE50CDCF-13A1-517A-854A-43B2536D97B7}"/>
              </a:ext>
            </a:extLst>
          </p:cNvPr>
          <p:cNvSpPr txBox="1"/>
          <p:nvPr/>
        </p:nvSpPr>
        <p:spPr>
          <a:xfrm>
            <a:off x="970995" y="4778447"/>
            <a:ext cx="1950289" cy="707886"/>
          </a:xfrm>
          <a:prstGeom prst="rect">
            <a:avLst/>
          </a:prstGeom>
          <a:noFill/>
        </p:spPr>
        <p:txBody>
          <a:bodyPr wrap="square" rtlCol="0">
            <a:spAutoFit/>
          </a:bodyPr>
          <a:lstStyle/>
          <a:p>
            <a:r>
              <a:rPr lang="en-US" sz="2000" dirty="0"/>
              <a:t>Proxy for logical negation</a:t>
            </a:r>
          </a:p>
        </p:txBody>
      </p:sp>
      <p:cxnSp>
        <p:nvCxnSpPr>
          <p:cNvPr id="11" name="Straight Arrow Connector 10">
            <a:extLst>
              <a:ext uri="{FF2B5EF4-FFF2-40B4-BE49-F238E27FC236}">
                <a16:creationId xmlns:a16="http://schemas.microsoft.com/office/drawing/2014/main" id="{7F66BF09-7E7B-1D02-6E8D-30EBFABDD56A}"/>
              </a:ext>
            </a:extLst>
          </p:cNvPr>
          <p:cNvCxnSpPr>
            <a:cxnSpLocks/>
          </p:cNvCxnSpPr>
          <p:nvPr/>
        </p:nvCxnSpPr>
        <p:spPr>
          <a:xfrm>
            <a:off x="2830265" y="5030721"/>
            <a:ext cx="669191" cy="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AE3D592D-8BEA-B6EC-9E64-99D30B7A798D}"/>
              </a:ext>
            </a:extLst>
          </p:cNvPr>
          <p:cNvSpPr/>
          <p:nvPr/>
        </p:nvSpPr>
        <p:spPr>
          <a:xfrm>
            <a:off x="3499456" y="4538299"/>
            <a:ext cx="5632163" cy="948034"/>
          </a:xfrm>
          <a:prstGeom prst="roundRect">
            <a:avLst>
              <a:gd name="adj" fmla="val 50000"/>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889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7816A-1C7F-3DBF-0099-D3A14BBADEA0}"/>
              </a:ext>
            </a:extLst>
          </p:cNvPr>
          <p:cNvSpPr>
            <a:spLocks noGrp="1"/>
          </p:cNvSpPr>
          <p:nvPr>
            <p:ph idx="1"/>
          </p:nvPr>
        </p:nvSpPr>
        <p:spPr/>
        <p:txBody>
          <a:bodyPr/>
          <a:lstStyle/>
          <a:p>
            <a:endParaRPr lang="en-US"/>
          </a:p>
        </p:txBody>
      </p:sp>
      <p:sp>
        <p:nvSpPr>
          <p:cNvPr id="4" name="Title 1">
            <a:extLst>
              <a:ext uri="{FF2B5EF4-FFF2-40B4-BE49-F238E27FC236}">
                <a16:creationId xmlns:a16="http://schemas.microsoft.com/office/drawing/2014/main" id="{95E89F7D-BDB7-418D-FE2C-43D59D819F6E}"/>
              </a:ext>
            </a:extLst>
          </p:cNvPr>
          <p:cNvSpPr txBox="1">
            <a:spLocks/>
          </p:cNvSpPr>
          <p:nvPr/>
        </p:nvSpPr>
        <p:spPr>
          <a:xfrm>
            <a:off x="114300" y="-409398"/>
            <a:ext cx="9601200" cy="1485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Results (Human coders)</a:t>
            </a:r>
          </a:p>
        </p:txBody>
      </p:sp>
      <p:pic>
        <p:nvPicPr>
          <p:cNvPr id="5" name="Picture 4">
            <a:extLst>
              <a:ext uri="{FF2B5EF4-FFF2-40B4-BE49-F238E27FC236}">
                <a16:creationId xmlns:a16="http://schemas.microsoft.com/office/drawing/2014/main" id="{ABC17730-EFA7-6C2A-F5A4-2ED3B3D18FFB}"/>
              </a:ext>
            </a:extLst>
          </p:cNvPr>
          <p:cNvPicPr>
            <a:picLocks noChangeAspect="1"/>
          </p:cNvPicPr>
          <p:nvPr/>
        </p:nvPicPr>
        <p:blipFill>
          <a:blip r:embed="rId2"/>
          <a:srcRect l="78291" t="12057" r="2801" b="24056"/>
          <a:stretch>
            <a:fillRect/>
          </a:stretch>
        </p:blipFill>
        <p:spPr>
          <a:xfrm>
            <a:off x="1219200" y="1595650"/>
            <a:ext cx="2266950" cy="4962100"/>
          </a:xfrm>
          <a:prstGeom prst="rect">
            <a:avLst/>
          </a:prstGeom>
        </p:spPr>
      </p:pic>
      <p:pic>
        <p:nvPicPr>
          <p:cNvPr id="6" name="Picture 5">
            <a:extLst>
              <a:ext uri="{FF2B5EF4-FFF2-40B4-BE49-F238E27FC236}">
                <a16:creationId xmlns:a16="http://schemas.microsoft.com/office/drawing/2014/main" id="{748CCAD7-B02F-27D7-B55A-7B4C23FE641C}"/>
              </a:ext>
            </a:extLst>
          </p:cNvPr>
          <p:cNvPicPr>
            <a:picLocks noChangeAspect="1"/>
          </p:cNvPicPr>
          <p:nvPr/>
        </p:nvPicPr>
        <p:blipFill>
          <a:blip r:embed="rId3"/>
          <a:srcRect t="538" r="20845" b="538"/>
          <a:stretch>
            <a:fillRect/>
          </a:stretch>
        </p:blipFill>
        <p:spPr>
          <a:xfrm>
            <a:off x="4090014" y="685800"/>
            <a:ext cx="7361167" cy="6132997"/>
          </a:xfrm>
          <a:prstGeom prst="rect">
            <a:avLst/>
          </a:prstGeom>
        </p:spPr>
      </p:pic>
      <p:sp>
        <p:nvSpPr>
          <p:cNvPr id="7" name="Rectangle 6">
            <a:extLst>
              <a:ext uri="{FF2B5EF4-FFF2-40B4-BE49-F238E27FC236}">
                <a16:creationId xmlns:a16="http://schemas.microsoft.com/office/drawing/2014/main" id="{C533F383-47A4-52FB-AC34-19FBDEAF46B0}"/>
              </a:ext>
            </a:extLst>
          </p:cNvPr>
          <p:cNvSpPr/>
          <p:nvPr/>
        </p:nvSpPr>
        <p:spPr>
          <a:xfrm>
            <a:off x="5223164" y="1192645"/>
            <a:ext cx="6511636" cy="4814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16F375A-8D45-C83A-9CCB-92FB0B9F4618}"/>
              </a:ext>
            </a:extLst>
          </p:cNvPr>
          <p:cNvSpPr/>
          <p:nvPr/>
        </p:nvSpPr>
        <p:spPr>
          <a:xfrm>
            <a:off x="9017000" y="1076502"/>
            <a:ext cx="2336800" cy="4930598"/>
          </a:xfrm>
          <a:prstGeom prst="rect">
            <a:avLst/>
          </a:prstGeom>
          <a:solidFill>
            <a:schemeClr val="bg2">
              <a:lumMod val="50000"/>
              <a:alpha val="5337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785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pipeline</a:t>
            </a:r>
          </a:p>
        </p:txBody>
      </p:sp>
      <p:sp>
        <p:nvSpPr>
          <p:cNvPr id="10" name="Box 10"/>
          <p:cNvSpPr/>
          <p:nvPr/>
        </p:nvSpPr>
        <p:spPr>
          <a:xfrm>
            <a:off x="99814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1695138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3FC9EE-38D4-1706-3EC9-80CCC890B58D}"/>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353354" y="0"/>
            <a:ext cx="11485291" cy="6176963"/>
          </a:xfrm>
          <a:prstGeom prst="rect">
            <a:avLst/>
          </a:prstGeom>
        </p:spPr>
      </p:pic>
      <p:sp>
        <p:nvSpPr>
          <p:cNvPr id="5" name="Title 4">
            <a:extLst>
              <a:ext uri="{FF2B5EF4-FFF2-40B4-BE49-F238E27FC236}">
                <a16:creationId xmlns:a16="http://schemas.microsoft.com/office/drawing/2014/main" id="{EAC5CDFE-85D4-2078-5DC4-41A80FB070E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91618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591-2671-1D8B-63DB-1E33A6B16DB4}"/>
              </a:ext>
            </a:extLst>
          </p:cNvPr>
          <p:cNvSpPr>
            <a:spLocks noGrp="1"/>
          </p:cNvSpPr>
          <p:nvPr>
            <p:ph type="title"/>
          </p:nvPr>
        </p:nvSpPr>
        <p:spPr>
          <a:xfrm>
            <a:off x="838200" y="-286600"/>
            <a:ext cx="10515600" cy="1325563"/>
          </a:xfrm>
        </p:spPr>
        <p:txBody>
          <a:bodyPr/>
          <a:lstStyle/>
          <a:p>
            <a:r>
              <a:rPr lang="en-US" dirty="0"/>
              <a:t>Inter-coder reliability – theoretical ceiling</a:t>
            </a:r>
          </a:p>
        </p:txBody>
      </p:sp>
      <p:sp>
        <p:nvSpPr>
          <p:cNvPr id="3" name="Content Placeholder 2">
            <a:extLst>
              <a:ext uri="{FF2B5EF4-FFF2-40B4-BE49-F238E27FC236}">
                <a16:creationId xmlns:a16="http://schemas.microsoft.com/office/drawing/2014/main" id="{0D0B234E-6BD6-3532-442C-D803EB79A492}"/>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2190205" y="782319"/>
            <a:ext cx="7811589" cy="6075681"/>
          </a:xfrm>
          <a:prstGeom prst="rect">
            <a:avLst/>
          </a:prstGeom>
        </p:spPr>
      </p:pic>
    </p:spTree>
    <p:extLst>
      <p:ext uri="{BB962C8B-B14F-4D97-AF65-F5344CB8AC3E}">
        <p14:creationId xmlns:p14="http://schemas.microsoft.com/office/powerpoint/2010/main" val="3428225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591-2671-1D8B-63DB-1E33A6B16DB4}"/>
              </a:ext>
            </a:extLst>
          </p:cNvPr>
          <p:cNvSpPr>
            <a:spLocks noGrp="1"/>
          </p:cNvSpPr>
          <p:nvPr>
            <p:ph type="title"/>
          </p:nvPr>
        </p:nvSpPr>
        <p:spPr>
          <a:xfrm>
            <a:off x="838200" y="-286600"/>
            <a:ext cx="10515600" cy="1325563"/>
          </a:xfrm>
        </p:spPr>
        <p:txBody>
          <a:bodyPr/>
          <a:lstStyle/>
          <a:p>
            <a:r>
              <a:rPr lang="en-US" dirty="0"/>
              <a:t>Inter-coder reliability – Denial agreement</a:t>
            </a:r>
          </a:p>
        </p:txBody>
      </p:sp>
      <p:sp>
        <p:nvSpPr>
          <p:cNvPr id="3" name="Content Placeholder 2">
            <a:extLst>
              <a:ext uri="{FF2B5EF4-FFF2-40B4-BE49-F238E27FC236}">
                <a16:creationId xmlns:a16="http://schemas.microsoft.com/office/drawing/2014/main" id="{0D0B234E-6BD6-3532-442C-D803EB79A492}"/>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2262258" y="681037"/>
            <a:ext cx="7667483" cy="5963598"/>
          </a:xfrm>
          <a:prstGeom prst="rect">
            <a:avLst/>
          </a:prstGeom>
        </p:spPr>
      </p:pic>
    </p:spTree>
    <p:extLst>
      <p:ext uri="{BB962C8B-B14F-4D97-AF65-F5344CB8AC3E}">
        <p14:creationId xmlns:p14="http://schemas.microsoft.com/office/powerpoint/2010/main" val="3428225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0E6E8-870B-1F18-63E1-BC3F5651F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C4359-244F-54E0-E8A5-E50FA795EC64}"/>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A6467742-5E3E-A5B4-E2AA-AAE0FE7DA980}"/>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8AAD6F78-88CE-88EA-AC8C-4586D14BE808}"/>
              </a:ext>
            </a:extLst>
          </p:cNvPr>
          <p:cNvSpPr/>
          <p:nvPr/>
        </p:nvSpPr>
        <p:spPr>
          <a:xfrm>
            <a:off x="456438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A3CDD46B-6236-E6D5-9EAE-91491BFC2D9B}"/>
              </a:ext>
            </a:extLst>
          </p:cNvPr>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5BF456DC-2521-7886-CFC7-B11364756418}"/>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6F649755-787B-D786-64BF-82EFDD9D2EF3}"/>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B128A60A-2862-085A-A0CA-01E505025EEE}"/>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99264F9E-52C3-B05B-0C07-740A06EB2FBA}"/>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145DC38A-7608-F56A-E87D-31B12916334D}"/>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66E8014-F727-A501-A502-6CFFCD68B7F5}"/>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DA404D90-07C8-391F-EEDC-AFEA30BA8400}"/>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BB85673B-7E9A-BBF3-8B19-7045FC8B844B}"/>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2AD9EE43-1887-5A5D-E7E8-3C3BA737C669}"/>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C2DEF551-5602-C534-8639-654CBC8CD4C3}"/>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1899184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F323D-CBB2-CB0B-93BB-02876A3461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7D8A42-3C8A-DC1A-E6F8-25EDBB2A0C15}"/>
              </a:ext>
            </a:extLst>
          </p:cNvPr>
          <p:cNvSpPr>
            <a:spLocks noGrp="1"/>
          </p:cNvSpPr>
          <p:nvPr>
            <p:ph idx="1"/>
          </p:nvPr>
        </p:nvSpPr>
        <p:spPr/>
        <p:txBody>
          <a:bodyPr>
            <a:normAutofit/>
          </a:bodyPr>
          <a:lstStyle/>
          <a:p>
            <a:pPr marL="0" indent="0">
              <a:buNone/>
            </a:pPr>
            <a:endParaRPr lang="en-US" dirty="0"/>
          </a:p>
        </p:txBody>
      </p:sp>
      <p:pic>
        <p:nvPicPr>
          <p:cNvPr id="4" name="Picture 3">
            <a:extLst>
              <a:ext uri="{FF2B5EF4-FFF2-40B4-BE49-F238E27FC236}">
                <a16:creationId xmlns:a16="http://schemas.microsoft.com/office/drawing/2014/main" id="{CD589390-EBBD-03F5-E627-9DDCB3F9E79A}"/>
              </a:ext>
            </a:extLst>
          </p:cNvPr>
          <p:cNvPicPr>
            <a:picLocks noChangeAspect="1"/>
          </p:cNvPicPr>
          <p:nvPr/>
        </p:nvPicPr>
        <p:blipFill>
          <a:blip r:embed="rId2"/>
          <a:srcRect t="1" b="69499"/>
          <a:stretch>
            <a:fillRect/>
          </a:stretch>
        </p:blipFill>
        <p:spPr>
          <a:xfrm>
            <a:off x="23746" y="123497"/>
            <a:ext cx="12166432" cy="3156236"/>
          </a:xfrm>
          <a:prstGeom prst="rect">
            <a:avLst/>
          </a:prstGeom>
        </p:spPr>
      </p:pic>
      <p:pic>
        <p:nvPicPr>
          <p:cNvPr id="5" name="Picture 4">
            <a:extLst>
              <a:ext uri="{FF2B5EF4-FFF2-40B4-BE49-F238E27FC236}">
                <a16:creationId xmlns:a16="http://schemas.microsoft.com/office/drawing/2014/main" id="{7A8F82B1-CAB3-A7E5-5C55-8C48BE652F6E}"/>
              </a:ext>
            </a:extLst>
          </p:cNvPr>
          <p:cNvPicPr>
            <a:picLocks noChangeAspect="1"/>
          </p:cNvPicPr>
          <p:nvPr/>
        </p:nvPicPr>
        <p:blipFill>
          <a:blip r:embed="rId2"/>
          <a:srcRect t="54684" b="17319"/>
          <a:stretch>
            <a:fillRect/>
          </a:stretch>
        </p:blipFill>
        <p:spPr>
          <a:xfrm>
            <a:off x="0" y="3654010"/>
            <a:ext cx="12166432" cy="2897230"/>
          </a:xfrm>
          <a:prstGeom prst="rect">
            <a:avLst/>
          </a:prstGeom>
        </p:spPr>
      </p:pic>
      <p:sp>
        <p:nvSpPr>
          <p:cNvPr id="6" name="TextBox 5">
            <a:extLst>
              <a:ext uri="{FF2B5EF4-FFF2-40B4-BE49-F238E27FC236}">
                <a16:creationId xmlns:a16="http://schemas.microsoft.com/office/drawing/2014/main" id="{3B8807CB-912E-0B07-7CA5-AF5CB5A7ACCF}"/>
              </a:ext>
            </a:extLst>
          </p:cNvPr>
          <p:cNvSpPr txBox="1"/>
          <p:nvPr/>
        </p:nvSpPr>
        <p:spPr>
          <a:xfrm>
            <a:off x="2793228" y="2640379"/>
            <a:ext cx="970137" cy="1200329"/>
          </a:xfrm>
          <a:prstGeom prst="rect">
            <a:avLst/>
          </a:prstGeom>
          <a:noFill/>
        </p:spPr>
        <p:txBody>
          <a:bodyPr wrap="none" rtlCol="0">
            <a:spAutoFit/>
          </a:bodyPr>
          <a:lstStyle/>
          <a:p>
            <a:r>
              <a:rPr lang="en-US" sz="7200" b="1" dirty="0"/>
              <a:t>…</a:t>
            </a:r>
          </a:p>
        </p:txBody>
      </p:sp>
      <p:sp>
        <p:nvSpPr>
          <p:cNvPr id="7" name="TextBox 6">
            <a:extLst>
              <a:ext uri="{FF2B5EF4-FFF2-40B4-BE49-F238E27FC236}">
                <a16:creationId xmlns:a16="http://schemas.microsoft.com/office/drawing/2014/main" id="{3FB537C6-39A8-7051-6C58-7768E0CAF6FB}"/>
              </a:ext>
            </a:extLst>
          </p:cNvPr>
          <p:cNvSpPr txBox="1"/>
          <p:nvPr/>
        </p:nvSpPr>
        <p:spPr>
          <a:xfrm>
            <a:off x="2793227" y="5892710"/>
            <a:ext cx="970137" cy="1200329"/>
          </a:xfrm>
          <a:prstGeom prst="rect">
            <a:avLst/>
          </a:prstGeom>
          <a:noFill/>
        </p:spPr>
        <p:txBody>
          <a:bodyPr wrap="none" rtlCol="0">
            <a:spAutoFit/>
          </a:bodyPr>
          <a:lstStyle/>
          <a:p>
            <a:r>
              <a:rPr lang="en-US" sz="7200" b="1" dirty="0"/>
              <a:t>…</a:t>
            </a:r>
          </a:p>
        </p:txBody>
      </p:sp>
    </p:spTree>
    <p:extLst>
      <p:ext uri="{BB962C8B-B14F-4D97-AF65-F5344CB8AC3E}">
        <p14:creationId xmlns:p14="http://schemas.microsoft.com/office/powerpoint/2010/main" val="11535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2AB5E-9CDB-4D41-6177-C190642855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EB756F-11F4-E96C-AC24-AFE68737840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3376941-7D7A-301C-8186-CCF2B8F5BBFE}"/>
              </a:ext>
            </a:extLst>
          </p:cNvPr>
          <p:cNvPicPr>
            <a:picLocks noChangeAspect="1"/>
          </p:cNvPicPr>
          <p:nvPr/>
        </p:nvPicPr>
        <p:blipFill>
          <a:blip r:embed="rId2"/>
          <a:srcRect t="1" b="-4466"/>
          <a:stretch>
            <a:fillRect/>
          </a:stretch>
        </p:blipFill>
        <p:spPr>
          <a:xfrm>
            <a:off x="2081533" y="0"/>
            <a:ext cx="8028934" cy="7134049"/>
          </a:xfrm>
          <a:prstGeom prst="rect">
            <a:avLst/>
          </a:prstGeom>
        </p:spPr>
      </p:pic>
    </p:spTree>
    <p:extLst>
      <p:ext uri="{BB962C8B-B14F-4D97-AF65-F5344CB8AC3E}">
        <p14:creationId xmlns:p14="http://schemas.microsoft.com/office/powerpoint/2010/main" val="2684371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3230A-9F4E-EBE0-B04B-4E00874C1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A20AC-7F65-59EE-F423-DA5318ED333B}"/>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81E8834B-3017-F84B-9361-F6C8ECFE8188}"/>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9C26BE4D-2756-6383-D232-C25A2EBCCB90}"/>
              </a:ext>
            </a:extLst>
          </p:cNvPr>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8014F131-047A-C092-057B-1EA40B9DBEAC}"/>
              </a:ext>
            </a:extLst>
          </p:cNvPr>
          <p:cNvSpPr/>
          <p:nvPr/>
        </p:nvSpPr>
        <p:spPr>
          <a:xfrm>
            <a:off x="813062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A63D05DD-585E-50BA-C68D-041C8691871B}"/>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CFD376AD-8093-8BDA-194F-F488622E05F8}"/>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B0AA3662-95A7-A06A-50FF-B1052AA14692}"/>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8A2076EC-6369-3DB9-D1E6-87C8B1920AA7}"/>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90A65441-4FC2-5498-D8F7-6350056104C9}"/>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19BBAAD-21BF-9854-F8AF-BB70B13F734C}"/>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669CBA2A-8DC4-7E86-F9B9-E445CF346926}"/>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DF469868-8BB8-95A6-9CCB-A38B619404E1}"/>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34F91CE2-4992-B808-4285-8047AA264151}"/>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B5D353BA-46BB-CA09-F79E-310B0A7798F5}"/>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201508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17B2-1699-FA66-BCA6-E6C9FEC752BD}"/>
              </a:ext>
            </a:extLst>
          </p:cNvPr>
          <p:cNvSpPr>
            <a:spLocks noGrp="1"/>
          </p:cNvSpPr>
          <p:nvPr>
            <p:ph type="title"/>
          </p:nvPr>
        </p:nvSpPr>
        <p:spPr/>
        <p:txBody>
          <a:bodyPr/>
          <a:lstStyle/>
          <a:p>
            <a:r>
              <a:rPr lang="en-US" dirty="0"/>
              <a:t>Split criteria</a:t>
            </a:r>
          </a:p>
        </p:txBody>
      </p:sp>
      <p:graphicFrame>
        <p:nvGraphicFramePr>
          <p:cNvPr id="4" name="Content Placeholder 3">
            <a:extLst>
              <a:ext uri="{FF2B5EF4-FFF2-40B4-BE49-F238E27FC236}">
                <a16:creationId xmlns:a16="http://schemas.microsoft.com/office/drawing/2014/main" id="{372D33CC-16B6-3C21-06EE-93CF0CAC6E2B}"/>
              </a:ext>
            </a:extLst>
          </p:cNvPr>
          <p:cNvGraphicFramePr>
            <a:graphicFrameLocks noGrp="1"/>
          </p:cNvGraphicFramePr>
          <p:nvPr>
            <p:ph idx="1"/>
            <p:extLst>
              <p:ext uri="{D42A27DB-BD31-4B8C-83A1-F6EECF244321}">
                <p14:modId xmlns:p14="http://schemas.microsoft.com/office/powerpoint/2010/main" val="104279589"/>
              </p:ext>
            </p:extLst>
          </p:nvPr>
        </p:nvGraphicFramePr>
        <p:xfrm>
          <a:off x="942830" y="2376347"/>
          <a:ext cx="3429128" cy="1854200"/>
        </p:xfrm>
        <a:graphic>
          <a:graphicData uri="http://schemas.openxmlformats.org/drawingml/2006/table">
            <a:tbl>
              <a:tblPr firstRow="1">
                <a:tableStyleId>{5C22544A-7EE6-4342-B048-85BDC9FD1C3A}</a:tableStyleId>
              </a:tblPr>
              <a:tblGrid>
                <a:gridCol w="1421321">
                  <a:extLst>
                    <a:ext uri="{9D8B030D-6E8A-4147-A177-3AD203B41FA5}">
                      <a16:colId xmlns:a16="http://schemas.microsoft.com/office/drawing/2014/main" val="3726095235"/>
                    </a:ext>
                  </a:extLst>
                </a:gridCol>
                <a:gridCol w="2007807">
                  <a:extLst>
                    <a:ext uri="{9D8B030D-6E8A-4147-A177-3AD203B41FA5}">
                      <a16:colId xmlns:a16="http://schemas.microsoft.com/office/drawing/2014/main" val="2141868242"/>
                    </a:ext>
                  </a:extLst>
                </a:gridCol>
              </a:tblGrid>
              <a:tr h="370840">
                <a:tc>
                  <a:txBody>
                    <a:bodyPr/>
                    <a:lstStyle/>
                    <a:p>
                      <a:r>
                        <a:rPr lang="en-US" dirty="0"/>
                        <a:t>Split</a:t>
                      </a:r>
                    </a:p>
                  </a:txBody>
                  <a:tcPr/>
                </a:tc>
                <a:tc>
                  <a:txBody>
                    <a:bodyPr/>
                    <a:lstStyle/>
                    <a:p>
                      <a:r>
                        <a:rPr lang="en-US" dirty="0"/>
                        <a:t>Target Proportion</a:t>
                      </a:r>
                    </a:p>
                  </a:txBody>
                  <a:tcPr/>
                </a:tc>
                <a:extLst>
                  <a:ext uri="{0D108BD9-81ED-4DB2-BD59-A6C34878D82A}">
                    <a16:rowId xmlns:a16="http://schemas.microsoft.com/office/drawing/2014/main" val="4043902916"/>
                  </a:ext>
                </a:extLst>
              </a:tr>
              <a:tr h="370840">
                <a:tc>
                  <a:txBody>
                    <a:bodyPr/>
                    <a:lstStyle/>
                    <a:p>
                      <a:r>
                        <a:rPr lang="en-US" dirty="0"/>
                        <a:t>dev train</a:t>
                      </a:r>
                    </a:p>
                  </a:txBody>
                  <a:tcPr/>
                </a:tc>
                <a:tc>
                  <a:txBody>
                    <a:bodyPr/>
                    <a:lstStyle/>
                    <a:p>
                      <a:r>
                        <a:rPr lang="en-US" dirty="0"/>
                        <a:t>20%</a:t>
                      </a:r>
                    </a:p>
                  </a:txBody>
                  <a:tcPr/>
                </a:tc>
                <a:extLst>
                  <a:ext uri="{0D108BD9-81ED-4DB2-BD59-A6C34878D82A}">
                    <a16:rowId xmlns:a16="http://schemas.microsoft.com/office/drawing/2014/main" val="2226468112"/>
                  </a:ext>
                </a:extLst>
              </a:tr>
              <a:tr h="370840">
                <a:tc>
                  <a:txBody>
                    <a:bodyPr/>
                    <a:lstStyle/>
                    <a:p>
                      <a:r>
                        <a:rPr lang="en-US" dirty="0"/>
                        <a:t>dev check 1</a:t>
                      </a:r>
                    </a:p>
                  </a:txBody>
                  <a:tcPr/>
                </a:tc>
                <a:tc>
                  <a:txBody>
                    <a:bodyPr/>
                    <a:lstStyle/>
                    <a:p>
                      <a:r>
                        <a:rPr lang="en-US" dirty="0"/>
                        <a:t>25%</a:t>
                      </a:r>
                    </a:p>
                  </a:txBody>
                  <a:tcPr/>
                </a:tc>
                <a:extLst>
                  <a:ext uri="{0D108BD9-81ED-4DB2-BD59-A6C34878D82A}">
                    <a16:rowId xmlns:a16="http://schemas.microsoft.com/office/drawing/2014/main" val="11869192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dev check 2</a:t>
                      </a:r>
                    </a:p>
                  </a:txBody>
                  <a:tcPr/>
                </a:tc>
                <a:tc>
                  <a:txBody>
                    <a:bodyPr/>
                    <a:lstStyle/>
                    <a:p>
                      <a:r>
                        <a:rPr lang="en-US" dirty="0"/>
                        <a:t>25%</a:t>
                      </a:r>
                    </a:p>
                  </a:txBody>
                  <a:tcPr/>
                </a:tc>
                <a:extLst>
                  <a:ext uri="{0D108BD9-81ED-4DB2-BD59-A6C34878D82A}">
                    <a16:rowId xmlns:a16="http://schemas.microsoft.com/office/drawing/2014/main" val="977428585"/>
                  </a:ext>
                </a:extLst>
              </a:tr>
              <a:tr h="370840">
                <a:tc>
                  <a:txBody>
                    <a:bodyPr/>
                    <a:lstStyle/>
                    <a:p>
                      <a:r>
                        <a:rPr lang="en-US" dirty="0"/>
                        <a:t>test lockbox</a:t>
                      </a:r>
                    </a:p>
                  </a:txBody>
                  <a:tcPr/>
                </a:tc>
                <a:tc>
                  <a:txBody>
                    <a:bodyPr/>
                    <a:lstStyle/>
                    <a:p>
                      <a:r>
                        <a:rPr lang="en-US" dirty="0"/>
                        <a:t>30%</a:t>
                      </a:r>
                    </a:p>
                  </a:txBody>
                  <a:tcPr/>
                </a:tc>
                <a:extLst>
                  <a:ext uri="{0D108BD9-81ED-4DB2-BD59-A6C34878D82A}">
                    <a16:rowId xmlns:a16="http://schemas.microsoft.com/office/drawing/2014/main" val="349278859"/>
                  </a:ext>
                </a:extLst>
              </a:tr>
            </a:tbl>
          </a:graphicData>
        </a:graphic>
      </p:graphicFrame>
      <p:sp>
        <p:nvSpPr>
          <p:cNvPr id="5" name="TextBox 4">
            <a:extLst>
              <a:ext uri="{FF2B5EF4-FFF2-40B4-BE49-F238E27FC236}">
                <a16:creationId xmlns:a16="http://schemas.microsoft.com/office/drawing/2014/main" id="{8388F37E-148A-6ECA-8D36-D08C016DD79A}"/>
              </a:ext>
            </a:extLst>
          </p:cNvPr>
          <p:cNvSpPr txBox="1"/>
          <p:nvPr/>
        </p:nvSpPr>
        <p:spPr>
          <a:xfrm>
            <a:off x="5645204" y="2376347"/>
            <a:ext cx="5603966"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Similar proportion 2 vs. 1 coders</a:t>
            </a:r>
          </a:p>
          <a:p>
            <a:pPr marL="742950" lvl="1" indent="-285750">
              <a:buFont typeface="Arial" panose="020B0604020202020204" pitchFamily="34" charset="0"/>
              <a:buChar char="•"/>
            </a:pPr>
            <a:r>
              <a:rPr lang="en-US" dirty="0"/>
              <a:t>And similar proportion of each individual coder</a:t>
            </a:r>
          </a:p>
          <a:p>
            <a:pPr marL="285750" indent="-285750">
              <a:buFont typeface="Arial" panose="020B0604020202020204" pitchFamily="34" charset="0"/>
              <a:buChar char="•"/>
            </a:pPr>
            <a:r>
              <a:rPr lang="en-US" dirty="0"/>
              <a:t>Similar IRR distribution</a:t>
            </a:r>
          </a:p>
          <a:p>
            <a:pPr marL="285750" indent="-285750">
              <a:buFont typeface="Arial" panose="020B0604020202020204" pitchFamily="34" charset="0"/>
              <a:buChar char="•"/>
            </a:pPr>
            <a:r>
              <a:rPr lang="en-US" dirty="0"/>
              <a:t>Similar child age distribution</a:t>
            </a:r>
          </a:p>
        </p:txBody>
      </p:sp>
    </p:spTree>
    <p:extLst>
      <p:ext uri="{BB962C8B-B14F-4D97-AF65-F5344CB8AC3E}">
        <p14:creationId xmlns:p14="http://schemas.microsoft.com/office/powerpoint/2010/main" val="2674557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685FF3-8F20-4A16-AFFC-D088BB232AB5}"/>
              </a:ext>
            </a:extLst>
          </p:cNvPr>
          <p:cNvPicPr>
            <a:picLocks noChangeAspect="1"/>
          </p:cNvPicPr>
          <p:nvPr/>
        </p:nvPicPr>
        <p:blipFill>
          <a:blip r:embed="rId2"/>
          <a:stretch>
            <a:fillRect/>
          </a:stretch>
        </p:blipFill>
        <p:spPr>
          <a:xfrm>
            <a:off x="0" y="0"/>
            <a:ext cx="8595360" cy="6959246"/>
          </a:xfrm>
          <a:prstGeom prst="rect">
            <a:avLst/>
          </a:prstGeom>
        </p:spPr>
      </p:pic>
      <p:pic>
        <p:nvPicPr>
          <p:cNvPr id="7" name="Picture 6">
            <a:extLst>
              <a:ext uri="{FF2B5EF4-FFF2-40B4-BE49-F238E27FC236}">
                <a16:creationId xmlns:a16="http://schemas.microsoft.com/office/drawing/2014/main" id="{05583517-9213-48F0-9FCC-00C2F057231D}"/>
              </a:ext>
            </a:extLst>
          </p:cNvPr>
          <p:cNvPicPr>
            <a:picLocks noChangeAspect="1"/>
          </p:cNvPicPr>
          <p:nvPr/>
        </p:nvPicPr>
        <p:blipFill>
          <a:blip r:embed="rId3"/>
          <a:stretch>
            <a:fillRect/>
          </a:stretch>
        </p:blipFill>
        <p:spPr>
          <a:xfrm>
            <a:off x="9072699" y="101600"/>
            <a:ext cx="2171700" cy="254000"/>
          </a:xfrm>
          <a:prstGeom prst="rect">
            <a:avLst/>
          </a:prstGeom>
        </p:spPr>
      </p:pic>
      <p:pic>
        <p:nvPicPr>
          <p:cNvPr id="13" name="Picture 12">
            <a:extLst>
              <a:ext uri="{FF2B5EF4-FFF2-40B4-BE49-F238E27FC236}">
                <a16:creationId xmlns:a16="http://schemas.microsoft.com/office/drawing/2014/main" id="{6580925F-1516-18BF-8A1D-7E1E98CA42D9}"/>
              </a:ext>
            </a:extLst>
          </p:cNvPr>
          <p:cNvPicPr>
            <a:picLocks noChangeAspect="1"/>
          </p:cNvPicPr>
          <p:nvPr/>
        </p:nvPicPr>
        <p:blipFill>
          <a:blip r:embed="rId4"/>
          <a:srcRect l="75098"/>
          <a:stretch>
            <a:fillRect/>
          </a:stretch>
        </p:blipFill>
        <p:spPr>
          <a:xfrm>
            <a:off x="8908868" y="4444837"/>
            <a:ext cx="1935480" cy="1552563"/>
          </a:xfrm>
          <a:prstGeom prst="rect">
            <a:avLst/>
          </a:prstGeom>
        </p:spPr>
      </p:pic>
      <p:pic>
        <p:nvPicPr>
          <p:cNvPr id="14" name="Picture 13">
            <a:extLst>
              <a:ext uri="{FF2B5EF4-FFF2-40B4-BE49-F238E27FC236}">
                <a16:creationId xmlns:a16="http://schemas.microsoft.com/office/drawing/2014/main" id="{6FEF0B8E-2687-5D16-9BD6-A0075DA21328}"/>
              </a:ext>
            </a:extLst>
          </p:cNvPr>
          <p:cNvPicPr>
            <a:picLocks noChangeAspect="1"/>
          </p:cNvPicPr>
          <p:nvPr/>
        </p:nvPicPr>
        <p:blipFill>
          <a:blip r:embed="rId4"/>
          <a:srcRect l="51624" r="24510"/>
          <a:stretch>
            <a:fillRect/>
          </a:stretch>
        </p:blipFill>
        <p:spPr>
          <a:xfrm>
            <a:off x="10337074" y="2981174"/>
            <a:ext cx="1854926" cy="1552563"/>
          </a:xfrm>
          <a:prstGeom prst="rect">
            <a:avLst/>
          </a:prstGeom>
        </p:spPr>
      </p:pic>
      <p:pic>
        <p:nvPicPr>
          <p:cNvPr id="16" name="Picture 15">
            <a:extLst>
              <a:ext uri="{FF2B5EF4-FFF2-40B4-BE49-F238E27FC236}">
                <a16:creationId xmlns:a16="http://schemas.microsoft.com/office/drawing/2014/main" id="{8600C43E-AFF5-6AE4-F3B0-2745CC8826A5}"/>
              </a:ext>
            </a:extLst>
          </p:cNvPr>
          <p:cNvPicPr>
            <a:picLocks noChangeAspect="1"/>
          </p:cNvPicPr>
          <p:nvPr/>
        </p:nvPicPr>
        <p:blipFill>
          <a:blip r:embed="rId4"/>
          <a:srcRect r="72465"/>
          <a:stretch>
            <a:fillRect/>
          </a:stretch>
        </p:blipFill>
        <p:spPr>
          <a:xfrm>
            <a:off x="10051868" y="355600"/>
            <a:ext cx="2140132" cy="1552563"/>
          </a:xfrm>
          <a:prstGeom prst="rect">
            <a:avLst/>
          </a:prstGeom>
        </p:spPr>
      </p:pic>
      <p:pic>
        <p:nvPicPr>
          <p:cNvPr id="15" name="Picture 14">
            <a:extLst>
              <a:ext uri="{FF2B5EF4-FFF2-40B4-BE49-F238E27FC236}">
                <a16:creationId xmlns:a16="http://schemas.microsoft.com/office/drawing/2014/main" id="{5E00D038-DDC3-6F88-12FE-0E05955C9745}"/>
              </a:ext>
            </a:extLst>
          </p:cNvPr>
          <p:cNvPicPr>
            <a:picLocks noChangeAspect="1"/>
          </p:cNvPicPr>
          <p:nvPr/>
        </p:nvPicPr>
        <p:blipFill>
          <a:blip r:embed="rId4"/>
          <a:srcRect l="27479" r="48319"/>
          <a:stretch>
            <a:fillRect/>
          </a:stretch>
        </p:blipFill>
        <p:spPr>
          <a:xfrm>
            <a:off x="8595360" y="1730862"/>
            <a:ext cx="1881053" cy="1552563"/>
          </a:xfrm>
          <a:prstGeom prst="rect">
            <a:avLst/>
          </a:prstGeom>
        </p:spPr>
      </p:pic>
    </p:spTree>
    <p:extLst>
      <p:ext uri="{BB962C8B-B14F-4D97-AF65-F5344CB8AC3E}">
        <p14:creationId xmlns:p14="http://schemas.microsoft.com/office/powerpoint/2010/main" val="609669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0B7CD-4B53-FCF0-2B42-08C618F1F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822EE-57A5-0876-056F-4772DDA933C7}"/>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FB4EB5D8-BD19-7FE9-0D07-BBADAD8CB192}"/>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046FE5F7-D517-859E-3A0F-F9E3B30C3CC9}"/>
              </a:ext>
            </a:extLst>
          </p:cNvPr>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65C32978-E99A-31CA-C94E-8B08841CB8B3}"/>
              </a:ext>
            </a:extLst>
          </p:cNvPr>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8A5074B3-399C-B9C5-12DB-65E9772F3F9F}"/>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C5772048-43A2-0D77-4F89-FF5443B9A6DF}"/>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586637A4-FC9D-C826-8B69-AFC8B22377E6}"/>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28C4D4F1-6F08-B4CC-5490-BDBDC91514E3}"/>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F4D9076C-7A65-114E-0247-72FDEDED44C1}"/>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DDAF5A5-7ACC-88D0-0EC6-BFB4AF17753C}"/>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6CCF48EE-E756-521A-ABD6-74E67711EB7B}"/>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B81488C9-B283-EFBB-C9B2-FEFC78E63B56}"/>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CBC1A1C7-865F-C14A-7E82-A4B7FA2AB047}"/>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94EB634A-1EF6-0B9F-5CAD-52EBF02ADECD}"/>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
        <p:nvSpPr>
          <p:cNvPr id="3" name="Rounded Rectangle 2">
            <a:extLst>
              <a:ext uri="{FF2B5EF4-FFF2-40B4-BE49-F238E27FC236}">
                <a16:creationId xmlns:a16="http://schemas.microsoft.com/office/drawing/2014/main" id="{EDE4BBF7-6BCA-2293-B9D0-3337BB1FDE33}"/>
              </a:ext>
            </a:extLst>
          </p:cNvPr>
          <p:cNvSpPr/>
          <p:nvPr/>
        </p:nvSpPr>
        <p:spPr>
          <a:xfrm>
            <a:off x="838200" y="4062549"/>
            <a:ext cx="10515600" cy="2351314"/>
          </a:xfrm>
          <a:prstGeom prst="round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8391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rcRect t="14860"/>
          <a:stretch>
            <a:fillRect/>
          </a:stretch>
        </p:blipFill>
        <p:spPr>
          <a:xfrm>
            <a:off x="1246062" y="177800"/>
            <a:ext cx="10647923" cy="65024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900571" y="250000"/>
            <a:ext cx="8140858"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547755" y="285221"/>
            <a:ext cx="10644245" cy="5891742"/>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317394" y="250000"/>
            <a:ext cx="9307211"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842051" y="23304"/>
            <a:ext cx="8652214" cy="6834696"/>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880000" y="501870"/>
            <a:ext cx="10182000" cy="5904259"/>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6487D-E122-97A8-C1B4-6760E7280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D5295-A8D3-8FE8-1DB5-8B5E4F9BD6FD}"/>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pic>
        <p:nvPicPr>
          <p:cNvPr id="6" name="Content Placeholder 5">
            <a:extLst>
              <a:ext uri="{FF2B5EF4-FFF2-40B4-BE49-F238E27FC236}">
                <a16:creationId xmlns:a16="http://schemas.microsoft.com/office/drawing/2014/main" id="{26399734-B72C-FE8E-B244-52432559515B}"/>
              </a:ext>
            </a:extLst>
          </p:cNvPr>
          <p:cNvPicPr>
            <a:picLocks noGrp="1" noChangeAspect="1"/>
          </p:cNvPicPr>
          <p:nvPr>
            <p:ph idx="1"/>
          </p:nvPr>
        </p:nvPicPr>
        <p:blipFill>
          <a:blip r:embed="rId2"/>
          <a:stretch>
            <a:fillRect/>
          </a:stretch>
        </p:blipFill>
        <p:spPr>
          <a:xfrm>
            <a:off x="1856402" y="0"/>
            <a:ext cx="8734564" cy="6834696"/>
          </a:xfrm>
          <a:prstGeom prst="rect">
            <a:avLst/>
          </a:prstGeom>
        </p:spPr>
      </p:pic>
    </p:spTree>
    <p:extLst>
      <p:ext uri="{BB962C8B-B14F-4D97-AF65-F5344CB8AC3E}">
        <p14:creationId xmlns:p14="http://schemas.microsoft.com/office/powerpoint/2010/main" val="3488014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009456" y="250000"/>
            <a:ext cx="9923087"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9A703-A0D5-91C6-D22B-FE0BE737C1B3}"/>
              </a:ext>
            </a:extLst>
          </p:cNvPr>
          <p:cNvSpPr>
            <a:spLocks noGrp="1"/>
          </p:cNvSpPr>
          <p:nvPr>
            <p:ph type="title"/>
          </p:nvPr>
        </p:nvSpPr>
        <p:spPr/>
        <p:txBody>
          <a:bodyPr/>
          <a:lstStyle/>
          <a:p>
            <a:r>
              <a:rPr lang="en-US" dirty="0"/>
              <a:t>Example output</a:t>
            </a:r>
          </a:p>
        </p:txBody>
      </p:sp>
      <p:sp>
        <p:nvSpPr>
          <p:cNvPr id="3" name="Content Placeholder 2">
            <a:extLst>
              <a:ext uri="{FF2B5EF4-FFF2-40B4-BE49-F238E27FC236}">
                <a16:creationId xmlns:a16="http://schemas.microsoft.com/office/drawing/2014/main" id="{64B1AE65-476F-1EA8-A6A9-20439B2A3F0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A00B3D4-8D84-A86F-1511-957F74B47C39}"/>
              </a:ext>
            </a:extLst>
          </p:cNvPr>
          <p:cNvPicPr>
            <a:picLocks noChangeAspect="1"/>
          </p:cNvPicPr>
          <p:nvPr/>
        </p:nvPicPr>
        <p:blipFill>
          <a:blip r:embed="rId2"/>
          <a:stretch>
            <a:fillRect/>
          </a:stretch>
        </p:blipFill>
        <p:spPr>
          <a:xfrm>
            <a:off x="0" y="1825625"/>
            <a:ext cx="12148346" cy="3341664"/>
          </a:xfrm>
          <a:prstGeom prst="rect">
            <a:avLst/>
          </a:prstGeom>
        </p:spPr>
      </p:pic>
    </p:spTree>
    <p:extLst>
      <p:ext uri="{BB962C8B-B14F-4D97-AF65-F5344CB8AC3E}">
        <p14:creationId xmlns:p14="http://schemas.microsoft.com/office/powerpoint/2010/main" val="3253258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9E0B-452E-F2D0-1B89-73BCBCDF816E}"/>
              </a:ext>
            </a:extLst>
          </p:cNvPr>
          <p:cNvSpPr>
            <a:spLocks noGrp="1"/>
          </p:cNvSpPr>
          <p:nvPr>
            <p:ph type="title"/>
          </p:nvPr>
        </p:nvSpPr>
        <p:spPr/>
        <p:txBody>
          <a:bodyPr/>
          <a:lstStyle/>
          <a:p>
            <a:r>
              <a:rPr lang="en-US" dirty="0"/>
              <a:t>Changes to get to v4</a:t>
            </a:r>
          </a:p>
        </p:txBody>
      </p:sp>
      <p:sp>
        <p:nvSpPr>
          <p:cNvPr id="3" name="Content Placeholder 2">
            <a:extLst>
              <a:ext uri="{FF2B5EF4-FFF2-40B4-BE49-F238E27FC236}">
                <a16:creationId xmlns:a16="http://schemas.microsoft.com/office/drawing/2014/main" id="{6B9A0E97-5DFB-C26C-0D88-8CBC0EBAD45A}"/>
              </a:ext>
            </a:extLst>
          </p:cNvPr>
          <p:cNvSpPr>
            <a:spLocks noGrp="1"/>
          </p:cNvSpPr>
          <p:nvPr>
            <p:ph idx="1"/>
          </p:nvPr>
        </p:nvSpPr>
        <p:spPr>
          <a:xfrm>
            <a:off x="276498" y="1455555"/>
            <a:ext cx="5662748" cy="5037319"/>
          </a:xfrm>
        </p:spPr>
        <p:txBody>
          <a:bodyPr>
            <a:normAutofit fontScale="92500" lnSpcReduction="10000"/>
          </a:bodyPr>
          <a:lstStyle/>
          <a:p>
            <a:r>
              <a:rPr lang="en-US" dirty="0"/>
              <a:t>v1 </a:t>
            </a:r>
            <a:r>
              <a:rPr lang="en-US" sz="1800" dirty="0">
                <a:sym typeface="Wingdings" pitchFamily="2" charset="2"/>
              </a:rPr>
              <a:t></a:t>
            </a:r>
            <a:r>
              <a:rPr lang="en-US" dirty="0">
                <a:sym typeface="Wingdings" pitchFamily="2" charset="2"/>
              </a:rPr>
              <a:t> v2</a:t>
            </a:r>
          </a:p>
          <a:p>
            <a:pPr lvl="1"/>
            <a:r>
              <a:rPr lang="en-US" dirty="0">
                <a:sym typeface="Wingdings" pitchFamily="2" charset="2"/>
              </a:rPr>
              <a:t>Input</a:t>
            </a:r>
          </a:p>
          <a:p>
            <a:pPr lvl="2"/>
            <a:r>
              <a:rPr lang="en-US" dirty="0">
                <a:sym typeface="Wingdings" pitchFamily="2" charset="2"/>
              </a:rPr>
              <a:t>Add line in input dataset numbering the negations in an utterance—allows model to identify repetitions</a:t>
            </a:r>
          </a:p>
          <a:p>
            <a:pPr lvl="1"/>
            <a:r>
              <a:rPr lang="en-US" dirty="0">
                <a:sym typeface="Wingdings" pitchFamily="2" charset="2"/>
              </a:rPr>
              <a:t>Output </a:t>
            </a:r>
          </a:p>
          <a:p>
            <a:pPr lvl="2"/>
            <a:r>
              <a:rPr lang="en-US" dirty="0"/>
              <a:t>Comments before label</a:t>
            </a:r>
          </a:p>
          <a:p>
            <a:pPr lvl="1"/>
            <a:r>
              <a:rPr lang="en-US" dirty="0"/>
              <a:t>Prompt</a:t>
            </a:r>
          </a:p>
          <a:p>
            <a:pPr lvl="2"/>
            <a:r>
              <a:rPr lang="en-US" dirty="0"/>
              <a:t>Clarify distinction between refusing and correcting</a:t>
            </a:r>
          </a:p>
          <a:p>
            <a:pPr lvl="2"/>
            <a:r>
              <a:rPr lang="en-US" dirty="0"/>
              <a:t>Clarify distinction between imperative and deontic don’t</a:t>
            </a:r>
          </a:p>
          <a:p>
            <a:pPr lvl="2"/>
            <a:r>
              <a:rPr lang="en-US" dirty="0"/>
              <a:t>Clarify Uncoded criteria</a:t>
            </a:r>
          </a:p>
          <a:p>
            <a:pPr lvl="2"/>
            <a:r>
              <a:rPr lang="en-US" dirty="0"/>
              <a:t>Added examples </a:t>
            </a:r>
            <a:r>
              <a:rPr lang="en-US" b="1" dirty="0">
                <a:solidFill>
                  <a:srgbClr val="FF0000"/>
                </a:solidFill>
              </a:rPr>
              <a:t>BUT the added examples were precisely the lines to be coded -- lol</a:t>
            </a:r>
            <a:endParaRPr lang="en-US" dirty="0"/>
          </a:p>
          <a:p>
            <a:pPr lvl="2"/>
            <a:endParaRPr lang="en-US" dirty="0"/>
          </a:p>
        </p:txBody>
      </p:sp>
      <p:sp>
        <p:nvSpPr>
          <p:cNvPr id="4" name="Content Placeholder 2">
            <a:extLst>
              <a:ext uri="{FF2B5EF4-FFF2-40B4-BE49-F238E27FC236}">
                <a16:creationId xmlns:a16="http://schemas.microsoft.com/office/drawing/2014/main" id="{9644D17A-EB70-B01C-5977-09734FC5AC00}"/>
              </a:ext>
            </a:extLst>
          </p:cNvPr>
          <p:cNvSpPr txBox="1">
            <a:spLocks/>
          </p:cNvSpPr>
          <p:nvPr/>
        </p:nvSpPr>
        <p:spPr>
          <a:xfrm>
            <a:off x="6252756" y="1455554"/>
            <a:ext cx="5662748" cy="50373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v2 </a:t>
            </a:r>
            <a:r>
              <a:rPr lang="en-US" sz="1800" dirty="0">
                <a:sym typeface="Wingdings" pitchFamily="2" charset="2"/>
              </a:rPr>
              <a:t></a:t>
            </a:r>
            <a:r>
              <a:rPr lang="en-US" dirty="0">
                <a:sym typeface="Wingdings" pitchFamily="2" charset="2"/>
              </a:rPr>
              <a:t> v3</a:t>
            </a:r>
          </a:p>
          <a:p>
            <a:pPr lvl="1"/>
            <a:r>
              <a:rPr lang="en-US" dirty="0"/>
              <a:t>Prompt</a:t>
            </a:r>
          </a:p>
          <a:p>
            <a:pPr lvl="2"/>
            <a:r>
              <a:rPr lang="en-US" dirty="0"/>
              <a:t>Focus on interlocutor responses in coding decisions</a:t>
            </a:r>
          </a:p>
          <a:p>
            <a:pPr lvl="2"/>
            <a:r>
              <a:rPr lang="en-US" dirty="0"/>
              <a:t>Note that request speech acts can look like statements</a:t>
            </a:r>
          </a:p>
          <a:p>
            <a:pPr lvl="2"/>
            <a:r>
              <a:rPr lang="en-US" dirty="0"/>
              <a:t>Statements of opinion in an offering context are often refusals</a:t>
            </a:r>
          </a:p>
          <a:p>
            <a:pPr lvl="2"/>
            <a:r>
              <a:rPr lang="en-US" dirty="0"/>
              <a:t>Decide first, write final decision at end of reasoning, then output</a:t>
            </a:r>
          </a:p>
          <a:p>
            <a:pPr lvl="2"/>
            <a:r>
              <a:rPr lang="en-US" dirty="0"/>
              <a:t>Fix example contamination</a:t>
            </a:r>
          </a:p>
        </p:txBody>
      </p:sp>
    </p:spTree>
    <p:extLst>
      <p:ext uri="{BB962C8B-B14F-4D97-AF65-F5344CB8AC3E}">
        <p14:creationId xmlns:p14="http://schemas.microsoft.com/office/powerpoint/2010/main" val="169095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A087-6788-C5A1-22EB-7E43006CA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EBDCD-491F-D207-E678-5E16B165C2F8}"/>
              </a:ext>
            </a:extLst>
          </p:cNvPr>
          <p:cNvSpPr>
            <a:spLocks noGrp="1"/>
          </p:cNvSpPr>
          <p:nvPr>
            <p:ph type="title"/>
          </p:nvPr>
        </p:nvSpPr>
        <p:spPr/>
        <p:txBody>
          <a:bodyPr/>
          <a:lstStyle/>
          <a:p>
            <a:r>
              <a:rPr lang="en-US" dirty="0"/>
              <a:t>Changes to get to v4</a:t>
            </a:r>
          </a:p>
        </p:txBody>
      </p:sp>
      <p:sp>
        <p:nvSpPr>
          <p:cNvPr id="3" name="Content Placeholder 2">
            <a:extLst>
              <a:ext uri="{FF2B5EF4-FFF2-40B4-BE49-F238E27FC236}">
                <a16:creationId xmlns:a16="http://schemas.microsoft.com/office/drawing/2014/main" id="{D00A285E-AA76-D68F-A467-AD77B920D212}"/>
              </a:ext>
            </a:extLst>
          </p:cNvPr>
          <p:cNvSpPr>
            <a:spLocks noGrp="1"/>
          </p:cNvSpPr>
          <p:nvPr>
            <p:ph idx="1"/>
          </p:nvPr>
        </p:nvSpPr>
        <p:spPr>
          <a:xfrm>
            <a:off x="276497" y="1455555"/>
            <a:ext cx="11184817" cy="5037319"/>
          </a:xfrm>
        </p:spPr>
        <p:txBody>
          <a:bodyPr>
            <a:normAutofit fontScale="85000" lnSpcReduction="20000"/>
          </a:bodyPr>
          <a:lstStyle/>
          <a:p>
            <a:r>
              <a:rPr lang="en-US" dirty="0"/>
              <a:t>v3 </a:t>
            </a:r>
            <a:r>
              <a:rPr lang="en-US" sz="1800" dirty="0">
                <a:sym typeface="Wingdings" pitchFamily="2" charset="2"/>
              </a:rPr>
              <a:t></a:t>
            </a:r>
            <a:r>
              <a:rPr lang="en-US" dirty="0">
                <a:sym typeface="Wingdings" pitchFamily="2" charset="2"/>
              </a:rPr>
              <a:t> v4</a:t>
            </a:r>
          </a:p>
          <a:p>
            <a:pPr lvl="1"/>
            <a:r>
              <a:rPr lang="en-US" dirty="0"/>
              <a:t>New Step 0: decide whether the target token is a negation before assigning a function label</a:t>
            </a:r>
          </a:p>
          <a:p>
            <a:pPr lvl="1"/>
            <a:r>
              <a:rPr lang="en-US" dirty="0"/>
              <a:t>Nonexistence tightened: only absent/gone/used-up </a:t>
            </a:r>
            <a:r>
              <a:rPr lang="en-US" i="1" dirty="0"/>
              <a:t>entities</a:t>
            </a:r>
            <a:r>
              <a:rPr lang="en-US" dirty="0"/>
              <a:t>; failed actions and non-holding properties are never Nonexistence.</a:t>
            </a:r>
          </a:p>
          <a:p>
            <a:pPr lvl="1"/>
            <a:r>
              <a:rPr lang="en-US" dirty="0"/>
              <a:t>New Rejection-vs-Denial rules: </a:t>
            </a:r>
          </a:p>
          <a:p>
            <a:pPr lvl="2"/>
            <a:r>
              <a:rPr lang="en-US" dirty="0"/>
              <a:t>classify the question’s speech act, not its syntax — offer/proposal/permission/compliance question → </a:t>
            </a:r>
            <a:r>
              <a:rPr lang="en-US" sz="2100" dirty="0"/>
              <a:t>Rejection</a:t>
            </a:r>
            <a:r>
              <a:rPr lang="en-US" dirty="0"/>
              <a:t>; fact question → </a:t>
            </a:r>
            <a:r>
              <a:rPr lang="en-US" sz="2100" dirty="0"/>
              <a:t>Denial</a:t>
            </a:r>
          </a:p>
          <a:p>
            <a:pPr lvl="2"/>
            <a:r>
              <a:rPr lang="en-US" sz="2100" dirty="0"/>
              <a:t>Negated ability/fit/success → Denial by default, never Nonexistence; Rejection only as resistance to a just-issued directive (uptake test)</a:t>
            </a:r>
          </a:p>
          <a:p>
            <a:pPr lvl="1"/>
            <a:r>
              <a:rPr lang="en-US" dirty="0"/>
              <a:t>Normative-statement note: used to stop an ongoing activity → Rejection; detached rule met with agreement → Denial</a:t>
            </a:r>
          </a:p>
          <a:p>
            <a:pPr lvl="1"/>
            <a:r>
              <a:rPr lang="en-US" sz="2500" dirty="0"/>
              <a:t>Uncoded</a:t>
            </a:r>
            <a:r>
              <a:rPr lang="en-US" dirty="0"/>
              <a:t> demoted to last resort: commit to the label when context determines it, and put residual doubt in </a:t>
            </a:r>
            <a:r>
              <a:rPr lang="en-US" sz="2500" dirty="0"/>
              <a:t>certain</a:t>
            </a:r>
            <a:r>
              <a:rPr lang="en-US" dirty="0"/>
              <a:t> = No.</a:t>
            </a:r>
          </a:p>
          <a:p>
            <a:pPr lvl="1"/>
            <a:r>
              <a:rPr lang="en-US" dirty="0"/>
              <a:t>Mimicry flag: explicit imitation markers (</a:t>
            </a:r>
            <a:r>
              <a:rPr lang="en-US" sz="2000" dirty="0"/>
              <a:t>[+ IMIT]</a:t>
            </a:r>
            <a:r>
              <a:rPr lang="en-US" dirty="0"/>
              <a:t>, </a:t>
            </a:r>
            <a:r>
              <a:rPr lang="en-US" sz="2000" dirty="0"/>
              <a:t>[+ IMI]</a:t>
            </a:r>
            <a:r>
              <a:rPr lang="en-US" dirty="0"/>
              <a:t>, </a:t>
            </a:r>
            <a:r>
              <a:rPr lang="en-US" sz="2000" dirty="0"/>
              <a:t>[=! imitates]</a:t>
            </a:r>
            <a:r>
              <a:rPr lang="en-US" dirty="0"/>
              <a:t>) and exact echoes of the prior adult turn → Excluded</a:t>
            </a:r>
          </a:p>
          <a:p>
            <a:pPr lvl="1"/>
            <a:r>
              <a:rPr lang="en-US" dirty="0"/>
              <a:t>Comments must cite the deciding context line (handles llama's context-free "child refuses" comments).</a:t>
            </a:r>
          </a:p>
          <a:p>
            <a:pPr lvl="1"/>
            <a:r>
              <a:rPr lang="en-US" dirty="0"/>
              <a:t>New required Certain field (Yes/No), emitted after Bloom label — mirrors the human coders’ certainty column; binary (not numeric) because verbalized LLM confidences are poorly calibrated</a:t>
            </a:r>
          </a:p>
        </p:txBody>
      </p:sp>
    </p:spTree>
    <p:extLst>
      <p:ext uri="{BB962C8B-B14F-4D97-AF65-F5344CB8AC3E}">
        <p14:creationId xmlns:p14="http://schemas.microsoft.com/office/powerpoint/2010/main" val="3177471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988" y="254096"/>
            <a:ext cx="12100000" cy="877844"/>
          </a:xfrm>
        </p:spPr>
        <p:txBody>
          <a:bodyPr>
            <a:normAutofit/>
          </a:bodyPr>
          <a:lstStyle/>
          <a:p>
            <a:r>
              <a:rPr lang="en-US" sz="2400" dirty="0"/>
              <a:t>LLM–human agreement across versions : English</a:t>
            </a:r>
          </a:p>
        </p:txBody>
      </p:sp>
      <p:sp>
        <p:nvSpPr>
          <p:cNvPr id="9" name="Rectangle 8">
            <a:extLst>
              <a:ext uri="{FF2B5EF4-FFF2-40B4-BE49-F238E27FC236}">
                <a16:creationId xmlns:a16="http://schemas.microsoft.com/office/drawing/2014/main" id="{76B3318C-2378-4466-A51B-9097F9C9D3F9}"/>
              </a:ext>
            </a:extLst>
          </p:cNvPr>
          <p:cNvSpPr/>
          <p:nvPr/>
        </p:nvSpPr>
        <p:spPr>
          <a:xfrm>
            <a:off x="11127725" y="5741872"/>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858E9313-D955-626C-C7B8-AB118D7CB599}"/>
              </a:ext>
            </a:extLst>
          </p:cNvPr>
          <p:cNvGrpSpPr/>
          <p:nvPr/>
        </p:nvGrpSpPr>
        <p:grpSpPr>
          <a:xfrm>
            <a:off x="6476336" y="68054"/>
            <a:ext cx="5330418" cy="319138"/>
            <a:chOff x="6476336" y="68054"/>
            <a:chExt cx="5330418" cy="319138"/>
          </a:xfrm>
        </p:grpSpPr>
        <p:pic>
          <p:nvPicPr>
            <p:cNvPr id="12" name="Picture 11">
              <a:extLst>
                <a:ext uri="{FF2B5EF4-FFF2-40B4-BE49-F238E27FC236}">
                  <a16:creationId xmlns:a16="http://schemas.microsoft.com/office/drawing/2014/main" id="{0CC088B8-CD4E-89AF-16FE-2C3901073601}"/>
                </a:ext>
              </a:extLst>
            </p:cNvPr>
            <p:cNvPicPr>
              <a:picLocks noChangeAspect="1"/>
            </p:cNvPicPr>
            <p:nvPr/>
          </p:nvPicPr>
          <p:blipFill>
            <a:blip r:embed="rId3"/>
            <a:stretch>
              <a:fillRect/>
            </a:stretch>
          </p:blipFill>
          <p:spPr>
            <a:xfrm>
              <a:off x="10499496" y="99729"/>
              <a:ext cx="1307258" cy="244347"/>
            </a:xfrm>
            <a:prstGeom prst="rect">
              <a:avLst/>
            </a:prstGeom>
          </p:spPr>
        </p:pic>
        <p:pic>
          <p:nvPicPr>
            <p:cNvPr id="13" name="Picture 12">
              <a:extLst>
                <a:ext uri="{FF2B5EF4-FFF2-40B4-BE49-F238E27FC236}">
                  <a16:creationId xmlns:a16="http://schemas.microsoft.com/office/drawing/2014/main" id="{EA486D4B-CDE7-329D-D9A7-F87E5A6B709E}"/>
                </a:ext>
              </a:extLst>
            </p:cNvPr>
            <p:cNvPicPr>
              <a:picLocks noChangeAspect="1"/>
            </p:cNvPicPr>
            <p:nvPr/>
          </p:nvPicPr>
          <p:blipFill>
            <a:blip r:embed="rId4"/>
            <a:srcRect r="69662" b="4545"/>
            <a:stretch>
              <a:fillRect/>
            </a:stretch>
          </p:blipFill>
          <p:spPr>
            <a:xfrm>
              <a:off x="7773154" y="92338"/>
              <a:ext cx="1568117" cy="266700"/>
            </a:xfrm>
            <a:prstGeom prst="rect">
              <a:avLst/>
            </a:prstGeom>
          </p:spPr>
        </p:pic>
        <p:pic>
          <p:nvPicPr>
            <p:cNvPr id="14" name="Picture 13">
              <a:extLst>
                <a:ext uri="{FF2B5EF4-FFF2-40B4-BE49-F238E27FC236}">
                  <a16:creationId xmlns:a16="http://schemas.microsoft.com/office/drawing/2014/main" id="{1A90B9E2-1FA7-B482-3742-DC51AB0806C0}"/>
                </a:ext>
              </a:extLst>
            </p:cNvPr>
            <p:cNvPicPr>
              <a:picLocks noChangeAspect="1"/>
            </p:cNvPicPr>
            <p:nvPr/>
          </p:nvPicPr>
          <p:blipFill>
            <a:blip r:embed="rId4"/>
            <a:srcRect l="39541" t="-12443" r="33957" b="-2588"/>
            <a:stretch>
              <a:fillRect/>
            </a:stretch>
          </p:blipFill>
          <p:spPr>
            <a:xfrm>
              <a:off x="6476336" y="68054"/>
              <a:ext cx="1360248" cy="319138"/>
            </a:xfrm>
            <a:prstGeom prst="rect">
              <a:avLst/>
            </a:prstGeom>
          </p:spPr>
        </p:pic>
        <p:pic>
          <p:nvPicPr>
            <p:cNvPr id="15" name="Picture 14">
              <a:extLst>
                <a:ext uri="{FF2B5EF4-FFF2-40B4-BE49-F238E27FC236}">
                  <a16:creationId xmlns:a16="http://schemas.microsoft.com/office/drawing/2014/main" id="{1490267A-18B9-F940-2757-571983307992}"/>
                </a:ext>
              </a:extLst>
            </p:cNvPr>
            <p:cNvPicPr>
              <a:picLocks noChangeAspect="1"/>
            </p:cNvPicPr>
            <p:nvPr/>
          </p:nvPicPr>
          <p:blipFill>
            <a:blip r:embed="rId4"/>
            <a:srcRect l="74453" t="-1919" r="-1"/>
            <a:stretch>
              <a:fillRect/>
            </a:stretch>
          </p:blipFill>
          <p:spPr>
            <a:xfrm>
              <a:off x="9341271" y="105532"/>
              <a:ext cx="1187871" cy="256163"/>
            </a:xfrm>
            <a:prstGeom prst="rect">
              <a:avLst/>
            </a:prstGeom>
          </p:spPr>
        </p:pic>
      </p:grpSp>
      <p:pic>
        <p:nvPicPr>
          <p:cNvPr id="3" name="Picture 2">
            <a:extLst>
              <a:ext uri="{FF2B5EF4-FFF2-40B4-BE49-F238E27FC236}">
                <a16:creationId xmlns:a16="http://schemas.microsoft.com/office/drawing/2014/main" id="{2DCD93E0-DA9D-F27D-61E2-8C7D0C2E0903}"/>
              </a:ext>
            </a:extLst>
          </p:cNvPr>
          <p:cNvPicPr>
            <a:picLocks noChangeAspect="1"/>
          </p:cNvPicPr>
          <p:nvPr/>
        </p:nvPicPr>
        <p:blipFill>
          <a:blip r:embed="rId5"/>
          <a:stretch>
            <a:fillRect/>
          </a:stretch>
        </p:blipFill>
        <p:spPr>
          <a:xfrm>
            <a:off x="10493" y="1303571"/>
            <a:ext cx="12192541" cy="4947170"/>
          </a:xfrm>
          <a:prstGeom prst="rect">
            <a:avLst/>
          </a:prstGeom>
        </p:spPr>
      </p:pic>
      <p:sp>
        <p:nvSpPr>
          <p:cNvPr id="7" name="Rectangle 6">
            <a:extLst>
              <a:ext uri="{FF2B5EF4-FFF2-40B4-BE49-F238E27FC236}">
                <a16:creationId xmlns:a16="http://schemas.microsoft.com/office/drawing/2014/main" id="{86582BF8-308B-8B97-E8A2-9A4B95C3CA89}"/>
              </a:ext>
            </a:extLst>
          </p:cNvPr>
          <p:cNvSpPr/>
          <p:nvPr/>
        </p:nvSpPr>
        <p:spPr>
          <a:xfrm>
            <a:off x="1903956" y="1954060"/>
            <a:ext cx="1503471" cy="4296681"/>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949E29-86EB-FB71-E53A-FE027CD2BCFE}"/>
              </a:ext>
            </a:extLst>
          </p:cNvPr>
          <p:cNvSpPr txBox="1"/>
          <p:nvPr/>
        </p:nvSpPr>
        <p:spPr>
          <a:xfrm>
            <a:off x="1835062" y="3328475"/>
            <a:ext cx="1622469" cy="646331"/>
          </a:xfrm>
          <a:prstGeom prst="rect">
            <a:avLst/>
          </a:prstGeom>
          <a:noFill/>
        </p:spPr>
        <p:txBody>
          <a:bodyPr wrap="square" rtlCol="0">
            <a:spAutoFit/>
          </a:bodyPr>
          <a:lstStyle/>
          <a:p>
            <a:pPr algn="ctr"/>
            <a:r>
              <a:rPr lang="en-US" dirty="0">
                <a:solidFill>
                  <a:srgbClr val="FF0000"/>
                </a:solidFill>
              </a:rPr>
              <a:t>Prompt contaminated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F8FAE-D5DA-103A-589B-0277C0D15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E0B79-012B-C123-4028-F2317F2449D5}"/>
              </a:ext>
            </a:extLst>
          </p:cNvPr>
          <p:cNvSpPr>
            <a:spLocks noGrp="1"/>
          </p:cNvSpPr>
          <p:nvPr>
            <p:ph type="title"/>
          </p:nvPr>
        </p:nvSpPr>
        <p:spPr>
          <a:xfrm>
            <a:off x="113988" y="254096"/>
            <a:ext cx="12100000" cy="877844"/>
          </a:xfrm>
        </p:spPr>
        <p:txBody>
          <a:bodyPr>
            <a:normAutofit/>
          </a:bodyPr>
          <a:lstStyle/>
          <a:p>
            <a:r>
              <a:rPr lang="en-US" sz="2400" dirty="0"/>
              <a:t>LLM–human agreement across versions : English; denial vs. not denial</a:t>
            </a:r>
          </a:p>
        </p:txBody>
      </p:sp>
      <p:sp>
        <p:nvSpPr>
          <p:cNvPr id="9" name="Rectangle 8">
            <a:extLst>
              <a:ext uri="{FF2B5EF4-FFF2-40B4-BE49-F238E27FC236}">
                <a16:creationId xmlns:a16="http://schemas.microsoft.com/office/drawing/2014/main" id="{1B20D63D-466D-4A3C-B219-BBAF897F470B}"/>
              </a:ext>
            </a:extLst>
          </p:cNvPr>
          <p:cNvSpPr/>
          <p:nvPr/>
        </p:nvSpPr>
        <p:spPr>
          <a:xfrm>
            <a:off x="11127725" y="5741872"/>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5D82F6A4-7EE8-3C0E-B8F4-836FA5DC7774}"/>
              </a:ext>
            </a:extLst>
          </p:cNvPr>
          <p:cNvGrpSpPr/>
          <p:nvPr/>
        </p:nvGrpSpPr>
        <p:grpSpPr>
          <a:xfrm>
            <a:off x="6476336" y="68054"/>
            <a:ext cx="5330418" cy="319138"/>
            <a:chOff x="6476336" y="68054"/>
            <a:chExt cx="5330418" cy="319138"/>
          </a:xfrm>
        </p:grpSpPr>
        <p:pic>
          <p:nvPicPr>
            <p:cNvPr id="12" name="Picture 11">
              <a:extLst>
                <a:ext uri="{FF2B5EF4-FFF2-40B4-BE49-F238E27FC236}">
                  <a16:creationId xmlns:a16="http://schemas.microsoft.com/office/drawing/2014/main" id="{2CC08C29-2284-57A5-4F5C-72945D4E2918}"/>
                </a:ext>
              </a:extLst>
            </p:cNvPr>
            <p:cNvPicPr>
              <a:picLocks noChangeAspect="1"/>
            </p:cNvPicPr>
            <p:nvPr/>
          </p:nvPicPr>
          <p:blipFill>
            <a:blip r:embed="rId3"/>
            <a:stretch>
              <a:fillRect/>
            </a:stretch>
          </p:blipFill>
          <p:spPr>
            <a:xfrm>
              <a:off x="10499496" y="99729"/>
              <a:ext cx="1307258" cy="244347"/>
            </a:xfrm>
            <a:prstGeom prst="rect">
              <a:avLst/>
            </a:prstGeom>
          </p:spPr>
        </p:pic>
        <p:pic>
          <p:nvPicPr>
            <p:cNvPr id="13" name="Picture 12">
              <a:extLst>
                <a:ext uri="{FF2B5EF4-FFF2-40B4-BE49-F238E27FC236}">
                  <a16:creationId xmlns:a16="http://schemas.microsoft.com/office/drawing/2014/main" id="{99710A2F-6EFC-956B-7886-339DFF6113FF}"/>
                </a:ext>
              </a:extLst>
            </p:cNvPr>
            <p:cNvPicPr>
              <a:picLocks noChangeAspect="1"/>
            </p:cNvPicPr>
            <p:nvPr/>
          </p:nvPicPr>
          <p:blipFill>
            <a:blip r:embed="rId4"/>
            <a:srcRect r="69662" b="4545"/>
            <a:stretch>
              <a:fillRect/>
            </a:stretch>
          </p:blipFill>
          <p:spPr>
            <a:xfrm>
              <a:off x="7773154" y="92338"/>
              <a:ext cx="1568117" cy="266700"/>
            </a:xfrm>
            <a:prstGeom prst="rect">
              <a:avLst/>
            </a:prstGeom>
          </p:spPr>
        </p:pic>
        <p:pic>
          <p:nvPicPr>
            <p:cNvPr id="14" name="Picture 13">
              <a:extLst>
                <a:ext uri="{FF2B5EF4-FFF2-40B4-BE49-F238E27FC236}">
                  <a16:creationId xmlns:a16="http://schemas.microsoft.com/office/drawing/2014/main" id="{6B14FB0E-D966-75C1-440A-8CD15D057505}"/>
                </a:ext>
              </a:extLst>
            </p:cNvPr>
            <p:cNvPicPr>
              <a:picLocks noChangeAspect="1"/>
            </p:cNvPicPr>
            <p:nvPr/>
          </p:nvPicPr>
          <p:blipFill>
            <a:blip r:embed="rId4"/>
            <a:srcRect l="39541" t="-12443" r="33957" b="-2588"/>
            <a:stretch>
              <a:fillRect/>
            </a:stretch>
          </p:blipFill>
          <p:spPr>
            <a:xfrm>
              <a:off x="6476336" y="68054"/>
              <a:ext cx="1360248" cy="319138"/>
            </a:xfrm>
            <a:prstGeom prst="rect">
              <a:avLst/>
            </a:prstGeom>
          </p:spPr>
        </p:pic>
        <p:pic>
          <p:nvPicPr>
            <p:cNvPr id="15" name="Picture 14">
              <a:extLst>
                <a:ext uri="{FF2B5EF4-FFF2-40B4-BE49-F238E27FC236}">
                  <a16:creationId xmlns:a16="http://schemas.microsoft.com/office/drawing/2014/main" id="{2CD3B0E8-E0D9-55B1-EE72-B4D39C3567EA}"/>
                </a:ext>
              </a:extLst>
            </p:cNvPr>
            <p:cNvPicPr>
              <a:picLocks noChangeAspect="1"/>
            </p:cNvPicPr>
            <p:nvPr/>
          </p:nvPicPr>
          <p:blipFill>
            <a:blip r:embed="rId4"/>
            <a:srcRect l="74453" t="-1919" r="-1"/>
            <a:stretch>
              <a:fillRect/>
            </a:stretch>
          </p:blipFill>
          <p:spPr>
            <a:xfrm>
              <a:off x="9341271" y="105532"/>
              <a:ext cx="1187871" cy="256163"/>
            </a:xfrm>
            <a:prstGeom prst="rect">
              <a:avLst/>
            </a:prstGeom>
          </p:spPr>
        </p:pic>
      </p:grpSp>
      <p:pic>
        <p:nvPicPr>
          <p:cNvPr id="3" name="Picture 2">
            <a:extLst>
              <a:ext uri="{FF2B5EF4-FFF2-40B4-BE49-F238E27FC236}">
                <a16:creationId xmlns:a16="http://schemas.microsoft.com/office/drawing/2014/main" id="{EDCB6E27-ACCE-1423-BA14-34D87334AB69}"/>
              </a:ext>
            </a:extLst>
          </p:cNvPr>
          <p:cNvPicPr>
            <a:picLocks noChangeAspect="1"/>
          </p:cNvPicPr>
          <p:nvPr/>
        </p:nvPicPr>
        <p:blipFill>
          <a:blip r:embed="rId5"/>
          <a:srcRect/>
          <a:stretch/>
        </p:blipFill>
        <p:spPr>
          <a:xfrm>
            <a:off x="10493" y="1318105"/>
            <a:ext cx="12192541" cy="4918101"/>
          </a:xfrm>
          <a:prstGeom prst="rect">
            <a:avLst/>
          </a:prstGeom>
        </p:spPr>
      </p:pic>
      <p:sp>
        <p:nvSpPr>
          <p:cNvPr id="7" name="Rectangle 6">
            <a:extLst>
              <a:ext uri="{FF2B5EF4-FFF2-40B4-BE49-F238E27FC236}">
                <a16:creationId xmlns:a16="http://schemas.microsoft.com/office/drawing/2014/main" id="{43AE36E7-26DF-C912-C8BB-AE2D3BE8B40D}"/>
              </a:ext>
            </a:extLst>
          </p:cNvPr>
          <p:cNvSpPr/>
          <p:nvPr/>
        </p:nvSpPr>
        <p:spPr>
          <a:xfrm>
            <a:off x="1894560" y="1826465"/>
            <a:ext cx="1503471" cy="4296681"/>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B47D9BB-9C7D-7D35-F023-523B2901FECE}"/>
              </a:ext>
            </a:extLst>
          </p:cNvPr>
          <p:cNvSpPr txBox="1"/>
          <p:nvPr/>
        </p:nvSpPr>
        <p:spPr>
          <a:xfrm>
            <a:off x="1835062" y="3328475"/>
            <a:ext cx="1622469" cy="646331"/>
          </a:xfrm>
          <a:prstGeom prst="rect">
            <a:avLst/>
          </a:prstGeom>
          <a:noFill/>
        </p:spPr>
        <p:txBody>
          <a:bodyPr wrap="square" rtlCol="0">
            <a:spAutoFit/>
          </a:bodyPr>
          <a:lstStyle/>
          <a:p>
            <a:pPr algn="ctr"/>
            <a:r>
              <a:rPr lang="en-US" dirty="0">
                <a:solidFill>
                  <a:srgbClr val="FF0000"/>
                </a:solidFill>
              </a:rPr>
              <a:t>Prompt contaminated</a:t>
            </a:r>
          </a:p>
        </p:txBody>
      </p:sp>
    </p:spTree>
    <p:extLst>
      <p:ext uri="{BB962C8B-B14F-4D97-AF65-F5344CB8AC3E}">
        <p14:creationId xmlns:p14="http://schemas.microsoft.com/office/powerpoint/2010/main" val="847140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27B14-B7E1-C120-CE63-C5DCA9471A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A222D3-13D6-CBA5-57BF-660970028E7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6C31F6B-4D85-381B-E772-F203671CC98E}"/>
              </a:ext>
            </a:extLst>
          </p:cNvPr>
          <p:cNvPicPr>
            <a:picLocks noChangeAspect="1"/>
          </p:cNvPicPr>
          <p:nvPr/>
        </p:nvPicPr>
        <p:blipFill>
          <a:blip r:embed="rId2"/>
          <a:srcRect r="4730"/>
          <a:stretch>
            <a:fillRect/>
          </a:stretch>
        </p:blipFill>
        <p:spPr>
          <a:xfrm>
            <a:off x="457200" y="109628"/>
            <a:ext cx="10744200" cy="6383247"/>
          </a:xfrm>
          <a:prstGeom prst="rect">
            <a:avLst/>
          </a:prstGeom>
        </p:spPr>
      </p:pic>
      <p:grpSp>
        <p:nvGrpSpPr>
          <p:cNvPr id="6" name="Group 5">
            <a:extLst>
              <a:ext uri="{FF2B5EF4-FFF2-40B4-BE49-F238E27FC236}">
                <a16:creationId xmlns:a16="http://schemas.microsoft.com/office/drawing/2014/main" id="{5264C782-1D5D-20E4-D773-E49FA1B21213}"/>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8932DBD0-D79D-66C4-43FF-3E01EBA5A5E5}"/>
                </a:ext>
              </a:extLst>
            </p:cNvPr>
            <p:cNvPicPr>
              <a:picLocks noChangeAspect="1"/>
            </p:cNvPicPr>
            <p:nvPr/>
          </p:nvPicPr>
          <p:blipFill>
            <a:blip r:embed="rId3"/>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8F0BD913-E426-EA61-1DE1-391F74503AEA}"/>
                </a:ext>
              </a:extLst>
            </p:cNvPr>
            <p:cNvPicPr>
              <a:picLocks noChangeAspect="1"/>
            </p:cNvPicPr>
            <p:nvPr/>
          </p:nvPicPr>
          <p:blipFill>
            <a:blip r:embed="rId4"/>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ADE742C8-550D-281D-D0C8-AE9EA384F1F0}"/>
                </a:ext>
              </a:extLst>
            </p:cNvPr>
            <p:cNvPicPr>
              <a:picLocks noChangeAspect="1"/>
            </p:cNvPicPr>
            <p:nvPr/>
          </p:nvPicPr>
          <p:blipFill>
            <a:blip r:embed="rId4"/>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588D7052-B030-FA48-4FA6-99C06D110B24}"/>
                </a:ext>
              </a:extLst>
            </p:cNvPr>
            <p:cNvPicPr>
              <a:picLocks noChangeAspect="1"/>
            </p:cNvPicPr>
            <p:nvPr/>
          </p:nvPicPr>
          <p:blipFill>
            <a:blip r:embed="rId4"/>
            <a:srcRect l="74453" t="-1919" r="-1"/>
            <a:stretch>
              <a:fillRect/>
            </a:stretch>
          </p:blipFill>
          <p:spPr>
            <a:xfrm>
              <a:off x="9341271" y="105532"/>
              <a:ext cx="1187871" cy="256163"/>
            </a:xfrm>
            <a:prstGeom prst="rect">
              <a:avLst/>
            </a:prstGeom>
          </p:spPr>
        </p:pic>
      </p:grpSp>
    </p:spTree>
    <p:extLst>
      <p:ext uri="{BB962C8B-B14F-4D97-AF65-F5344CB8AC3E}">
        <p14:creationId xmlns:p14="http://schemas.microsoft.com/office/powerpoint/2010/main" val="1214282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BF1C6-DD81-19C9-DD2A-D2E816242C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1283C3-4FBA-0E34-FC75-FD41254714A0}"/>
              </a:ext>
            </a:extLst>
          </p:cNvPr>
          <p:cNvSpPr>
            <a:spLocks noGrp="1"/>
          </p:cNvSpPr>
          <p:nvPr>
            <p:ph idx="1"/>
          </p:nvPr>
        </p:nvSpPr>
        <p:spPr/>
        <p:txBody>
          <a:bodyPr/>
          <a:lstStyle/>
          <a:p>
            <a:endParaRPr lang="en-US"/>
          </a:p>
        </p:txBody>
      </p:sp>
      <p:grpSp>
        <p:nvGrpSpPr>
          <p:cNvPr id="4" name="Group 3">
            <a:extLst>
              <a:ext uri="{FF2B5EF4-FFF2-40B4-BE49-F238E27FC236}">
                <a16:creationId xmlns:a16="http://schemas.microsoft.com/office/drawing/2014/main" id="{63000E8D-D313-4895-1910-B3132FE8EC42}"/>
              </a:ext>
            </a:extLst>
          </p:cNvPr>
          <p:cNvGrpSpPr/>
          <p:nvPr/>
        </p:nvGrpSpPr>
        <p:grpSpPr>
          <a:xfrm>
            <a:off x="6476336" y="68054"/>
            <a:ext cx="5330418" cy="319138"/>
            <a:chOff x="6476336" y="68054"/>
            <a:chExt cx="5330418" cy="319138"/>
          </a:xfrm>
        </p:grpSpPr>
        <p:pic>
          <p:nvPicPr>
            <p:cNvPr id="5" name="Picture 4">
              <a:extLst>
                <a:ext uri="{FF2B5EF4-FFF2-40B4-BE49-F238E27FC236}">
                  <a16:creationId xmlns:a16="http://schemas.microsoft.com/office/drawing/2014/main" id="{FB2812B8-EBDB-B2DF-9704-DECA34A7347B}"/>
                </a:ext>
              </a:extLst>
            </p:cNvPr>
            <p:cNvPicPr>
              <a:picLocks noChangeAspect="1"/>
            </p:cNvPicPr>
            <p:nvPr/>
          </p:nvPicPr>
          <p:blipFill>
            <a:blip r:embed="rId2"/>
            <a:stretch>
              <a:fillRect/>
            </a:stretch>
          </p:blipFill>
          <p:spPr>
            <a:xfrm>
              <a:off x="10499496" y="99729"/>
              <a:ext cx="1307258" cy="244347"/>
            </a:xfrm>
            <a:prstGeom prst="rect">
              <a:avLst/>
            </a:prstGeom>
          </p:spPr>
        </p:pic>
        <p:pic>
          <p:nvPicPr>
            <p:cNvPr id="6" name="Picture 5">
              <a:extLst>
                <a:ext uri="{FF2B5EF4-FFF2-40B4-BE49-F238E27FC236}">
                  <a16:creationId xmlns:a16="http://schemas.microsoft.com/office/drawing/2014/main" id="{7E003602-7615-ECB7-BCA6-1295129BFECA}"/>
                </a:ext>
              </a:extLst>
            </p:cNvPr>
            <p:cNvPicPr>
              <a:picLocks noChangeAspect="1"/>
            </p:cNvPicPr>
            <p:nvPr/>
          </p:nvPicPr>
          <p:blipFill>
            <a:blip r:embed="rId3"/>
            <a:srcRect r="69662" b="4545"/>
            <a:stretch>
              <a:fillRect/>
            </a:stretch>
          </p:blipFill>
          <p:spPr>
            <a:xfrm>
              <a:off x="7773154" y="92338"/>
              <a:ext cx="1568117" cy="266700"/>
            </a:xfrm>
            <a:prstGeom prst="rect">
              <a:avLst/>
            </a:prstGeom>
          </p:spPr>
        </p:pic>
        <p:pic>
          <p:nvPicPr>
            <p:cNvPr id="7" name="Picture 6">
              <a:extLst>
                <a:ext uri="{FF2B5EF4-FFF2-40B4-BE49-F238E27FC236}">
                  <a16:creationId xmlns:a16="http://schemas.microsoft.com/office/drawing/2014/main" id="{49A347B2-54F1-6DA7-F489-3B95A20A924C}"/>
                </a:ext>
              </a:extLst>
            </p:cNvPr>
            <p:cNvPicPr>
              <a:picLocks noChangeAspect="1"/>
            </p:cNvPicPr>
            <p:nvPr/>
          </p:nvPicPr>
          <p:blipFill>
            <a:blip r:embed="rId3"/>
            <a:srcRect l="39541" t="-12443" r="33957" b="-2588"/>
            <a:stretch>
              <a:fillRect/>
            </a:stretch>
          </p:blipFill>
          <p:spPr>
            <a:xfrm>
              <a:off x="6476336" y="68054"/>
              <a:ext cx="1360248" cy="319138"/>
            </a:xfrm>
            <a:prstGeom prst="rect">
              <a:avLst/>
            </a:prstGeom>
          </p:spPr>
        </p:pic>
        <p:pic>
          <p:nvPicPr>
            <p:cNvPr id="8" name="Picture 7">
              <a:extLst>
                <a:ext uri="{FF2B5EF4-FFF2-40B4-BE49-F238E27FC236}">
                  <a16:creationId xmlns:a16="http://schemas.microsoft.com/office/drawing/2014/main" id="{1577BC41-EB5E-650E-A6E2-B9F4CF24D64A}"/>
                </a:ext>
              </a:extLst>
            </p:cNvPr>
            <p:cNvPicPr>
              <a:picLocks noChangeAspect="1"/>
            </p:cNvPicPr>
            <p:nvPr/>
          </p:nvPicPr>
          <p:blipFill>
            <a:blip r:embed="rId3"/>
            <a:srcRect l="74453" t="-1919" r="-1"/>
            <a:stretch>
              <a:fillRect/>
            </a:stretch>
          </p:blipFill>
          <p:spPr>
            <a:xfrm>
              <a:off x="9341271" y="105532"/>
              <a:ext cx="1187871" cy="256163"/>
            </a:xfrm>
            <a:prstGeom prst="rect">
              <a:avLst/>
            </a:prstGeom>
          </p:spPr>
        </p:pic>
      </p:grpSp>
      <p:pic>
        <p:nvPicPr>
          <p:cNvPr id="9" name="Picture 8">
            <a:extLst>
              <a:ext uri="{FF2B5EF4-FFF2-40B4-BE49-F238E27FC236}">
                <a16:creationId xmlns:a16="http://schemas.microsoft.com/office/drawing/2014/main" id="{CB1865B3-E63B-D0CC-D2A3-195604675C85}"/>
              </a:ext>
            </a:extLst>
          </p:cNvPr>
          <p:cNvPicPr>
            <a:picLocks noChangeAspect="1"/>
          </p:cNvPicPr>
          <p:nvPr/>
        </p:nvPicPr>
        <p:blipFill>
          <a:blip r:embed="rId4"/>
          <a:stretch>
            <a:fillRect/>
          </a:stretch>
        </p:blipFill>
        <p:spPr>
          <a:xfrm>
            <a:off x="840151" y="507169"/>
            <a:ext cx="10513649" cy="6258493"/>
          </a:xfrm>
          <a:prstGeom prst="rect">
            <a:avLst/>
          </a:prstGeom>
        </p:spPr>
      </p:pic>
    </p:spTree>
    <p:extLst>
      <p:ext uri="{BB962C8B-B14F-4D97-AF65-F5344CB8AC3E}">
        <p14:creationId xmlns:p14="http://schemas.microsoft.com/office/powerpoint/2010/main" val="1842743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E552A-6030-0F27-52E6-63979DD1F5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799606-C110-63A1-03A3-50FBC46056E7}"/>
              </a:ext>
            </a:extLst>
          </p:cNvPr>
          <p:cNvSpPr>
            <a:spLocks noGrp="1"/>
          </p:cNvSpPr>
          <p:nvPr>
            <p:ph idx="1"/>
          </p:nvPr>
        </p:nvSpPr>
        <p:spPr/>
        <p:txBody>
          <a:bodyPr/>
          <a:lstStyle/>
          <a:p>
            <a:endParaRPr lang="en-US"/>
          </a:p>
        </p:txBody>
      </p:sp>
      <p:grpSp>
        <p:nvGrpSpPr>
          <p:cNvPr id="4" name="Group 3">
            <a:extLst>
              <a:ext uri="{FF2B5EF4-FFF2-40B4-BE49-F238E27FC236}">
                <a16:creationId xmlns:a16="http://schemas.microsoft.com/office/drawing/2014/main" id="{FB6ACBBD-0E39-1667-7C75-7FC29195DC00}"/>
              </a:ext>
            </a:extLst>
          </p:cNvPr>
          <p:cNvGrpSpPr/>
          <p:nvPr/>
        </p:nvGrpSpPr>
        <p:grpSpPr>
          <a:xfrm>
            <a:off x="6476336" y="68054"/>
            <a:ext cx="5330418" cy="319138"/>
            <a:chOff x="6476336" y="68054"/>
            <a:chExt cx="5330418" cy="319138"/>
          </a:xfrm>
        </p:grpSpPr>
        <p:pic>
          <p:nvPicPr>
            <p:cNvPr id="5" name="Picture 4">
              <a:extLst>
                <a:ext uri="{FF2B5EF4-FFF2-40B4-BE49-F238E27FC236}">
                  <a16:creationId xmlns:a16="http://schemas.microsoft.com/office/drawing/2014/main" id="{BBEC76E3-4904-3351-E9BD-5E7B786F11EE}"/>
                </a:ext>
              </a:extLst>
            </p:cNvPr>
            <p:cNvPicPr>
              <a:picLocks noChangeAspect="1"/>
            </p:cNvPicPr>
            <p:nvPr/>
          </p:nvPicPr>
          <p:blipFill>
            <a:blip r:embed="rId2"/>
            <a:stretch>
              <a:fillRect/>
            </a:stretch>
          </p:blipFill>
          <p:spPr>
            <a:xfrm>
              <a:off x="10499496" y="99729"/>
              <a:ext cx="1307258" cy="244347"/>
            </a:xfrm>
            <a:prstGeom prst="rect">
              <a:avLst/>
            </a:prstGeom>
          </p:spPr>
        </p:pic>
        <p:pic>
          <p:nvPicPr>
            <p:cNvPr id="6" name="Picture 5">
              <a:extLst>
                <a:ext uri="{FF2B5EF4-FFF2-40B4-BE49-F238E27FC236}">
                  <a16:creationId xmlns:a16="http://schemas.microsoft.com/office/drawing/2014/main" id="{297F127C-E3D0-6473-A3D2-7B0EE6508F37}"/>
                </a:ext>
              </a:extLst>
            </p:cNvPr>
            <p:cNvPicPr>
              <a:picLocks noChangeAspect="1"/>
            </p:cNvPicPr>
            <p:nvPr/>
          </p:nvPicPr>
          <p:blipFill>
            <a:blip r:embed="rId3"/>
            <a:srcRect r="69662" b="4545"/>
            <a:stretch>
              <a:fillRect/>
            </a:stretch>
          </p:blipFill>
          <p:spPr>
            <a:xfrm>
              <a:off x="7773154" y="92338"/>
              <a:ext cx="1568117" cy="266700"/>
            </a:xfrm>
            <a:prstGeom prst="rect">
              <a:avLst/>
            </a:prstGeom>
          </p:spPr>
        </p:pic>
        <p:pic>
          <p:nvPicPr>
            <p:cNvPr id="7" name="Picture 6">
              <a:extLst>
                <a:ext uri="{FF2B5EF4-FFF2-40B4-BE49-F238E27FC236}">
                  <a16:creationId xmlns:a16="http://schemas.microsoft.com/office/drawing/2014/main" id="{081BF71A-10FD-A033-3BB2-82E40BD12E47}"/>
                </a:ext>
              </a:extLst>
            </p:cNvPr>
            <p:cNvPicPr>
              <a:picLocks noChangeAspect="1"/>
            </p:cNvPicPr>
            <p:nvPr/>
          </p:nvPicPr>
          <p:blipFill>
            <a:blip r:embed="rId3"/>
            <a:srcRect l="39541" t="-12443" r="33957" b="-2588"/>
            <a:stretch>
              <a:fillRect/>
            </a:stretch>
          </p:blipFill>
          <p:spPr>
            <a:xfrm>
              <a:off x="6476336" y="68054"/>
              <a:ext cx="1360248" cy="319138"/>
            </a:xfrm>
            <a:prstGeom prst="rect">
              <a:avLst/>
            </a:prstGeom>
          </p:spPr>
        </p:pic>
        <p:pic>
          <p:nvPicPr>
            <p:cNvPr id="8" name="Picture 7">
              <a:extLst>
                <a:ext uri="{FF2B5EF4-FFF2-40B4-BE49-F238E27FC236}">
                  <a16:creationId xmlns:a16="http://schemas.microsoft.com/office/drawing/2014/main" id="{5CE3F1B5-9D2B-675D-A7BF-44CC5BBBD534}"/>
                </a:ext>
              </a:extLst>
            </p:cNvPr>
            <p:cNvPicPr>
              <a:picLocks noChangeAspect="1"/>
            </p:cNvPicPr>
            <p:nvPr/>
          </p:nvPicPr>
          <p:blipFill>
            <a:blip r:embed="rId3"/>
            <a:srcRect l="74453" t="-1919" r="-1"/>
            <a:stretch>
              <a:fillRect/>
            </a:stretch>
          </p:blipFill>
          <p:spPr>
            <a:xfrm>
              <a:off x="9341271" y="105532"/>
              <a:ext cx="1187871" cy="256163"/>
            </a:xfrm>
            <a:prstGeom prst="rect">
              <a:avLst/>
            </a:prstGeom>
          </p:spPr>
        </p:pic>
      </p:grpSp>
      <p:pic>
        <p:nvPicPr>
          <p:cNvPr id="9" name="Picture 8">
            <a:extLst>
              <a:ext uri="{FF2B5EF4-FFF2-40B4-BE49-F238E27FC236}">
                <a16:creationId xmlns:a16="http://schemas.microsoft.com/office/drawing/2014/main" id="{35740ADD-9B6D-5F67-9C67-D1CC3E6FDD1F}"/>
              </a:ext>
            </a:extLst>
          </p:cNvPr>
          <p:cNvPicPr>
            <a:picLocks noChangeAspect="1"/>
          </p:cNvPicPr>
          <p:nvPr/>
        </p:nvPicPr>
        <p:blipFill>
          <a:blip r:embed="rId4"/>
          <a:stretch>
            <a:fillRect/>
          </a:stretch>
        </p:blipFill>
        <p:spPr>
          <a:xfrm>
            <a:off x="838200" y="408241"/>
            <a:ext cx="10515715" cy="6393430"/>
          </a:xfrm>
          <a:prstGeom prst="rect">
            <a:avLst/>
          </a:prstGeom>
        </p:spPr>
      </p:pic>
    </p:spTree>
    <p:extLst>
      <p:ext uri="{BB962C8B-B14F-4D97-AF65-F5344CB8AC3E}">
        <p14:creationId xmlns:p14="http://schemas.microsoft.com/office/powerpoint/2010/main" val="296057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D3B63-0D48-4187-26EA-BA332AC30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0B396-AAE1-88A7-5B84-BDCC363C41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EBECC9-425C-B7C6-4E1A-8B529E3D2CED}"/>
              </a:ext>
            </a:extLst>
          </p:cNvPr>
          <p:cNvSpPr>
            <a:spLocks noGrp="1"/>
          </p:cNvSpPr>
          <p:nvPr>
            <p:ph idx="1"/>
          </p:nvPr>
        </p:nvSpPr>
        <p:spPr/>
        <p:txBody>
          <a:bodyPr/>
          <a:lstStyle/>
          <a:p>
            <a:endParaRPr lang="en-US" dirty="0"/>
          </a:p>
        </p:txBody>
      </p:sp>
      <p:grpSp>
        <p:nvGrpSpPr>
          <p:cNvPr id="4" name="Group 3">
            <a:extLst>
              <a:ext uri="{FF2B5EF4-FFF2-40B4-BE49-F238E27FC236}">
                <a16:creationId xmlns:a16="http://schemas.microsoft.com/office/drawing/2014/main" id="{684355D2-7B79-9A85-34E7-C8B0369EFA0D}"/>
              </a:ext>
            </a:extLst>
          </p:cNvPr>
          <p:cNvGrpSpPr/>
          <p:nvPr/>
        </p:nvGrpSpPr>
        <p:grpSpPr>
          <a:xfrm>
            <a:off x="6476336" y="68054"/>
            <a:ext cx="5330418" cy="319138"/>
            <a:chOff x="6476336" y="68054"/>
            <a:chExt cx="5330418" cy="319138"/>
          </a:xfrm>
        </p:grpSpPr>
        <p:pic>
          <p:nvPicPr>
            <p:cNvPr id="5" name="Picture 4">
              <a:extLst>
                <a:ext uri="{FF2B5EF4-FFF2-40B4-BE49-F238E27FC236}">
                  <a16:creationId xmlns:a16="http://schemas.microsoft.com/office/drawing/2014/main" id="{969FF9A5-82BF-17E8-D35B-02B129A0390F}"/>
                </a:ext>
              </a:extLst>
            </p:cNvPr>
            <p:cNvPicPr>
              <a:picLocks noChangeAspect="1"/>
            </p:cNvPicPr>
            <p:nvPr/>
          </p:nvPicPr>
          <p:blipFill>
            <a:blip r:embed="rId2"/>
            <a:stretch>
              <a:fillRect/>
            </a:stretch>
          </p:blipFill>
          <p:spPr>
            <a:xfrm>
              <a:off x="10499496" y="99729"/>
              <a:ext cx="1307258" cy="244347"/>
            </a:xfrm>
            <a:prstGeom prst="rect">
              <a:avLst/>
            </a:prstGeom>
          </p:spPr>
        </p:pic>
        <p:pic>
          <p:nvPicPr>
            <p:cNvPr id="6" name="Picture 5">
              <a:extLst>
                <a:ext uri="{FF2B5EF4-FFF2-40B4-BE49-F238E27FC236}">
                  <a16:creationId xmlns:a16="http://schemas.microsoft.com/office/drawing/2014/main" id="{E128FDBC-E106-C77C-4899-D2375304FD49}"/>
                </a:ext>
              </a:extLst>
            </p:cNvPr>
            <p:cNvPicPr>
              <a:picLocks noChangeAspect="1"/>
            </p:cNvPicPr>
            <p:nvPr/>
          </p:nvPicPr>
          <p:blipFill>
            <a:blip r:embed="rId3"/>
            <a:srcRect r="69662" b="4545"/>
            <a:stretch>
              <a:fillRect/>
            </a:stretch>
          </p:blipFill>
          <p:spPr>
            <a:xfrm>
              <a:off x="7773154" y="92338"/>
              <a:ext cx="1568117" cy="266700"/>
            </a:xfrm>
            <a:prstGeom prst="rect">
              <a:avLst/>
            </a:prstGeom>
          </p:spPr>
        </p:pic>
        <p:pic>
          <p:nvPicPr>
            <p:cNvPr id="7" name="Picture 6">
              <a:extLst>
                <a:ext uri="{FF2B5EF4-FFF2-40B4-BE49-F238E27FC236}">
                  <a16:creationId xmlns:a16="http://schemas.microsoft.com/office/drawing/2014/main" id="{BB64980C-4EB8-7261-C2A6-A9E5F904A217}"/>
                </a:ext>
              </a:extLst>
            </p:cNvPr>
            <p:cNvPicPr>
              <a:picLocks noChangeAspect="1"/>
            </p:cNvPicPr>
            <p:nvPr/>
          </p:nvPicPr>
          <p:blipFill>
            <a:blip r:embed="rId3"/>
            <a:srcRect l="39541" t="-12443" r="33957" b="-2588"/>
            <a:stretch>
              <a:fillRect/>
            </a:stretch>
          </p:blipFill>
          <p:spPr>
            <a:xfrm>
              <a:off x="6476336" y="68054"/>
              <a:ext cx="1360248" cy="319138"/>
            </a:xfrm>
            <a:prstGeom prst="rect">
              <a:avLst/>
            </a:prstGeom>
          </p:spPr>
        </p:pic>
        <p:pic>
          <p:nvPicPr>
            <p:cNvPr id="8" name="Picture 7">
              <a:extLst>
                <a:ext uri="{FF2B5EF4-FFF2-40B4-BE49-F238E27FC236}">
                  <a16:creationId xmlns:a16="http://schemas.microsoft.com/office/drawing/2014/main" id="{9FAD82D8-FB50-BE6C-E727-11268452D2F3}"/>
                </a:ext>
              </a:extLst>
            </p:cNvPr>
            <p:cNvPicPr>
              <a:picLocks noChangeAspect="1"/>
            </p:cNvPicPr>
            <p:nvPr/>
          </p:nvPicPr>
          <p:blipFill>
            <a:blip r:embed="rId3"/>
            <a:srcRect l="74453" t="-1919" r="-1"/>
            <a:stretch>
              <a:fillRect/>
            </a:stretch>
          </p:blipFill>
          <p:spPr>
            <a:xfrm>
              <a:off x="9341271" y="105532"/>
              <a:ext cx="1187871" cy="256163"/>
            </a:xfrm>
            <a:prstGeom prst="rect">
              <a:avLst/>
            </a:prstGeom>
          </p:spPr>
        </p:pic>
      </p:grpSp>
      <p:pic>
        <p:nvPicPr>
          <p:cNvPr id="9" name="Picture 8">
            <a:extLst>
              <a:ext uri="{FF2B5EF4-FFF2-40B4-BE49-F238E27FC236}">
                <a16:creationId xmlns:a16="http://schemas.microsoft.com/office/drawing/2014/main" id="{3E80F316-A743-53E6-1F29-0B64DBFBE31E}"/>
              </a:ext>
            </a:extLst>
          </p:cNvPr>
          <p:cNvPicPr>
            <a:picLocks noChangeAspect="1"/>
          </p:cNvPicPr>
          <p:nvPr/>
        </p:nvPicPr>
        <p:blipFill>
          <a:blip r:embed="rId4"/>
          <a:srcRect/>
          <a:stretch/>
        </p:blipFill>
        <p:spPr>
          <a:xfrm>
            <a:off x="1901344" y="408241"/>
            <a:ext cx="8389427" cy="6393430"/>
          </a:xfrm>
          <a:prstGeom prst="rect">
            <a:avLst/>
          </a:prstGeom>
        </p:spPr>
      </p:pic>
    </p:spTree>
    <p:extLst>
      <p:ext uri="{BB962C8B-B14F-4D97-AF65-F5344CB8AC3E}">
        <p14:creationId xmlns:p14="http://schemas.microsoft.com/office/powerpoint/2010/main" val="26016296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96090-4649-C3D9-E5D8-F686E3B9BDBB}"/>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4177B6A3-0DAF-F831-1A33-334CA452985C}"/>
              </a:ext>
            </a:extLst>
          </p:cNvPr>
          <p:cNvSpPr>
            <a:spLocks noGrp="1"/>
          </p:cNvSpPr>
          <p:nvPr>
            <p:ph idx="1"/>
          </p:nvPr>
        </p:nvSpPr>
        <p:spPr/>
        <p:txBody>
          <a:bodyPr/>
          <a:lstStyle/>
          <a:p>
            <a:r>
              <a:rPr lang="en-US" dirty="0"/>
              <a:t>Is this coherent?</a:t>
            </a:r>
          </a:p>
          <a:p>
            <a:r>
              <a:rPr lang="en-US" dirty="0"/>
              <a:t>Add some measure of model uncertainty?</a:t>
            </a:r>
          </a:p>
          <a:p>
            <a:pPr lvl="1"/>
            <a:r>
              <a:rPr lang="en-US" dirty="0"/>
              <a:t>E.g., </a:t>
            </a:r>
            <a:r>
              <a:rPr lang="en-US" dirty="0" err="1"/>
              <a:t>logprob</a:t>
            </a:r>
            <a:r>
              <a:rPr lang="en-US" dirty="0"/>
              <a:t> Denial?</a:t>
            </a:r>
          </a:p>
          <a:p>
            <a:pPr lvl="1"/>
            <a:r>
              <a:rPr lang="en-US" dirty="0"/>
              <a:t>Or other possible options?</a:t>
            </a:r>
          </a:p>
          <a:p>
            <a:r>
              <a:rPr lang="en-US" dirty="0"/>
              <a:t>Add primer on CHAT transcription format to prompt?</a:t>
            </a:r>
          </a:p>
          <a:p>
            <a:r>
              <a:rPr lang="en-US" dirty="0"/>
              <a:t>What models to use with other languages?</a:t>
            </a:r>
          </a:p>
          <a:p>
            <a:pPr lvl="1"/>
            <a:r>
              <a:rPr lang="en-US" dirty="0"/>
              <a:t>Tagalog!</a:t>
            </a:r>
          </a:p>
          <a:p>
            <a:r>
              <a:rPr lang="en-US" dirty="0"/>
              <a:t>Thinking? Right now they are</a:t>
            </a:r>
          </a:p>
          <a:p>
            <a:r>
              <a:rPr lang="en-US" dirty="0"/>
              <a:t>What is a realistic agreement target?</a:t>
            </a:r>
          </a:p>
        </p:txBody>
      </p:sp>
    </p:spTree>
    <p:extLst>
      <p:ext uri="{BB962C8B-B14F-4D97-AF65-F5344CB8AC3E}">
        <p14:creationId xmlns:p14="http://schemas.microsoft.com/office/powerpoint/2010/main" val="22782250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788333" y="157956"/>
            <a:ext cx="10403667" cy="6542088"/>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7B1A1F-3D08-EC2B-224E-E013D1388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3C84B-E79D-9315-A94C-CD39A2B3385A}"/>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4EE37135-F675-4C06-B57F-B30C84641AC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C8FC2A7-B273-F66A-9FB2-622C4C1358D5}"/>
              </a:ext>
            </a:extLst>
          </p:cNvPr>
          <p:cNvPicPr>
            <a:picLocks noChangeAspect="1"/>
          </p:cNvPicPr>
          <p:nvPr/>
        </p:nvPicPr>
        <p:blipFill>
          <a:blip r:embed="rId2"/>
          <a:srcRect/>
          <a:stretch/>
        </p:blipFill>
        <p:spPr>
          <a:xfrm>
            <a:off x="2885483" y="157956"/>
            <a:ext cx="8209367" cy="6542088"/>
          </a:xfrm>
          <a:prstGeom prst="rect">
            <a:avLst/>
          </a:prstGeom>
        </p:spPr>
      </p:pic>
    </p:spTree>
    <p:extLst>
      <p:ext uri="{BB962C8B-B14F-4D97-AF65-F5344CB8AC3E}">
        <p14:creationId xmlns:p14="http://schemas.microsoft.com/office/powerpoint/2010/main" val="1055737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B368BE-B5F4-639A-20DD-4E0467E9E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ED362-075F-49C4-E206-6EC3BDE47E6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E14BBF59-C3FC-2DDF-AC9C-E6ADCBBC39F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7484B72-DD65-9ADA-9AD3-E0C9AFB28ACC}"/>
              </a:ext>
            </a:extLst>
          </p:cNvPr>
          <p:cNvPicPr>
            <a:picLocks noChangeAspect="1"/>
          </p:cNvPicPr>
          <p:nvPr/>
        </p:nvPicPr>
        <p:blipFill>
          <a:blip r:embed="rId2"/>
          <a:srcRect/>
          <a:stretch/>
        </p:blipFill>
        <p:spPr>
          <a:xfrm>
            <a:off x="1863530" y="157956"/>
            <a:ext cx="10253272" cy="6542088"/>
          </a:xfrm>
          <a:prstGeom prst="rect">
            <a:avLst/>
          </a:prstGeom>
        </p:spPr>
      </p:pic>
    </p:spTree>
    <p:extLst>
      <p:ext uri="{BB962C8B-B14F-4D97-AF65-F5344CB8AC3E}">
        <p14:creationId xmlns:p14="http://schemas.microsoft.com/office/powerpoint/2010/main" val="10033558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3"/>
          <a:stretch>
            <a:fillRect/>
          </a:stretch>
        </p:blipFill>
        <p:spPr>
          <a:xfrm>
            <a:off x="2850396" y="250000"/>
            <a:ext cx="8241208"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BD581D-FCCD-9F7B-40F1-514C84088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1ECB8-946F-D1E3-7EF1-D18D9E6DC2DA}"/>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4D62E108-524D-09CA-D284-E004580E3B9B}"/>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848693FE-EC28-0E8D-E4CA-EC7EA787627B}"/>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BD5EC79F-E4B1-3433-E3CB-1312278A32BF}"/>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0A6375C-2C29-1017-272D-E9F5004595B7}"/>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D2FEAFC0-2B0B-27AF-2DF4-8C99603147E7}"/>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4E363997-26D0-B8FE-B532-7D74BA121142}"/>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77E77D0B-D20B-5179-9EA9-04A0475485A4}"/>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7A4A1724-2D48-8125-748A-0560A7DFA44A}"/>
              </a:ext>
            </a:extLst>
          </p:cNvPr>
          <p:cNvSpPr/>
          <p:nvPr/>
        </p:nvSpPr>
        <p:spPr>
          <a:xfrm>
            <a:off x="3710609" y="652711"/>
            <a:ext cx="8083826" cy="57887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2124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v1 → v2</a:t>
            </a:r>
          </a:p>
        </p:txBody>
      </p:sp>
      <p:sp>
        <p:nvSpPr>
          <p:cNvPr id="3" name="Content Placeholder 2"/>
          <p:cNvSpPr>
            <a:spLocks noGrp="1"/>
          </p:cNvSpPr>
          <p:nvPr>
            <p:ph idx="1"/>
          </p:nvPr>
        </p:nvSpPr>
        <p:spPr/>
        <p:txBody>
          <a:bodyPr>
            <a:normAutofit/>
          </a:bodyPr>
          <a:lstStyle/>
          <a:p>
            <a:r>
              <a:rPr lang="en-US" sz="1500" b="1" dirty="0"/>
              <a:t>Explain first, then label.  </a:t>
            </a:r>
            <a:r>
              <a:rPr lang="en-US" sz="1500" dirty="0"/>
              <a:t>v1 sometimes reasoned its way to the right answer but wrote down a different one. Now it must give its reasoning first, then pick the matching label </a:t>
            </a:r>
          </a:p>
          <a:p>
            <a:r>
              <a:rPr lang="en-US" sz="1500" b="1" dirty="0"/>
              <a:t>A clearer line between refusing and correcting.  </a:t>
            </a:r>
            <a:r>
              <a:rPr lang="en-US" sz="1500" dirty="0"/>
              <a:t>A child’s “no” can mean refusing something (“Want broccoli?” → “No!”) or saying something isn’t true (“That’s not a dog”). v1 called too much “refusing”; v2 reserves it for actually pushing back on a thing or action.</a:t>
            </a:r>
          </a:p>
          <a:p>
            <a:r>
              <a:rPr lang="en-US" sz="1500" b="1" dirty="0"/>
              <a:t>Handling “don’t…” commands.  </a:t>
            </a:r>
            <a:r>
              <a:rPr lang="en-US" sz="1500" dirty="0"/>
              <a:t>“Don’t do that” can mean stop an action (refusing) or restate a rule (correcting). v2 now tells these apart.</a:t>
            </a:r>
          </a:p>
          <a:p>
            <a:r>
              <a:rPr lang="en-US" sz="1500" b="1" dirty="0"/>
              <a:t>Keep real negations.  </a:t>
            </a:r>
            <a:r>
              <a:rPr lang="en-US" sz="1500" dirty="0"/>
              <a:t>v1 threw out some genuine “no”s as un-analyzable. v2 only sets one aside for clear reasons (singing, copying a grown-up) and otherwise marks it “unclear.”</a:t>
            </a:r>
          </a:p>
          <a:p>
            <a:r>
              <a:rPr lang="en-US" sz="1500" b="1" dirty="0"/>
              <a:t>Notice repeats.  </a:t>
            </a:r>
            <a:r>
              <a:rPr lang="en-US" sz="1500" dirty="0"/>
              <a:t>“No no no” is one idea said three times. v2 is now told each word’s position so it can flag the repeats.</a:t>
            </a:r>
          </a:p>
          <a:p>
            <a:r>
              <a:rPr lang="en-US" sz="1500" b="1" dirty="0"/>
              <a:t>Added worked examples — </a:t>
            </a:r>
            <a:r>
              <a:rPr lang="en-US" sz="1500" dirty="0"/>
              <a:t>one for each kind of mistake v1 made.</a:t>
            </a:r>
          </a:p>
          <a:p>
            <a:pPr lvl="1"/>
            <a:r>
              <a:rPr lang="en-US" sz="1600" b="1" dirty="0">
                <a:solidFill>
                  <a:srgbClr val="FF0000"/>
                </a:solidFill>
              </a:rPr>
              <a:t>BUT the added examples were precisely the lines to be coded -- lol</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503953" y="250000"/>
            <a:ext cx="8934094"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888142" y="250000"/>
            <a:ext cx="8165716"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30520" y="250000"/>
            <a:ext cx="788095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680724" y="250000"/>
            <a:ext cx="858055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248919" y="250000"/>
            <a:ext cx="944416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51695" y="250000"/>
            <a:ext cx="783860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F6FA33-31D0-0BDC-1CE1-66987CE9D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891D4-F30D-63F5-B5B9-C8BCF0766B0C}"/>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684FD073-C1C0-F624-23AA-3629E1C1A121}"/>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F72D4C85-0242-B994-D807-FCC957B400DD}"/>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98A0A2F1-DCC7-32BC-CCF1-3B3C6B3D9D3C}"/>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0CF163-1128-A5A6-15E6-6EBE2527999A}"/>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BD71518B-03B0-28B6-CD61-2CA323692D2D}"/>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3DD99217-FBD9-40CB-8F99-C63F5EAAF736}"/>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68888EE6-5371-6808-6356-DCB4F5E1EB40}"/>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B648E39C-6A18-9D9F-EC27-57CC7529A99E}"/>
              </a:ext>
            </a:extLst>
          </p:cNvPr>
          <p:cNvSpPr/>
          <p:nvPr/>
        </p:nvSpPr>
        <p:spPr>
          <a:xfrm>
            <a:off x="7195929" y="652711"/>
            <a:ext cx="4598505" cy="5567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1849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v2 → v3</a:t>
            </a:r>
          </a:p>
        </p:txBody>
      </p:sp>
      <p:sp>
        <p:nvSpPr>
          <p:cNvPr id="3" name="Content Placeholder 2"/>
          <p:cNvSpPr>
            <a:spLocks noGrp="1"/>
          </p:cNvSpPr>
          <p:nvPr>
            <p:ph idx="1"/>
          </p:nvPr>
        </p:nvSpPr>
        <p:spPr/>
        <p:txBody>
          <a:bodyPr>
            <a:normAutofit/>
          </a:bodyPr>
          <a:lstStyle/>
          <a:p>
            <a:pPr marL="0" indent="0">
              <a:buNone/>
            </a:pPr>
            <a:r>
              <a:rPr lang="en-US" sz="1400" b="1" i="1" dirty="0"/>
              <a:t>Why? </a:t>
            </a:r>
            <a:r>
              <a:rPr lang="en-US" sz="1400" i="1" dirty="0"/>
              <a:t>v2 looked great, but it had been graded partly on its own examples. v3 keeps the real fixes, removes the unfair advantage, and tightens the last errors.</a:t>
            </a:r>
          </a:p>
          <a:p>
            <a:r>
              <a:rPr lang="en-US" sz="1500" b="1" dirty="0"/>
              <a:t>Let the conversation decide.  </a:t>
            </a:r>
            <a:r>
              <a:rPr lang="en-US" sz="1500" dirty="0"/>
              <a:t>The best clue to what a child’s “no” means is how the other person reacts: if the parent keeps pleading or bargaining, the child was refusing; if they correct a fact, the child was saying something’s untrue.</a:t>
            </a:r>
          </a:p>
          <a:p>
            <a:r>
              <a:rPr lang="en-US" sz="1500" b="1" dirty="0"/>
              <a:t>Spot requests hiding as statements.  </a:t>
            </a:r>
            <a:r>
              <a:rPr lang="en-US" sz="1500" dirty="0"/>
              <a:t>“You were going to put that away, okay?” is really a request — so answering “no” is refusing, not disagreeing with a fact.</a:t>
            </a:r>
          </a:p>
          <a:p>
            <a:r>
              <a:rPr lang="en-US" sz="1500" b="1" dirty="0"/>
              <a:t>Refusing during a back-and-forth.  </a:t>
            </a:r>
            <a:r>
              <a:rPr lang="en-US" sz="1500" dirty="0"/>
              <a:t>Saying “I don’t like it” while haggling over food is still a refusal, not a neutral opinion.</a:t>
            </a:r>
          </a:p>
          <a:p>
            <a:r>
              <a:rPr lang="en-US" sz="1500" b="1" dirty="0"/>
              <a:t>Make the model commit.  </a:t>
            </a:r>
            <a:r>
              <a:rPr lang="en-US" sz="1500" dirty="0"/>
              <a:t>Before writing its answers it now restates each one — closing the last cases where it reasoned one way but wrote another.</a:t>
            </a:r>
          </a:p>
          <a:p>
            <a:r>
              <a:rPr lang="en-US" sz="1500" b="1" dirty="0"/>
              <a:t>Lock the output format.  </a:t>
            </a:r>
            <a:r>
              <a:rPr lang="en-US" sz="1500" dirty="0"/>
              <a:t>The model is now technically prevented from inventing categories or writing an invalid answer.</a:t>
            </a:r>
          </a:p>
          <a:p>
            <a:r>
              <a:rPr lang="en-US" sz="1500" b="1" dirty="0">
                <a:solidFill>
                  <a:srgbClr val="156082"/>
                </a:solidFill>
              </a:rPr>
              <a:t>Stop grading on the answer key (the big fix).  </a:t>
            </a:r>
            <a:r>
              <a:rPr lang="en-US" sz="1500" dirty="0">
                <a:solidFill>
                  <a:srgbClr val="156082"/>
                </a:solidFill>
              </a:rPr>
              <a:t>v2’s examples were lifted from the test lines, so its score was inflated. v3 rewrites those examples in different words, drops the leaked lines from the score, and tests on fresh, unseen data.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3A9E-9861-C085-0E70-0AA76330BF3A}"/>
              </a:ext>
            </a:extLst>
          </p:cNvPr>
          <p:cNvSpPr>
            <a:spLocks noGrp="1"/>
          </p:cNvSpPr>
          <p:nvPr>
            <p:ph type="title"/>
          </p:nvPr>
        </p:nvSpPr>
        <p:spPr>
          <a:xfrm>
            <a:off x="1327893" y="721566"/>
            <a:ext cx="10237304" cy="1485900"/>
          </a:xfrm>
        </p:spPr>
        <p:txBody>
          <a:bodyPr/>
          <a:lstStyle/>
          <a:p>
            <a:r>
              <a:rPr lang="en-US" dirty="0"/>
              <a:t>Origins of logical thought: </a:t>
            </a:r>
            <a:br>
              <a:rPr lang="en-US" dirty="0"/>
            </a:br>
            <a:r>
              <a:rPr lang="en-US" dirty="0"/>
              <a:t>Two opposing views</a:t>
            </a:r>
          </a:p>
        </p:txBody>
      </p:sp>
      <p:sp>
        <p:nvSpPr>
          <p:cNvPr id="6" name="Text Placeholder 5">
            <a:extLst>
              <a:ext uri="{FF2B5EF4-FFF2-40B4-BE49-F238E27FC236}">
                <a16:creationId xmlns:a16="http://schemas.microsoft.com/office/drawing/2014/main" id="{84BFE03A-CFB0-26EF-EF00-6AF57ED2691F}"/>
              </a:ext>
            </a:extLst>
          </p:cNvPr>
          <p:cNvSpPr>
            <a:spLocks noGrp="1"/>
          </p:cNvSpPr>
          <p:nvPr>
            <p:ph type="body" sz="quarter" idx="3"/>
          </p:nvPr>
        </p:nvSpPr>
        <p:spPr>
          <a:xfrm>
            <a:off x="1356921" y="2534279"/>
            <a:ext cx="3703745" cy="823912"/>
          </a:xfrm>
        </p:spPr>
        <p:txBody>
          <a:bodyPr/>
          <a:lstStyle/>
          <a:p>
            <a:r>
              <a:rPr lang="en-US" dirty="0"/>
              <a:t>No logical thought without language</a:t>
            </a:r>
          </a:p>
        </p:txBody>
      </p:sp>
      <p:sp>
        <p:nvSpPr>
          <p:cNvPr id="4" name="Text Placeholder 3">
            <a:extLst>
              <a:ext uri="{FF2B5EF4-FFF2-40B4-BE49-F238E27FC236}">
                <a16:creationId xmlns:a16="http://schemas.microsoft.com/office/drawing/2014/main" id="{8EF92F49-906A-2E9C-0CBE-B1B0C8A251F5}"/>
              </a:ext>
            </a:extLst>
          </p:cNvPr>
          <p:cNvSpPr>
            <a:spLocks noGrp="1"/>
          </p:cNvSpPr>
          <p:nvPr>
            <p:ph type="body" idx="1"/>
          </p:nvPr>
        </p:nvSpPr>
        <p:spPr>
          <a:xfrm>
            <a:off x="7453333" y="2534279"/>
            <a:ext cx="4584192" cy="823912"/>
          </a:xfrm>
        </p:spPr>
        <p:txBody>
          <a:bodyPr/>
          <a:lstStyle/>
          <a:p>
            <a:r>
              <a:rPr lang="en-US" dirty="0"/>
              <a:t>Logical thought necessarily precedes language</a:t>
            </a:r>
          </a:p>
        </p:txBody>
      </p:sp>
      <p:sp>
        <p:nvSpPr>
          <p:cNvPr id="5" name="Content Placeholder 4">
            <a:extLst>
              <a:ext uri="{FF2B5EF4-FFF2-40B4-BE49-F238E27FC236}">
                <a16:creationId xmlns:a16="http://schemas.microsoft.com/office/drawing/2014/main" id="{482CEBEB-3CAA-B74D-E79F-EE6CDDF062DF}"/>
              </a:ext>
            </a:extLst>
          </p:cNvPr>
          <p:cNvSpPr>
            <a:spLocks noGrp="1"/>
          </p:cNvSpPr>
          <p:nvPr>
            <p:ph sz="half" idx="2"/>
          </p:nvPr>
        </p:nvSpPr>
        <p:spPr>
          <a:xfrm>
            <a:off x="7919073" y="3498622"/>
            <a:ext cx="4443984" cy="2562193"/>
          </a:xfrm>
        </p:spPr>
        <p:txBody>
          <a:bodyPr/>
          <a:lstStyle/>
          <a:p>
            <a:r>
              <a:rPr lang="en-US" dirty="0"/>
              <a:t>E.g., Fodor</a:t>
            </a:r>
          </a:p>
        </p:txBody>
      </p:sp>
      <p:sp>
        <p:nvSpPr>
          <p:cNvPr id="7" name="Content Placeholder 6">
            <a:extLst>
              <a:ext uri="{FF2B5EF4-FFF2-40B4-BE49-F238E27FC236}">
                <a16:creationId xmlns:a16="http://schemas.microsoft.com/office/drawing/2014/main" id="{CE140491-A76F-5125-8695-63976DBD3C19}"/>
              </a:ext>
            </a:extLst>
          </p:cNvPr>
          <p:cNvSpPr>
            <a:spLocks noGrp="1"/>
          </p:cNvSpPr>
          <p:nvPr>
            <p:ph sz="quarter" idx="4"/>
          </p:nvPr>
        </p:nvSpPr>
        <p:spPr>
          <a:xfrm>
            <a:off x="1356921" y="3511012"/>
            <a:ext cx="4443984" cy="2562193"/>
          </a:xfrm>
        </p:spPr>
        <p:txBody>
          <a:bodyPr/>
          <a:lstStyle/>
          <a:p>
            <a:r>
              <a:rPr lang="en-US" dirty="0"/>
              <a:t>E.g., Davidson, Bermudez</a:t>
            </a:r>
          </a:p>
        </p:txBody>
      </p:sp>
      <p:sp>
        <p:nvSpPr>
          <p:cNvPr id="8" name="Oval Callout 7">
            <a:extLst>
              <a:ext uri="{FF2B5EF4-FFF2-40B4-BE49-F238E27FC236}">
                <a16:creationId xmlns:a16="http://schemas.microsoft.com/office/drawing/2014/main" id="{77BD776C-C86D-EA5B-A8BE-A79AB3C193B4}"/>
              </a:ext>
            </a:extLst>
          </p:cNvPr>
          <p:cNvSpPr/>
          <p:nvPr/>
        </p:nvSpPr>
        <p:spPr>
          <a:xfrm>
            <a:off x="8077077" y="5406196"/>
            <a:ext cx="3080352" cy="981433"/>
          </a:xfrm>
          <a:prstGeom prst="wedgeEllipseCallout">
            <a:avLst>
              <a:gd name="adj1" fmla="val -69181"/>
              <a:gd name="adj2" fmla="val -8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Cloud Callout 8">
            <a:extLst>
              <a:ext uri="{FF2B5EF4-FFF2-40B4-BE49-F238E27FC236}">
                <a16:creationId xmlns:a16="http://schemas.microsoft.com/office/drawing/2014/main" id="{42DFAE47-ABE8-990A-3712-737AF111F4BD}"/>
              </a:ext>
            </a:extLst>
          </p:cNvPr>
          <p:cNvSpPr/>
          <p:nvPr/>
        </p:nvSpPr>
        <p:spPr>
          <a:xfrm>
            <a:off x="7990340" y="4046863"/>
            <a:ext cx="3153494" cy="1151965"/>
          </a:xfrm>
          <a:prstGeom prst="cloudCallout">
            <a:avLst>
              <a:gd name="adj1" fmla="val -66745"/>
              <a:gd name="adj2" fmla="val 494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2" name="TextBox 11">
            <a:extLst>
              <a:ext uri="{FF2B5EF4-FFF2-40B4-BE49-F238E27FC236}">
                <a16:creationId xmlns:a16="http://schemas.microsoft.com/office/drawing/2014/main" id="{A2E7EAE6-EA2F-B0C6-BA2E-AA3B5CB0B194}"/>
              </a:ext>
            </a:extLst>
          </p:cNvPr>
          <p:cNvSpPr txBox="1"/>
          <p:nvPr/>
        </p:nvSpPr>
        <p:spPr>
          <a:xfrm>
            <a:off x="9048520" y="4391264"/>
            <a:ext cx="1083093" cy="338554"/>
          </a:xfrm>
          <a:prstGeom prst="rect">
            <a:avLst/>
          </a:prstGeom>
          <a:noFill/>
        </p:spPr>
        <p:txBody>
          <a:bodyPr wrap="square" rtlCol="0">
            <a:spAutoFit/>
          </a:bodyPr>
          <a:lstStyle/>
          <a:p>
            <a:r>
              <a:rPr lang="en-US" sz="1600" dirty="0"/>
              <a:t>NEGATION</a:t>
            </a:r>
          </a:p>
        </p:txBody>
      </p:sp>
      <p:cxnSp>
        <p:nvCxnSpPr>
          <p:cNvPr id="13" name="Straight Arrow Connector 12">
            <a:extLst>
              <a:ext uri="{FF2B5EF4-FFF2-40B4-BE49-F238E27FC236}">
                <a16:creationId xmlns:a16="http://schemas.microsoft.com/office/drawing/2014/main" id="{DFD96EED-602D-E56F-09E8-48085037DCE4}"/>
              </a:ext>
            </a:extLst>
          </p:cNvPr>
          <p:cNvCxnSpPr>
            <a:cxnSpLocks/>
            <a:stCxn id="12" idx="2"/>
            <a:endCxn id="20" idx="0"/>
          </p:cNvCxnSpPr>
          <p:nvPr/>
        </p:nvCxnSpPr>
        <p:spPr>
          <a:xfrm>
            <a:off x="9590067" y="4729818"/>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18CB010A-6439-B697-77BA-AB60AFC52D62}"/>
              </a:ext>
            </a:extLst>
          </p:cNvPr>
          <p:cNvPicPr>
            <a:picLocks noChangeAspect="1"/>
          </p:cNvPicPr>
          <p:nvPr/>
        </p:nvPicPr>
        <p:blipFill>
          <a:blip r:embed="rId3"/>
          <a:stretch>
            <a:fillRect/>
          </a:stretch>
        </p:blipFill>
        <p:spPr>
          <a:xfrm>
            <a:off x="5787745" y="5090350"/>
            <a:ext cx="1460575" cy="1460575"/>
          </a:xfrm>
          <a:prstGeom prst="rect">
            <a:avLst/>
          </a:prstGeom>
        </p:spPr>
      </p:pic>
      <p:sp>
        <p:nvSpPr>
          <p:cNvPr id="17" name="Oval Callout 16">
            <a:extLst>
              <a:ext uri="{FF2B5EF4-FFF2-40B4-BE49-F238E27FC236}">
                <a16:creationId xmlns:a16="http://schemas.microsoft.com/office/drawing/2014/main" id="{8155DEA4-5594-7D8B-B199-DDA8CE42FA94}"/>
              </a:ext>
            </a:extLst>
          </p:cNvPr>
          <p:cNvSpPr/>
          <p:nvPr/>
        </p:nvSpPr>
        <p:spPr>
          <a:xfrm>
            <a:off x="1664007" y="5406196"/>
            <a:ext cx="3080352" cy="981433"/>
          </a:xfrm>
          <a:prstGeom prst="wedgeEllipseCallout">
            <a:avLst>
              <a:gd name="adj1" fmla="val 71277"/>
              <a:gd name="adj2" fmla="val -1201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Cloud Callout 17">
            <a:extLst>
              <a:ext uri="{FF2B5EF4-FFF2-40B4-BE49-F238E27FC236}">
                <a16:creationId xmlns:a16="http://schemas.microsoft.com/office/drawing/2014/main" id="{C61F6B85-3371-B3AE-52F8-854C3C051CD7}"/>
              </a:ext>
            </a:extLst>
          </p:cNvPr>
          <p:cNvSpPr/>
          <p:nvPr/>
        </p:nvSpPr>
        <p:spPr>
          <a:xfrm>
            <a:off x="1577270" y="4046863"/>
            <a:ext cx="3153494" cy="1151965"/>
          </a:xfrm>
          <a:prstGeom prst="cloudCallout">
            <a:avLst>
              <a:gd name="adj1" fmla="val 76078"/>
              <a:gd name="adj2" fmla="val 468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0" name="TextBox 19">
            <a:extLst>
              <a:ext uri="{FF2B5EF4-FFF2-40B4-BE49-F238E27FC236}">
                <a16:creationId xmlns:a16="http://schemas.microsoft.com/office/drawing/2014/main" id="{F92944E8-5AC1-584E-AC27-6B0949F2A345}"/>
              </a:ext>
            </a:extLst>
          </p:cNvPr>
          <p:cNvSpPr txBox="1"/>
          <p:nvPr/>
        </p:nvSpPr>
        <p:spPr>
          <a:xfrm>
            <a:off x="9282130" y="5767758"/>
            <a:ext cx="615874" cy="369332"/>
          </a:xfrm>
          <a:prstGeom prst="rect">
            <a:avLst/>
          </a:prstGeom>
          <a:noFill/>
        </p:spPr>
        <p:txBody>
          <a:bodyPr wrap="none" rtlCol="0">
            <a:spAutoFit/>
          </a:bodyPr>
          <a:lstStyle/>
          <a:p>
            <a:r>
              <a:rPr lang="en-US" dirty="0"/>
              <a:t>“no”</a:t>
            </a:r>
          </a:p>
        </p:txBody>
      </p:sp>
      <p:sp>
        <p:nvSpPr>
          <p:cNvPr id="27" name="TextBox 26">
            <a:extLst>
              <a:ext uri="{FF2B5EF4-FFF2-40B4-BE49-F238E27FC236}">
                <a16:creationId xmlns:a16="http://schemas.microsoft.com/office/drawing/2014/main" id="{7AFA63A9-895E-ADAB-E2B2-B634773C2C4E}"/>
              </a:ext>
            </a:extLst>
          </p:cNvPr>
          <p:cNvSpPr txBox="1"/>
          <p:nvPr/>
        </p:nvSpPr>
        <p:spPr>
          <a:xfrm>
            <a:off x="2653941" y="4371696"/>
            <a:ext cx="1083093" cy="338554"/>
          </a:xfrm>
          <a:prstGeom prst="rect">
            <a:avLst/>
          </a:prstGeom>
          <a:noFill/>
        </p:spPr>
        <p:txBody>
          <a:bodyPr wrap="square" rtlCol="0">
            <a:spAutoFit/>
          </a:bodyPr>
          <a:lstStyle/>
          <a:p>
            <a:r>
              <a:rPr lang="en-US" sz="1600" dirty="0"/>
              <a:t>NEGATION</a:t>
            </a:r>
          </a:p>
        </p:txBody>
      </p:sp>
      <p:cxnSp>
        <p:nvCxnSpPr>
          <p:cNvPr id="28" name="Straight Arrow Connector 27">
            <a:extLst>
              <a:ext uri="{FF2B5EF4-FFF2-40B4-BE49-F238E27FC236}">
                <a16:creationId xmlns:a16="http://schemas.microsoft.com/office/drawing/2014/main" id="{8371465A-6DF6-8CDA-2B9E-F4E39A562361}"/>
              </a:ext>
            </a:extLst>
          </p:cNvPr>
          <p:cNvCxnSpPr>
            <a:cxnSpLocks/>
            <a:stCxn id="27" idx="2"/>
            <a:endCxn id="29" idx="0"/>
          </p:cNvCxnSpPr>
          <p:nvPr/>
        </p:nvCxnSpPr>
        <p:spPr>
          <a:xfrm>
            <a:off x="3195488" y="4710250"/>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77B7BD8-5A12-52C6-27CB-F4E5E1372D63}"/>
              </a:ext>
            </a:extLst>
          </p:cNvPr>
          <p:cNvSpPr txBox="1"/>
          <p:nvPr/>
        </p:nvSpPr>
        <p:spPr>
          <a:xfrm>
            <a:off x="2887551" y="5748190"/>
            <a:ext cx="615874" cy="369332"/>
          </a:xfrm>
          <a:prstGeom prst="rect">
            <a:avLst/>
          </a:prstGeom>
          <a:noFill/>
        </p:spPr>
        <p:txBody>
          <a:bodyPr wrap="none" rtlCol="0">
            <a:spAutoFit/>
          </a:bodyPr>
          <a:lstStyle/>
          <a:p>
            <a:r>
              <a:rPr lang="en-US" dirty="0"/>
              <a:t>“no”</a:t>
            </a:r>
          </a:p>
        </p:txBody>
      </p:sp>
      <p:sp>
        <p:nvSpPr>
          <p:cNvPr id="49" name="Curved Right Arrow 48">
            <a:extLst>
              <a:ext uri="{FF2B5EF4-FFF2-40B4-BE49-F238E27FC236}">
                <a16:creationId xmlns:a16="http://schemas.microsoft.com/office/drawing/2014/main" id="{4416949A-997E-6662-FFD2-C070C3610650}"/>
              </a:ext>
            </a:extLst>
          </p:cNvPr>
          <p:cNvSpPr/>
          <p:nvPr/>
        </p:nvSpPr>
        <p:spPr>
          <a:xfrm flipH="1">
            <a:off x="11307430" y="4423074"/>
            <a:ext cx="787092"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Curved Right Arrow 49">
            <a:extLst>
              <a:ext uri="{FF2B5EF4-FFF2-40B4-BE49-F238E27FC236}">
                <a16:creationId xmlns:a16="http://schemas.microsoft.com/office/drawing/2014/main" id="{2185F521-82A1-68F6-413E-8A8540977782}"/>
              </a:ext>
            </a:extLst>
          </p:cNvPr>
          <p:cNvSpPr/>
          <p:nvPr/>
        </p:nvSpPr>
        <p:spPr>
          <a:xfrm rot="10800000" flipH="1">
            <a:off x="794811" y="4462453"/>
            <a:ext cx="787091"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5135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 grpId="0" build="p"/>
      <p:bldP spid="5" grpId="0" build="p"/>
      <p:bldP spid="7" grpId="0" build="p"/>
      <p:bldP spid="8" grpId="0" animBg="1"/>
      <p:bldP spid="9" grpId="0" animBg="1"/>
      <p:bldP spid="12" grpId="0"/>
      <p:bldP spid="17" grpId="0" animBg="1"/>
      <p:bldP spid="18" grpId="0" animBg="1"/>
      <p:bldP spid="20" grpId="0"/>
      <p:bldP spid="27" grpId="0"/>
      <p:bldP spid="29" grpId="0"/>
      <p:bldP spid="49" grpId="0" animBg="1"/>
      <p:bldP spid="50"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2B81-9E73-19C4-DC4D-F757EBB25EBA}"/>
              </a:ext>
            </a:extLst>
          </p:cNvPr>
          <p:cNvSpPr>
            <a:spLocks noGrp="1"/>
          </p:cNvSpPr>
          <p:nvPr>
            <p:ph type="title"/>
          </p:nvPr>
        </p:nvSpPr>
        <p:spPr>
          <a:xfrm>
            <a:off x="1154633" y="-129424"/>
            <a:ext cx="12407900" cy="1485900"/>
          </a:xfrm>
        </p:spPr>
        <p:txBody>
          <a:bodyPr/>
          <a:lstStyle/>
          <a:p>
            <a:r>
              <a:rPr lang="en-US" dirty="0"/>
              <a:t>Logical negation emerges late</a:t>
            </a:r>
          </a:p>
        </p:txBody>
      </p:sp>
      <p:sp>
        <p:nvSpPr>
          <p:cNvPr id="36" name="TextBox 35">
            <a:extLst>
              <a:ext uri="{FF2B5EF4-FFF2-40B4-BE49-F238E27FC236}">
                <a16:creationId xmlns:a16="http://schemas.microsoft.com/office/drawing/2014/main" id="{CC9FE39D-2592-972D-58F2-1091C0445F0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32" name="Straight Arrow Connector 31">
            <a:extLst>
              <a:ext uri="{FF2B5EF4-FFF2-40B4-BE49-F238E27FC236}">
                <a16:creationId xmlns:a16="http://schemas.microsoft.com/office/drawing/2014/main" id="{DCCB8DFC-B2AA-B53F-BAE7-A7CC3BB67286}"/>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F2B6677-43F4-0C52-0593-66C684C5BE42}"/>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34" name="TextBox 33">
            <a:extLst>
              <a:ext uri="{FF2B5EF4-FFF2-40B4-BE49-F238E27FC236}">
                <a16:creationId xmlns:a16="http://schemas.microsoft.com/office/drawing/2014/main" id="{A8931C78-FCAE-4FD0-53CD-D4636817D88F}"/>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35" name="TextBox 34">
            <a:extLst>
              <a:ext uri="{FF2B5EF4-FFF2-40B4-BE49-F238E27FC236}">
                <a16:creationId xmlns:a16="http://schemas.microsoft.com/office/drawing/2014/main" id="{D9D89145-11C5-198C-8D5B-10B180AEBFA9}"/>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37" name="Straight Connector 36">
            <a:extLst>
              <a:ext uri="{FF2B5EF4-FFF2-40B4-BE49-F238E27FC236}">
                <a16:creationId xmlns:a16="http://schemas.microsoft.com/office/drawing/2014/main" id="{3DB0CD88-BDD9-6961-8E8B-3087B5E300AF}"/>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021079B-05B4-814A-C37E-1484C9A447F9}"/>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39" name="Straight Connector 38">
            <a:extLst>
              <a:ext uri="{FF2B5EF4-FFF2-40B4-BE49-F238E27FC236}">
                <a16:creationId xmlns:a16="http://schemas.microsoft.com/office/drawing/2014/main" id="{44527D7C-EAB2-B887-5342-F7EC3B68AE96}"/>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A435C5-2C8A-BC64-5806-4546A802881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198502E-7A14-FC3D-598D-ED8BAFBD1566}"/>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42" name="TextBox 41">
            <a:extLst>
              <a:ext uri="{FF2B5EF4-FFF2-40B4-BE49-F238E27FC236}">
                <a16:creationId xmlns:a16="http://schemas.microsoft.com/office/drawing/2014/main" id="{4256D77A-FB17-694B-083F-74FCEE8A6D7E}"/>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43" name="Rectangle 42">
            <a:extLst>
              <a:ext uri="{FF2B5EF4-FFF2-40B4-BE49-F238E27FC236}">
                <a16:creationId xmlns:a16="http://schemas.microsoft.com/office/drawing/2014/main" id="{C6BAC31A-C2FA-DFD4-2B8F-A8A69CB8C6DC}"/>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67B3ADA-70A2-476C-7945-AC778F1B9672}"/>
              </a:ext>
            </a:extLst>
          </p:cNvPr>
          <p:cNvSpPr txBox="1"/>
          <p:nvPr/>
        </p:nvSpPr>
        <p:spPr>
          <a:xfrm>
            <a:off x="2339215" y="3655496"/>
            <a:ext cx="9251251" cy="2255041"/>
          </a:xfrm>
          <a:prstGeom prst="rect">
            <a:avLst/>
          </a:prstGeom>
          <a:noFill/>
        </p:spPr>
        <p:txBody>
          <a:bodyPr wrap="none" rtlCol="0">
            <a:spAutoFit/>
          </a:bodyPr>
          <a:lstStyle/>
          <a:p>
            <a:pPr marL="342900" indent="-342900">
              <a:lnSpc>
                <a:spcPct val="150000"/>
              </a:lnSpc>
              <a:buFont typeface="Wingdings" pitchFamily="2" charset="2"/>
              <a:buChar char="Ø"/>
            </a:pPr>
            <a:r>
              <a:rPr lang="en-US" sz="2400" i="1" dirty="0"/>
              <a:t>Rejection		</a:t>
            </a:r>
            <a:r>
              <a:rPr lang="en-US" sz="2400" dirty="0"/>
              <a:t>“Do you want some broccoli?”		“No!”</a:t>
            </a:r>
            <a:endParaRPr lang="en-US" sz="2400" i="1" dirty="0"/>
          </a:p>
          <a:p>
            <a:pPr marL="342900" indent="-342900">
              <a:lnSpc>
                <a:spcPct val="150000"/>
              </a:lnSpc>
              <a:buFont typeface="Wingdings" pitchFamily="2" charset="2"/>
              <a:buChar char="Ø"/>
            </a:pPr>
            <a:r>
              <a:rPr lang="en-US" sz="2400" i="1" dirty="0"/>
              <a:t>Prohibition		</a:t>
            </a:r>
            <a:r>
              <a:rPr lang="en-US" sz="2400" dirty="0"/>
              <a:t>“Can I go to the park?”			“No!”</a:t>
            </a:r>
          </a:p>
          <a:p>
            <a:pPr marL="342900" indent="-342900">
              <a:lnSpc>
                <a:spcPct val="150000"/>
              </a:lnSpc>
              <a:buFont typeface="Wingdings" pitchFamily="2" charset="2"/>
              <a:buChar char="Ø"/>
            </a:pPr>
            <a:r>
              <a:rPr lang="en-US" sz="2400" i="1" dirty="0"/>
              <a:t>Nonexistence	</a:t>
            </a:r>
            <a:r>
              <a:rPr lang="en-US" sz="2400" dirty="0"/>
              <a:t>“Is there any milk?”				“No!”</a:t>
            </a:r>
          </a:p>
          <a:p>
            <a:pPr marL="342900" indent="-342900">
              <a:lnSpc>
                <a:spcPct val="150000"/>
              </a:lnSpc>
              <a:buFont typeface="Wingdings" pitchFamily="2" charset="2"/>
              <a:buChar char="Ø"/>
            </a:pPr>
            <a:r>
              <a:rPr lang="en-US" sz="2400" i="1" dirty="0"/>
              <a:t>Denial		</a:t>
            </a:r>
            <a:r>
              <a:rPr lang="en-US" sz="2400" dirty="0"/>
              <a:t>“Is Pluto a planet?”				“No!”</a:t>
            </a:r>
            <a:endParaRPr lang="en-US" sz="2400" i="1" dirty="0"/>
          </a:p>
        </p:txBody>
      </p:sp>
      <p:sp>
        <p:nvSpPr>
          <p:cNvPr id="6" name="Right Brace 5">
            <a:extLst>
              <a:ext uri="{FF2B5EF4-FFF2-40B4-BE49-F238E27FC236}">
                <a16:creationId xmlns:a16="http://schemas.microsoft.com/office/drawing/2014/main" id="{24FCF779-F1E6-B90D-4695-F9E5B6BFB5DF}"/>
              </a:ext>
            </a:extLst>
          </p:cNvPr>
          <p:cNvSpPr/>
          <p:nvPr/>
        </p:nvSpPr>
        <p:spPr>
          <a:xfrm>
            <a:off x="9679686" y="3759203"/>
            <a:ext cx="682171" cy="2136906"/>
          </a:xfrm>
          <a:prstGeom prst="rightBrace">
            <a:avLst>
              <a:gd name="adj1" fmla="val 38559"/>
              <a:gd name="adj2" fmla="val 50648"/>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3883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8" grpId="0"/>
      <p:bldP spid="41" grpId="0"/>
      <p:bldP spid="42" grpId="0"/>
      <p:bldP spid="43" grpId="0" animBg="1"/>
      <p:bldP spid="5"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548DF7-4570-7830-331D-B20F31FBF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23655-9D45-6D5A-5A5B-5230EC4D389E}"/>
              </a:ext>
            </a:extLst>
          </p:cNvPr>
          <p:cNvSpPr>
            <a:spLocks noGrp="1"/>
          </p:cNvSpPr>
          <p:nvPr>
            <p:ph type="title"/>
          </p:nvPr>
        </p:nvSpPr>
        <p:spPr/>
        <p:txBody>
          <a:bodyPr/>
          <a:lstStyle/>
          <a:p>
            <a:r>
              <a:rPr lang="en-US" dirty="0"/>
              <a:t>Specific functions may imply specific meanings</a:t>
            </a:r>
          </a:p>
        </p:txBody>
      </p:sp>
      <p:sp>
        <p:nvSpPr>
          <p:cNvPr id="3" name="Content Placeholder 2">
            <a:extLst>
              <a:ext uri="{FF2B5EF4-FFF2-40B4-BE49-F238E27FC236}">
                <a16:creationId xmlns:a16="http://schemas.microsoft.com/office/drawing/2014/main" id="{D85E4ECB-CC03-B446-3D15-F7107B3DBCE3}"/>
              </a:ext>
            </a:extLst>
          </p:cNvPr>
          <p:cNvSpPr>
            <a:spLocks noGrp="1"/>
          </p:cNvSpPr>
          <p:nvPr>
            <p:ph idx="1"/>
          </p:nvPr>
        </p:nvSpPr>
        <p:spPr>
          <a:xfrm>
            <a:off x="7083962" y="2286000"/>
            <a:ext cx="3888838" cy="3581400"/>
          </a:xfrm>
        </p:spPr>
        <p:txBody>
          <a:bodyPr>
            <a:normAutofit fontScale="77500" lnSpcReduction="20000"/>
          </a:bodyPr>
          <a:lstStyle/>
          <a:p>
            <a:r>
              <a:rPr lang="en-US" dirty="0"/>
              <a:t>Children’s first uses of “no” seem to be function-specific</a:t>
            </a:r>
          </a:p>
          <a:p>
            <a:r>
              <a:rPr lang="en-US" dirty="0"/>
              <a:t>The concept is available to map to language</a:t>
            </a:r>
          </a:p>
          <a:p>
            <a:pPr lvl="1"/>
            <a:r>
              <a:rPr lang="en-US" dirty="0"/>
              <a:t>Lexicalized in some languages (e.g., Tagalog)</a:t>
            </a:r>
          </a:p>
          <a:p>
            <a:r>
              <a:rPr lang="en-US" dirty="0"/>
              <a:t>"no" can reject even when there isn’t obvious want in the linguistic context</a:t>
            </a:r>
          </a:p>
          <a:p>
            <a:r>
              <a:rPr lang="en-US" dirty="0"/>
              <a:t>Rejection/prohibition meanings are easier to identify in isolation </a:t>
            </a:r>
            <a:r>
              <a:rPr lang="en-US" sz="1200" dirty="0">
                <a:solidFill>
                  <a:srgbClr val="E8E8E8">
                    <a:lumMod val="50000"/>
                  </a:srgbClr>
                </a:solidFill>
              </a:rPr>
              <a:t>(Gomes et al., 2023)</a:t>
            </a:r>
          </a:p>
          <a:p>
            <a:endParaRPr lang="en-US" dirty="0"/>
          </a:p>
          <a:p>
            <a:endParaRPr lang="en-US" dirty="0"/>
          </a:p>
        </p:txBody>
      </p:sp>
      <p:sp>
        <p:nvSpPr>
          <p:cNvPr id="4" name="Content Placeholder 4">
            <a:extLst>
              <a:ext uri="{FF2B5EF4-FFF2-40B4-BE49-F238E27FC236}">
                <a16:creationId xmlns:a16="http://schemas.microsoft.com/office/drawing/2014/main" id="{45365EA5-E3D9-5EB2-2BDE-AED95E51DF10}"/>
              </a:ext>
            </a:extLst>
          </p:cNvPr>
          <p:cNvSpPr txBox="1">
            <a:spLocks/>
          </p:cNvSpPr>
          <p:nvPr/>
        </p:nvSpPr>
        <p:spPr>
          <a:xfrm>
            <a:off x="3162958" y="2052566"/>
            <a:ext cx="1432985" cy="64572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buFont typeface="Franklin Gothic Book" panose="020B0503020102020204" pitchFamily="34" charset="0"/>
              <a:buNone/>
            </a:pPr>
            <a:r>
              <a:rPr lang="en-US" u="sng"/>
              <a:t>“No!”</a:t>
            </a:r>
            <a:endParaRPr lang="en-US" u="sng" dirty="0"/>
          </a:p>
        </p:txBody>
      </p:sp>
      <p:sp>
        <p:nvSpPr>
          <p:cNvPr id="5" name="Rectangle 4">
            <a:extLst>
              <a:ext uri="{FF2B5EF4-FFF2-40B4-BE49-F238E27FC236}">
                <a16:creationId xmlns:a16="http://schemas.microsoft.com/office/drawing/2014/main" id="{49F0BC1E-C128-9834-2793-F605639154FC}"/>
              </a:ext>
            </a:extLst>
          </p:cNvPr>
          <p:cNvSpPr/>
          <p:nvPr/>
        </p:nvSpPr>
        <p:spPr>
          <a:xfrm>
            <a:off x="4339862" y="3855244"/>
            <a:ext cx="768178"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NEG</a:t>
            </a:r>
          </a:p>
        </p:txBody>
      </p:sp>
      <p:sp>
        <p:nvSpPr>
          <p:cNvPr id="6" name="Rectangle 5">
            <a:extLst>
              <a:ext uri="{FF2B5EF4-FFF2-40B4-BE49-F238E27FC236}">
                <a16:creationId xmlns:a16="http://schemas.microsoft.com/office/drawing/2014/main" id="{1B9D0A2C-C6BF-4424-57F5-2C276669A602}"/>
              </a:ext>
            </a:extLst>
          </p:cNvPr>
          <p:cNvSpPr/>
          <p:nvPr/>
        </p:nvSpPr>
        <p:spPr>
          <a:xfrm>
            <a:off x="5108040" y="3855243"/>
            <a:ext cx="768178" cy="76611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want</a:t>
            </a:r>
          </a:p>
        </p:txBody>
      </p:sp>
      <p:cxnSp>
        <p:nvCxnSpPr>
          <p:cNvPr id="7" name="Straight Arrow Connector 6">
            <a:extLst>
              <a:ext uri="{FF2B5EF4-FFF2-40B4-BE49-F238E27FC236}">
                <a16:creationId xmlns:a16="http://schemas.microsoft.com/office/drawing/2014/main" id="{B5BD0968-18DF-AB86-71FC-53C9F8EB2E9D}"/>
              </a:ext>
            </a:extLst>
          </p:cNvPr>
          <p:cNvCxnSpPr>
            <a:cxnSpLocks/>
            <a:endCxn id="5" idx="0"/>
          </p:cNvCxnSpPr>
          <p:nvPr/>
        </p:nvCxnSpPr>
        <p:spPr>
          <a:xfrm>
            <a:off x="3898183" y="2474447"/>
            <a:ext cx="825768"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1F4F6B6-CB80-D30C-F028-082D94063779}"/>
              </a:ext>
            </a:extLst>
          </p:cNvPr>
          <p:cNvCxnSpPr>
            <a:cxnSpLocks/>
            <a:endCxn id="6" idx="0"/>
          </p:cNvCxnSpPr>
          <p:nvPr/>
        </p:nvCxnSpPr>
        <p:spPr>
          <a:xfrm>
            <a:off x="5492129" y="2528920"/>
            <a:ext cx="0" cy="1326323"/>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6689AD16-7DD4-FB71-10FF-05079884D509}"/>
              </a:ext>
            </a:extLst>
          </p:cNvPr>
          <p:cNvSpPr/>
          <p:nvPr/>
        </p:nvSpPr>
        <p:spPr>
          <a:xfrm>
            <a:off x="1652067" y="3855242"/>
            <a:ext cx="1368785"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REJECT</a:t>
            </a:r>
          </a:p>
        </p:txBody>
      </p:sp>
      <p:cxnSp>
        <p:nvCxnSpPr>
          <p:cNvPr id="10" name="Straight Arrow Connector 9">
            <a:extLst>
              <a:ext uri="{FF2B5EF4-FFF2-40B4-BE49-F238E27FC236}">
                <a16:creationId xmlns:a16="http://schemas.microsoft.com/office/drawing/2014/main" id="{8B4EDB73-D459-7B6B-BD24-72C88CC797D1}"/>
              </a:ext>
            </a:extLst>
          </p:cNvPr>
          <p:cNvCxnSpPr>
            <a:cxnSpLocks/>
            <a:endCxn id="9" idx="0"/>
          </p:cNvCxnSpPr>
          <p:nvPr/>
        </p:nvCxnSpPr>
        <p:spPr>
          <a:xfrm flipH="1">
            <a:off x="2336460" y="2474445"/>
            <a:ext cx="1419617"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324A13-8591-A2AD-5735-1DD5937B9416}"/>
              </a:ext>
            </a:extLst>
          </p:cNvPr>
          <p:cNvSpPr txBox="1"/>
          <p:nvPr/>
        </p:nvSpPr>
        <p:spPr>
          <a:xfrm>
            <a:off x="3928871" y="5012195"/>
            <a:ext cx="2358338" cy="646331"/>
          </a:xfrm>
          <a:prstGeom prst="rect">
            <a:avLst/>
          </a:prstGeom>
          <a:noFill/>
        </p:spPr>
        <p:txBody>
          <a:bodyPr wrap="none" rtlCol="0">
            <a:spAutoFit/>
          </a:bodyPr>
          <a:lstStyle/>
          <a:p>
            <a:r>
              <a:rPr lang="en-US" dirty="0"/>
              <a:t>Speech act: Rejection</a:t>
            </a:r>
          </a:p>
          <a:p>
            <a:r>
              <a:rPr lang="en-US" dirty="0"/>
              <a:t>Meaning: NEGATION</a:t>
            </a:r>
          </a:p>
        </p:txBody>
      </p:sp>
      <p:sp>
        <p:nvSpPr>
          <p:cNvPr id="12" name="TextBox 11">
            <a:extLst>
              <a:ext uri="{FF2B5EF4-FFF2-40B4-BE49-F238E27FC236}">
                <a16:creationId xmlns:a16="http://schemas.microsoft.com/office/drawing/2014/main" id="{6DCFD4CF-2132-DBF3-124B-65328C6F6069}"/>
              </a:ext>
            </a:extLst>
          </p:cNvPr>
          <p:cNvSpPr txBox="1"/>
          <p:nvPr/>
        </p:nvSpPr>
        <p:spPr>
          <a:xfrm>
            <a:off x="1157290" y="5020709"/>
            <a:ext cx="2358338" cy="646331"/>
          </a:xfrm>
          <a:prstGeom prst="rect">
            <a:avLst/>
          </a:prstGeom>
          <a:noFill/>
        </p:spPr>
        <p:txBody>
          <a:bodyPr wrap="none" rtlCol="0">
            <a:spAutoFit/>
          </a:bodyPr>
          <a:lstStyle/>
          <a:p>
            <a:r>
              <a:rPr lang="en-US" dirty="0"/>
              <a:t>Speech act: Rejection</a:t>
            </a:r>
          </a:p>
          <a:p>
            <a:r>
              <a:rPr lang="en-US" dirty="0"/>
              <a:t>Meaning: REJECTION</a:t>
            </a:r>
          </a:p>
        </p:txBody>
      </p:sp>
      <p:sp>
        <p:nvSpPr>
          <p:cNvPr id="13" name="Cloud 12">
            <a:extLst>
              <a:ext uri="{FF2B5EF4-FFF2-40B4-BE49-F238E27FC236}">
                <a16:creationId xmlns:a16="http://schemas.microsoft.com/office/drawing/2014/main" id="{1074C0EE-5443-4A22-DEFD-7DE47138A300}"/>
              </a:ext>
            </a:extLst>
          </p:cNvPr>
          <p:cNvSpPr/>
          <p:nvPr/>
        </p:nvSpPr>
        <p:spPr>
          <a:xfrm>
            <a:off x="4723951" y="1605291"/>
            <a:ext cx="1708398" cy="876307"/>
          </a:xfrm>
          <a:prstGeom prst="cloud">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Context</a:t>
            </a:r>
          </a:p>
        </p:txBody>
      </p:sp>
      <p:sp>
        <p:nvSpPr>
          <p:cNvPr id="14" name="Oval 13">
            <a:extLst>
              <a:ext uri="{FF2B5EF4-FFF2-40B4-BE49-F238E27FC236}">
                <a16:creationId xmlns:a16="http://schemas.microsoft.com/office/drawing/2014/main" id="{F7CBCEBC-129B-66D9-AE4A-5EAE87F6E620}"/>
              </a:ext>
            </a:extLst>
          </p:cNvPr>
          <p:cNvSpPr/>
          <p:nvPr/>
        </p:nvSpPr>
        <p:spPr>
          <a:xfrm>
            <a:off x="1071563" y="3342953"/>
            <a:ext cx="2442531" cy="3128957"/>
          </a:xfrm>
          <a:prstGeom prst="ellipse">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971268E-82F8-4883-0EC4-0C2E815E59AC}"/>
              </a:ext>
            </a:extLst>
          </p:cNvPr>
          <p:cNvPicPr>
            <a:picLocks noChangeAspect="1"/>
          </p:cNvPicPr>
          <p:nvPr/>
        </p:nvPicPr>
        <p:blipFill>
          <a:blip r:embed="rId3"/>
          <a:stretch>
            <a:fillRect/>
          </a:stretch>
        </p:blipFill>
        <p:spPr>
          <a:xfrm>
            <a:off x="2808288" y="5725562"/>
            <a:ext cx="706573" cy="706573"/>
          </a:xfrm>
          <a:prstGeom prst="rect">
            <a:avLst/>
          </a:prstGeom>
        </p:spPr>
      </p:pic>
    </p:spTree>
    <p:extLst>
      <p:ext uri="{BB962C8B-B14F-4D97-AF65-F5344CB8AC3E}">
        <p14:creationId xmlns:p14="http://schemas.microsoft.com/office/powerpoint/2010/main" val="306881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animBg="1"/>
      <p:bldP spid="6" grpId="0" animBg="1"/>
      <p:bldP spid="9" grpId="0" animBg="1"/>
      <p:bldP spid="11" grpId="0"/>
      <p:bldP spid="12" grpId="0"/>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77DA56-5617-3C68-ECA5-6053D5EA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7B82C-7D9A-DC27-9BAA-26A1D4C7CFFC}"/>
              </a:ext>
            </a:extLst>
          </p:cNvPr>
          <p:cNvSpPr>
            <a:spLocks noGrp="1"/>
          </p:cNvSpPr>
          <p:nvPr>
            <p:ph type="title"/>
          </p:nvPr>
        </p:nvSpPr>
        <p:spPr/>
        <p:txBody>
          <a:bodyPr/>
          <a:lstStyle/>
          <a:p>
            <a:r>
              <a:rPr lang="en-US" dirty="0"/>
              <a:t>What makes negation hard?</a:t>
            </a:r>
          </a:p>
        </p:txBody>
      </p:sp>
      <p:sp>
        <p:nvSpPr>
          <p:cNvPr id="27" name="Content Placeholder 26">
            <a:extLst>
              <a:ext uri="{FF2B5EF4-FFF2-40B4-BE49-F238E27FC236}">
                <a16:creationId xmlns:a16="http://schemas.microsoft.com/office/drawing/2014/main" id="{E4350729-B199-5D17-64F7-E12597364883}"/>
              </a:ext>
            </a:extLst>
          </p:cNvPr>
          <p:cNvSpPr>
            <a:spLocks noGrp="1"/>
          </p:cNvSpPr>
          <p:nvPr>
            <p:ph idx="1"/>
          </p:nvPr>
        </p:nvSpPr>
        <p:spPr/>
        <p:txBody>
          <a:bodyPr/>
          <a:lstStyle/>
          <a:p>
            <a:endParaRPr lang="en-US" dirty="0"/>
          </a:p>
        </p:txBody>
      </p:sp>
      <p:sp>
        <p:nvSpPr>
          <p:cNvPr id="36" name="TextBox 35">
            <a:extLst>
              <a:ext uri="{FF2B5EF4-FFF2-40B4-BE49-F238E27FC236}">
                <a16:creationId xmlns:a16="http://schemas.microsoft.com/office/drawing/2014/main" id="{4402EA91-4077-E4F5-FECC-7AC1D9A656F8}"/>
              </a:ext>
            </a:extLst>
          </p:cNvPr>
          <p:cNvSpPr txBox="1"/>
          <p:nvPr/>
        </p:nvSpPr>
        <p:spPr>
          <a:xfrm>
            <a:off x="676723" y="6536733"/>
            <a:ext cx="1304973" cy="338554"/>
          </a:xfrm>
          <a:prstGeom prst="rect">
            <a:avLst/>
          </a:prstGeom>
          <a:noFill/>
        </p:spPr>
        <p:txBody>
          <a:bodyPr wrap="none" rtlCol="0">
            <a:spAutoFit/>
          </a:bodyPr>
          <a:lstStyle/>
          <a:p>
            <a:r>
              <a:rPr lang="en-US" sz="1600" dirty="0">
                <a:solidFill>
                  <a:schemeClr val="bg2">
                    <a:lumMod val="50000"/>
                  </a:schemeClr>
                </a:solidFill>
              </a:rPr>
              <a:t>Bloom, 1970</a:t>
            </a:r>
          </a:p>
        </p:txBody>
      </p:sp>
      <p:grpSp>
        <p:nvGrpSpPr>
          <p:cNvPr id="20" name="Group 19">
            <a:extLst>
              <a:ext uri="{FF2B5EF4-FFF2-40B4-BE49-F238E27FC236}">
                <a16:creationId xmlns:a16="http://schemas.microsoft.com/office/drawing/2014/main" id="{CAE6439A-1B5A-A278-FF55-7527D9CEC53D}"/>
              </a:ext>
            </a:extLst>
          </p:cNvPr>
          <p:cNvGrpSpPr/>
          <p:nvPr/>
        </p:nvGrpSpPr>
        <p:grpSpPr>
          <a:xfrm>
            <a:off x="2159785" y="3135852"/>
            <a:ext cx="2416211" cy="997287"/>
            <a:chOff x="7427407" y="3025125"/>
            <a:chExt cx="2416211" cy="997287"/>
          </a:xfrm>
        </p:grpSpPr>
        <p:sp>
          <p:nvSpPr>
            <p:cNvPr id="37" name="TextBox 36">
              <a:extLst>
                <a:ext uri="{FF2B5EF4-FFF2-40B4-BE49-F238E27FC236}">
                  <a16:creationId xmlns:a16="http://schemas.microsoft.com/office/drawing/2014/main" id="{A2A7FB46-0D18-E76D-533F-94D6B6F78B1F}"/>
                </a:ext>
              </a:extLst>
            </p:cNvPr>
            <p:cNvSpPr txBox="1"/>
            <p:nvPr/>
          </p:nvSpPr>
          <p:spPr>
            <a:xfrm>
              <a:off x="7427407" y="3376081"/>
              <a:ext cx="2416211" cy="646331"/>
            </a:xfrm>
            <a:prstGeom prst="rect">
              <a:avLst/>
            </a:prstGeom>
            <a:solidFill>
              <a:schemeClr val="accent1">
                <a:lumMod val="20000"/>
                <a:lumOff val="80000"/>
              </a:schemeClr>
            </a:solidFill>
            <a:ln>
              <a:noFill/>
            </a:ln>
          </p:spPr>
          <p:txBody>
            <a:bodyPr wrap="square" rtlCol="0">
              <a:spAutoFit/>
            </a:bodyPr>
            <a:lstStyle/>
            <a:p>
              <a:pPr algn="ctr"/>
              <a:r>
                <a:rPr lang="en-US" dirty="0"/>
                <a:t>Difficulty learning the concept NEGATION</a:t>
              </a:r>
            </a:p>
          </p:txBody>
        </p:sp>
        <p:sp>
          <p:nvSpPr>
            <p:cNvPr id="10" name="TextBox 9">
              <a:extLst>
                <a:ext uri="{FF2B5EF4-FFF2-40B4-BE49-F238E27FC236}">
                  <a16:creationId xmlns:a16="http://schemas.microsoft.com/office/drawing/2014/main" id="{C5787B5D-E27F-951D-0599-A2D958047DB8}"/>
                </a:ext>
              </a:extLst>
            </p:cNvPr>
            <p:cNvSpPr txBox="1"/>
            <p:nvPr/>
          </p:nvSpPr>
          <p:spPr>
            <a:xfrm>
              <a:off x="7539700" y="3025125"/>
              <a:ext cx="2191626" cy="369332"/>
            </a:xfrm>
            <a:prstGeom prst="rect">
              <a:avLst/>
            </a:prstGeom>
            <a:noFill/>
          </p:spPr>
          <p:txBody>
            <a:bodyPr wrap="none" rtlCol="0">
              <a:spAutoFit/>
            </a:bodyPr>
            <a:lstStyle/>
            <a:p>
              <a:r>
                <a:rPr lang="en-US" dirty="0">
                  <a:solidFill>
                    <a:srgbClr val="3799C8"/>
                  </a:solidFill>
                </a:rPr>
                <a:t>CONCEPT LEARNING</a:t>
              </a:r>
            </a:p>
          </p:txBody>
        </p:sp>
      </p:grpSp>
      <p:grpSp>
        <p:nvGrpSpPr>
          <p:cNvPr id="17" name="Group 16">
            <a:extLst>
              <a:ext uri="{FF2B5EF4-FFF2-40B4-BE49-F238E27FC236}">
                <a16:creationId xmlns:a16="http://schemas.microsoft.com/office/drawing/2014/main" id="{139601E7-B6D7-FEE4-4DCD-315E5367DB07}"/>
              </a:ext>
            </a:extLst>
          </p:cNvPr>
          <p:cNvGrpSpPr/>
          <p:nvPr/>
        </p:nvGrpSpPr>
        <p:grpSpPr>
          <a:xfrm>
            <a:off x="8190255" y="3141051"/>
            <a:ext cx="2416211" cy="982804"/>
            <a:chOff x="3159370" y="3025125"/>
            <a:chExt cx="2416211" cy="982804"/>
          </a:xfrm>
        </p:grpSpPr>
        <p:sp>
          <p:nvSpPr>
            <p:cNvPr id="35" name="TextBox 34">
              <a:extLst>
                <a:ext uri="{FF2B5EF4-FFF2-40B4-BE49-F238E27FC236}">
                  <a16:creationId xmlns:a16="http://schemas.microsoft.com/office/drawing/2014/main" id="{02B0DFD0-D9E9-8C9D-8547-95F43157D854}"/>
                </a:ext>
              </a:extLst>
            </p:cNvPr>
            <p:cNvSpPr txBox="1"/>
            <p:nvPr/>
          </p:nvSpPr>
          <p:spPr>
            <a:xfrm>
              <a:off x="3159370" y="3361598"/>
              <a:ext cx="2416211" cy="646331"/>
            </a:xfrm>
            <a:prstGeom prst="rect">
              <a:avLst/>
            </a:prstGeom>
            <a:solidFill>
              <a:schemeClr val="accent2">
                <a:lumMod val="20000"/>
                <a:lumOff val="80000"/>
              </a:schemeClr>
            </a:solidFill>
            <a:ln>
              <a:noFill/>
            </a:ln>
          </p:spPr>
          <p:txBody>
            <a:bodyPr wrap="square" rtlCol="0">
              <a:spAutoFit/>
            </a:bodyPr>
            <a:lstStyle>
              <a:defPPr>
                <a:defRPr lang="en-US"/>
              </a:defPPr>
              <a:lvl1pPr algn="ctr"/>
            </a:lstStyle>
            <a:p>
              <a:r>
                <a:rPr lang="en-US" dirty="0"/>
                <a:t>Difficulty mapping NEGATION to language</a:t>
              </a:r>
            </a:p>
          </p:txBody>
        </p:sp>
        <p:sp>
          <p:nvSpPr>
            <p:cNvPr id="12" name="TextBox 11">
              <a:extLst>
                <a:ext uri="{FF2B5EF4-FFF2-40B4-BE49-F238E27FC236}">
                  <a16:creationId xmlns:a16="http://schemas.microsoft.com/office/drawing/2014/main" id="{E45E315E-22B9-F1BA-2FEB-656BE3CF2123}"/>
                </a:ext>
              </a:extLst>
            </p:cNvPr>
            <p:cNvSpPr txBox="1"/>
            <p:nvPr/>
          </p:nvSpPr>
          <p:spPr>
            <a:xfrm>
              <a:off x="3204369" y="3025125"/>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grpSp>
      <p:cxnSp>
        <p:nvCxnSpPr>
          <p:cNvPr id="42" name="Straight Arrow Connector 41">
            <a:extLst>
              <a:ext uri="{FF2B5EF4-FFF2-40B4-BE49-F238E27FC236}">
                <a16:creationId xmlns:a16="http://schemas.microsoft.com/office/drawing/2014/main" id="{DF902E41-008E-3A80-AD17-7B1BC0C8D5B0}"/>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F59EEBD-DD2D-64FC-5FE0-3FE417EFD5C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44" name="TextBox 43">
            <a:extLst>
              <a:ext uri="{FF2B5EF4-FFF2-40B4-BE49-F238E27FC236}">
                <a16:creationId xmlns:a16="http://schemas.microsoft.com/office/drawing/2014/main" id="{32F060E6-BDAE-6400-839F-718DC90F8547}"/>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45" name="TextBox 44">
            <a:extLst>
              <a:ext uri="{FF2B5EF4-FFF2-40B4-BE49-F238E27FC236}">
                <a16:creationId xmlns:a16="http://schemas.microsoft.com/office/drawing/2014/main" id="{8F2B0F71-371F-023A-018C-600D48140842}"/>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46" name="Straight Connector 45">
            <a:extLst>
              <a:ext uri="{FF2B5EF4-FFF2-40B4-BE49-F238E27FC236}">
                <a16:creationId xmlns:a16="http://schemas.microsoft.com/office/drawing/2014/main" id="{17755FC3-7D28-77BD-E114-1D531612505B}"/>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AD21A0B-692F-03EB-16F8-5FF486CD2FF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48" name="Straight Connector 47">
            <a:extLst>
              <a:ext uri="{FF2B5EF4-FFF2-40B4-BE49-F238E27FC236}">
                <a16:creationId xmlns:a16="http://schemas.microsoft.com/office/drawing/2014/main" id="{57E82409-BA75-4ED7-0322-101051F16CDD}"/>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CD16AB-5090-60E7-5445-541B4A7367B1}"/>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7669567-470F-BFC5-4875-FAE6E88076FF}"/>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51" name="TextBox 50">
            <a:extLst>
              <a:ext uri="{FF2B5EF4-FFF2-40B4-BE49-F238E27FC236}">
                <a16:creationId xmlns:a16="http://schemas.microsoft.com/office/drawing/2014/main" id="{E508627E-361D-8842-ABC6-1A342923D120}"/>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52" name="Rectangle 51">
            <a:extLst>
              <a:ext uri="{FF2B5EF4-FFF2-40B4-BE49-F238E27FC236}">
                <a16:creationId xmlns:a16="http://schemas.microsoft.com/office/drawing/2014/main" id="{4675F17D-E630-6E86-0832-6A2DB8365075}"/>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6CE3B1E7-6DD9-E4DB-4730-98FD35545DC9}"/>
              </a:ext>
            </a:extLst>
          </p:cNvPr>
          <p:cNvSpPr/>
          <p:nvPr/>
        </p:nvSpPr>
        <p:spPr>
          <a:xfrm>
            <a:off x="1813778" y="4868683"/>
            <a:ext cx="9121733" cy="1154948"/>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Is language learning or concept learning the major bottleneck on children’s acquisition of negation?</a:t>
            </a:r>
          </a:p>
        </p:txBody>
      </p:sp>
    </p:spTree>
    <p:extLst>
      <p:ext uri="{BB962C8B-B14F-4D97-AF65-F5344CB8AC3E}">
        <p14:creationId xmlns:p14="http://schemas.microsoft.com/office/powerpoint/2010/main" val="208995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35205E-9ADC-6907-34ED-DFD0960DE607}"/>
              </a:ext>
            </a:extLst>
          </p:cNvPr>
          <p:cNvPicPr>
            <a:picLocks noChangeAspect="1"/>
          </p:cNvPicPr>
          <p:nvPr/>
        </p:nvPicPr>
        <p:blipFill>
          <a:blip r:embed="rId3"/>
          <a:stretch>
            <a:fillRect/>
          </a:stretch>
        </p:blipFill>
        <p:spPr>
          <a:xfrm>
            <a:off x="845012" y="4673767"/>
            <a:ext cx="1326314" cy="1326314"/>
          </a:xfrm>
          <a:prstGeom prst="rect">
            <a:avLst/>
          </a:prstGeom>
        </p:spPr>
      </p:pic>
      <p:sp>
        <p:nvSpPr>
          <p:cNvPr id="6" name="Oval Callout 5">
            <a:extLst>
              <a:ext uri="{FF2B5EF4-FFF2-40B4-BE49-F238E27FC236}">
                <a16:creationId xmlns:a16="http://schemas.microsoft.com/office/drawing/2014/main" id="{861DD96B-6916-A7C6-2EB8-E215F1389A50}"/>
              </a:ext>
            </a:extLst>
          </p:cNvPr>
          <p:cNvSpPr/>
          <p:nvPr/>
        </p:nvSpPr>
        <p:spPr>
          <a:xfrm>
            <a:off x="3203480" y="511546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7" name="Cloud Callout 6">
            <a:extLst>
              <a:ext uri="{FF2B5EF4-FFF2-40B4-BE49-F238E27FC236}">
                <a16:creationId xmlns:a16="http://schemas.microsoft.com/office/drawing/2014/main" id="{6D0FF0C2-173B-DB45-1A47-1172C19D3487}"/>
              </a:ext>
            </a:extLst>
          </p:cNvPr>
          <p:cNvSpPr/>
          <p:nvPr/>
        </p:nvSpPr>
        <p:spPr>
          <a:xfrm>
            <a:off x="2171326" y="2798450"/>
            <a:ext cx="4773621" cy="1733552"/>
          </a:xfrm>
          <a:prstGeom prst="cloudCallout">
            <a:avLst>
              <a:gd name="adj1" fmla="val -53593"/>
              <a:gd name="adj2" fmla="val 6623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 name="TextBox 7">
            <a:extLst>
              <a:ext uri="{FF2B5EF4-FFF2-40B4-BE49-F238E27FC236}">
                <a16:creationId xmlns:a16="http://schemas.microsoft.com/office/drawing/2014/main" id="{34BC2F82-CE0B-49C2-4E64-C0DA7BD2092F}"/>
              </a:ext>
            </a:extLst>
          </p:cNvPr>
          <p:cNvSpPr txBox="1"/>
          <p:nvPr/>
        </p:nvSpPr>
        <p:spPr>
          <a:xfrm>
            <a:off x="2500165" y="3434138"/>
            <a:ext cx="1144865" cy="338554"/>
          </a:xfrm>
          <a:prstGeom prst="rect">
            <a:avLst/>
          </a:prstGeom>
          <a:noFill/>
        </p:spPr>
        <p:txBody>
          <a:bodyPr wrap="none" rtlCol="0">
            <a:spAutoFit/>
          </a:bodyPr>
          <a:lstStyle/>
          <a:p>
            <a:r>
              <a:rPr lang="en-US" sz="1600" dirty="0"/>
              <a:t>REJECTION</a:t>
            </a:r>
          </a:p>
        </p:txBody>
      </p:sp>
      <p:cxnSp>
        <p:nvCxnSpPr>
          <p:cNvPr id="9" name="Straight Arrow Connector 8">
            <a:extLst>
              <a:ext uri="{FF2B5EF4-FFF2-40B4-BE49-F238E27FC236}">
                <a16:creationId xmlns:a16="http://schemas.microsoft.com/office/drawing/2014/main" id="{7B9D2CE5-BB05-83B8-C5CF-0709079EFD6C}"/>
              </a:ext>
            </a:extLst>
          </p:cNvPr>
          <p:cNvCxnSpPr>
            <a:cxnSpLocks/>
            <a:stCxn id="8" idx="2"/>
          </p:cNvCxnSpPr>
          <p:nvPr/>
        </p:nvCxnSpPr>
        <p:spPr>
          <a:xfrm>
            <a:off x="3072598" y="377269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7EB56A6-C77C-7BCF-77A8-165E24F2D03A}"/>
              </a:ext>
            </a:extLst>
          </p:cNvPr>
          <p:cNvSpPr txBox="1"/>
          <p:nvPr/>
        </p:nvSpPr>
        <p:spPr>
          <a:xfrm>
            <a:off x="3198717" y="373716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345EBB27-3B26-CEEA-4A7F-8F26CAC9F0C8}"/>
              </a:ext>
            </a:extLst>
          </p:cNvPr>
          <p:cNvSpPr txBox="1"/>
          <p:nvPr/>
        </p:nvSpPr>
        <p:spPr>
          <a:xfrm>
            <a:off x="4083031" y="3304831"/>
            <a:ext cx="1544718" cy="338554"/>
          </a:xfrm>
          <a:prstGeom prst="rect">
            <a:avLst/>
          </a:prstGeom>
          <a:noFill/>
        </p:spPr>
        <p:txBody>
          <a:bodyPr wrap="none" rtlCol="0">
            <a:spAutoFit/>
          </a:bodyPr>
          <a:lstStyle/>
          <a:p>
            <a:r>
              <a:rPr lang="en-US" sz="1600" dirty="0"/>
              <a:t>NONEXISTENCE</a:t>
            </a:r>
          </a:p>
        </p:txBody>
      </p:sp>
      <p:sp>
        <p:nvSpPr>
          <p:cNvPr id="14" name="TextBox 13">
            <a:extLst>
              <a:ext uri="{FF2B5EF4-FFF2-40B4-BE49-F238E27FC236}">
                <a16:creationId xmlns:a16="http://schemas.microsoft.com/office/drawing/2014/main" id="{89B29BC3-D8E0-6D89-2FBD-DCFB996EF98C}"/>
              </a:ext>
            </a:extLst>
          </p:cNvPr>
          <p:cNvSpPr txBox="1"/>
          <p:nvPr/>
        </p:nvSpPr>
        <p:spPr>
          <a:xfrm>
            <a:off x="4992048" y="3668222"/>
            <a:ext cx="809837"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75000"/>
                  </a:srgbClr>
                </a:solidFill>
                <a:effectLst/>
                <a:uLnTx/>
                <a:uFillTx/>
                <a:latin typeface="Franklin Gothic Book" panose="020B0503020102020204"/>
                <a:ea typeface="+mn-ea"/>
                <a:cs typeface="+mn-cs"/>
              </a:rPr>
              <a:t>??????</a:t>
            </a:r>
          </a:p>
        </p:txBody>
      </p:sp>
      <p:cxnSp>
        <p:nvCxnSpPr>
          <p:cNvPr id="17" name="Straight Arrow Connector 16">
            <a:extLst>
              <a:ext uri="{FF2B5EF4-FFF2-40B4-BE49-F238E27FC236}">
                <a16:creationId xmlns:a16="http://schemas.microsoft.com/office/drawing/2014/main" id="{FE207145-797B-DA4E-43BE-2D9D0C8BD36F}"/>
              </a:ext>
            </a:extLst>
          </p:cNvPr>
          <p:cNvCxnSpPr>
            <a:cxnSpLocks/>
            <a:stCxn id="14" idx="2"/>
          </p:cNvCxnSpPr>
          <p:nvPr/>
        </p:nvCxnSpPr>
        <p:spPr>
          <a:xfrm flipH="1">
            <a:off x="4156719" y="4006776"/>
            <a:ext cx="1240248" cy="1341639"/>
          </a:xfrm>
          <a:prstGeom prst="straightConnector1">
            <a:avLst/>
          </a:prstGeom>
          <a:ln w="28575">
            <a:solidFill>
              <a:schemeClr val="bg2">
                <a:lumMod val="9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859F70F-86B8-7EFD-6EBC-159DC9CF9000}"/>
              </a:ext>
            </a:extLst>
          </p:cNvPr>
          <p:cNvCxnSpPr>
            <a:cxnSpLocks/>
            <a:stCxn id="10" idx="2"/>
          </p:cNvCxnSpPr>
          <p:nvPr/>
        </p:nvCxnSpPr>
        <p:spPr>
          <a:xfrm>
            <a:off x="3861174" y="4075721"/>
            <a:ext cx="221857"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CD96BCB-9EF4-183E-D6F4-A387A6B1C3F3}"/>
              </a:ext>
            </a:extLst>
          </p:cNvPr>
          <p:cNvCxnSpPr>
            <a:cxnSpLocks/>
            <a:stCxn id="11" idx="2"/>
          </p:cNvCxnSpPr>
          <p:nvPr/>
        </p:nvCxnSpPr>
        <p:spPr>
          <a:xfrm flipH="1">
            <a:off x="4083031" y="3643385"/>
            <a:ext cx="772359" cy="180950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6DD20BE-4C35-CFDC-299C-F973AD377E04}"/>
              </a:ext>
            </a:extLst>
          </p:cNvPr>
          <p:cNvSpPr txBox="1"/>
          <p:nvPr/>
        </p:nvSpPr>
        <p:spPr>
          <a:xfrm>
            <a:off x="7350180" y="2798450"/>
            <a:ext cx="6300123" cy="2246769"/>
          </a:xfrm>
          <a:prstGeom prst="rect">
            <a:avLst/>
          </a:prstGeom>
          <a:noFill/>
        </p:spPr>
        <p:txBody>
          <a:bodyPr wrap="none" rtlCol="0">
            <a:spAutoFit/>
          </a:bodyPr>
          <a:lstStyle/>
          <a:p>
            <a:r>
              <a:rPr lang="en-US" sz="2000" dirty="0"/>
              <a:t>WANT 		:	REJECT</a:t>
            </a:r>
          </a:p>
          <a:p>
            <a:endParaRPr lang="en-US" sz="2000" dirty="0"/>
          </a:p>
          <a:p>
            <a:r>
              <a:rPr lang="en-US" sz="2000" dirty="0"/>
              <a:t>ALLOWED	:	PROHIBITED</a:t>
            </a:r>
          </a:p>
          <a:p>
            <a:endParaRPr lang="en-US" sz="2000" dirty="0"/>
          </a:p>
          <a:p>
            <a:r>
              <a:rPr lang="en-US" sz="2000" dirty="0"/>
              <a:t>EXISTS		: 	NONEXISTENCE</a:t>
            </a:r>
          </a:p>
          <a:p>
            <a:endParaRPr lang="en-US" sz="2000" dirty="0"/>
          </a:p>
          <a:p>
            <a:r>
              <a:rPr lang="en-US" sz="2000" dirty="0"/>
              <a:t>P			: 	NEGATION ( P )					“No!”</a:t>
            </a:r>
          </a:p>
        </p:txBody>
      </p:sp>
      <p:sp>
        <p:nvSpPr>
          <p:cNvPr id="16" name="TextBox 15">
            <a:extLst>
              <a:ext uri="{FF2B5EF4-FFF2-40B4-BE49-F238E27FC236}">
                <a16:creationId xmlns:a16="http://schemas.microsoft.com/office/drawing/2014/main" id="{5D9F5263-1364-7C86-B873-A31BE88D4390}"/>
              </a:ext>
            </a:extLst>
          </p:cNvPr>
          <p:cNvSpPr txBox="1"/>
          <p:nvPr/>
        </p:nvSpPr>
        <p:spPr>
          <a:xfrm>
            <a:off x="4855391" y="6519446"/>
            <a:ext cx="7336610" cy="338554"/>
          </a:xfrm>
          <a:prstGeom prst="rect">
            <a:avLst/>
          </a:prstGeom>
          <a:noFill/>
        </p:spPr>
        <p:txBody>
          <a:bodyPr wrap="square" rtlCol="0">
            <a:spAutoFit/>
          </a:bodyPr>
          <a:lstStyle/>
          <a:p>
            <a:r>
              <a:rPr lang="en-US" sz="1600" dirty="0">
                <a:solidFill>
                  <a:schemeClr val="bg2">
                    <a:lumMod val="50000"/>
                  </a:schemeClr>
                </a:solidFill>
              </a:rPr>
              <a:t>Bermudez (2003); Drozd (1995); Hummer, Wimmer, &amp; Antes (1995) ); Pea (1980)</a:t>
            </a:r>
          </a:p>
        </p:txBody>
      </p:sp>
      <p:sp>
        <p:nvSpPr>
          <p:cNvPr id="36" name="TextBox 35">
            <a:extLst>
              <a:ext uri="{FF2B5EF4-FFF2-40B4-BE49-F238E27FC236}">
                <a16:creationId xmlns:a16="http://schemas.microsoft.com/office/drawing/2014/main" id="{FC3547FE-847E-DCAA-CABB-12269F608253}"/>
              </a:ext>
            </a:extLst>
          </p:cNvPr>
          <p:cNvSpPr txBox="1"/>
          <p:nvPr/>
        </p:nvSpPr>
        <p:spPr>
          <a:xfrm>
            <a:off x="4867340" y="3655504"/>
            <a:ext cx="1228659" cy="338554"/>
          </a:xfrm>
          <a:prstGeom prst="rect">
            <a:avLst/>
          </a:prstGeom>
          <a:noFill/>
        </p:spPr>
        <p:txBody>
          <a:bodyPr wrap="square" rtlCol="0">
            <a:spAutoFit/>
          </a:bodyPr>
          <a:lstStyle/>
          <a:p>
            <a:r>
              <a:rPr lang="en-US" sz="1600" dirty="0"/>
              <a:t>NEGATION </a:t>
            </a:r>
          </a:p>
        </p:txBody>
      </p:sp>
      <p:cxnSp>
        <p:nvCxnSpPr>
          <p:cNvPr id="37" name="Straight Arrow Connector 36">
            <a:extLst>
              <a:ext uri="{FF2B5EF4-FFF2-40B4-BE49-F238E27FC236}">
                <a16:creationId xmlns:a16="http://schemas.microsoft.com/office/drawing/2014/main" id="{A5A3A61E-4C2D-A6D5-5594-E38D89FB745D}"/>
              </a:ext>
            </a:extLst>
          </p:cNvPr>
          <p:cNvCxnSpPr>
            <a:cxnSpLocks/>
            <a:stCxn id="36" idx="2"/>
          </p:cNvCxnSpPr>
          <p:nvPr/>
        </p:nvCxnSpPr>
        <p:spPr>
          <a:xfrm flipH="1">
            <a:off x="4080575" y="3994058"/>
            <a:ext cx="1401095" cy="1402263"/>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FBD9EA13-ED33-2734-9B08-45E7C694FA4F}"/>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116255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build="p"/>
      <p:bldP spid="36"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D7E1A-C544-90AE-2903-E158E9A01E46}"/>
              </a:ext>
            </a:extLst>
          </p:cNvPr>
          <p:cNvSpPr txBox="1"/>
          <p:nvPr/>
        </p:nvSpPr>
        <p:spPr>
          <a:xfrm>
            <a:off x="3747589" y="2346397"/>
            <a:ext cx="966931" cy="400110"/>
          </a:xfrm>
          <a:prstGeom prst="rect">
            <a:avLst/>
          </a:prstGeom>
          <a:noFill/>
        </p:spPr>
        <p:txBody>
          <a:bodyPr wrap="none" rtlCol="0">
            <a:spAutoFit/>
          </a:bodyPr>
          <a:lstStyle/>
          <a:p>
            <a:r>
              <a:rPr lang="en-US" sz="2000" u="sng" dirty="0"/>
              <a:t>English</a:t>
            </a:r>
          </a:p>
        </p:txBody>
      </p:sp>
      <p:pic>
        <p:nvPicPr>
          <p:cNvPr id="8" name="Picture 7">
            <a:extLst>
              <a:ext uri="{FF2B5EF4-FFF2-40B4-BE49-F238E27FC236}">
                <a16:creationId xmlns:a16="http://schemas.microsoft.com/office/drawing/2014/main" id="{083C7D69-18BB-73AF-A4CA-8740B99ED743}"/>
              </a:ext>
            </a:extLst>
          </p:cNvPr>
          <p:cNvPicPr>
            <a:picLocks noChangeAspect="1"/>
          </p:cNvPicPr>
          <p:nvPr/>
        </p:nvPicPr>
        <p:blipFill>
          <a:blip r:embed="rId3"/>
          <a:stretch>
            <a:fillRect/>
          </a:stretch>
        </p:blipFill>
        <p:spPr>
          <a:xfrm>
            <a:off x="731427" y="5065056"/>
            <a:ext cx="1326314" cy="1326314"/>
          </a:xfrm>
          <a:prstGeom prst="rect">
            <a:avLst/>
          </a:prstGeom>
        </p:spPr>
      </p:pic>
      <p:sp>
        <p:nvSpPr>
          <p:cNvPr id="9" name="Oval Callout 8">
            <a:extLst>
              <a:ext uri="{FF2B5EF4-FFF2-40B4-BE49-F238E27FC236}">
                <a16:creationId xmlns:a16="http://schemas.microsoft.com/office/drawing/2014/main" id="{6A1CA842-69F9-9312-4ADC-218CCCC11508}"/>
              </a:ext>
            </a:extLst>
          </p:cNvPr>
          <p:cNvSpPr/>
          <p:nvPr/>
        </p:nvSpPr>
        <p:spPr>
          <a:xfrm>
            <a:off x="3089895" y="5506752"/>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10" name="Cloud Callout 9">
            <a:extLst>
              <a:ext uri="{FF2B5EF4-FFF2-40B4-BE49-F238E27FC236}">
                <a16:creationId xmlns:a16="http://schemas.microsoft.com/office/drawing/2014/main" id="{2905D112-5D50-D5B2-3961-FE44D58F7A6E}"/>
              </a:ext>
            </a:extLst>
          </p:cNvPr>
          <p:cNvSpPr/>
          <p:nvPr/>
        </p:nvSpPr>
        <p:spPr>
          <a:xfrm>
            <a:off x="205774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TextBox 10">
            <a:extLst>
              <a:ext uri="{FF2B5EF4-FFF2-40B4-BE49-F238E27FC236}">
                <a16:creationId xmlns:a16="http://schemas.microsoft.com/office/drawing/2014/main" id="{559AC8EE-E2AA-F8CD-DF08-826F7BF1C178}"/>
              </a:ext>
            </a:extLst>
          </p:cNvPr>
          <p:cNvSpPr txBox="1"/>
          <p:nvPr/>
        </p:nvSpPr>
        <p:spPr>
          <a:xfrm>
            <a:off x="2386580" y="3825427"/>
            <a:ext cx="1144865" cy="338554"/>
          </a:xfrm>
          <a:prstGeom prst="rect">
            <a:avLst/>
          </a:prstGeom>
          <a:noFill/>
        </p:spPr>
        <p:txBody>
          <a:bodyPr wrap="none" rtlCol="0">
            <a:spAutoFit/>
          </a:bodyPr>
          <a:lstStyle/>
          <a:p>
            <a:r>
              <a:rPr lang="en-US" sz="1600" dirty="0"/>
              <a:t>REJECTION</a:t>
            </a:r>
          </a:p>
        </p:txBody>
      </p:sp>
      <p:cxnSp>
        <p:nvCxnSpPr>
          <p:cNvPr id="13" name="Straight Arrow Connector 12">
            <a:extLst>
              <a:ext uri="{FF2B5EF4-FFF2-40B4-BE49-F238E27FC236}">
                <a16:creationId xmlns:a16="http://schemas.microsoft.com/office/drawing/2014/main" id="{768221B0-6FC8-657D-8105-2505C4D25326}"/>
              </a:ext>
            </a:extLst>
          </p:cNvPr>
          <p:cNvCxnSpPr>
            <a:cxnSpLocks/>
            <a:stCxn id="11" idx="2"/>
          </p:cNvCxnSpPr>
          <p:nvPr/>
        </p:nvCxnSpPr>
        <p:spPr>
          <a:xfrm>
            <a:off x="2959013" y="4163981"/>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78D92B3-6086-5B05-DEC6-E5F6FFF75FE7}"/>
              </a:ext>
            </a:extLst>
          </p:cNvPr>
          <p:cNvSpPr txBox="1"/>
          <p:nvPr/>
        </p:nvSpPr>
        <p:spPr>
          <a:xfrm>
            <a:off x="3085132" y="4128456"/>
            <a:ext cx="1324914" cy="338554"/>
          </a:xfrm>
          <a:prstGeom prst="rect">
            <a:avLst/>
          </a:prstGeom>
          <a:noFill/>
        </p:spPr>
        <p:txBody>
          <a:bodyPr wrap="none" rtlCol="0">
            <a:spAutoFit/>
          </a:bodyPr>
          <a:lstStyle/>
          <a:p>
            <a:r>
              <a:rPr lang="en-US" sz="1600" dirty="0"/>
              <a:t>PROHIBITION</a:t>
            </a:r>
          </a:p>
        </p:txBody>
      </p:sp>
      <p:sp>
        <p:nvSpPr>
          <p:cNvPr id="17" name="TextBox 16">
            <a:extLst>
              <a:ext uri="{FF2B5EF4-FFF2-40B4-BE49-F238E27FC236}">
                <a16:creationId xmlns:a16="http://schemas.microsoft.com/office/drawing/2014/main" id="{C473472C-E241-0ADC-9C3D-0CB24CC17498}"/>
              </a:ext>
            </a:extLst>
          </p:cNvPr>
          <p:cNvSpPr txBox="1"/>
          <p:nvPr/>
        </p:nvSpPr>
        <p:spPr>
          <a:xfrm>
            <a:off x="3969446" y="3696120"/>
            <a:ext cx="1544718" cy="338554"/>
          </a:xfrm>
          <a:prstGeom prst="rect">
            <a:avLst/>
          </a:prstGeom>
          <a:noFill/>
        </p:spPr>
        <p:txBody>
          <a:bodyPr wrap="none" rtlCol="0">
            <a:spAutoFit/>
          </a:bodyPr>
          <a:lstStyle/>
          <a:p>
            <a:r>
              <a:rPr lang="en-US" sz="1600" dirty="0"/>
              <a:t>NONEXISTENCE</a:t>
            </a:r>
          </a:p>
        </p:txBody>
      </p:sp>
      <p:cxnSp>
        <p:nvCxnSpPr>
          <p:cNvPr id="20" name="Straight Arrow Connector 19">
            <a:extLst>
              <a:ext uri="{FF2B5EF4-FFF2-40B4-BE49-F238E27FC236}">
                <a16:creationId xmlns:a16="http://schemas.microsoft.com/office/drawing/2014/main" id="{7AC66E78-812C-CAC5-8CDE-F15BE1432B5D}"/>
              </a:ext>
            </a:extLst>
          </p:cNvPr>
          <p:cNvCxnSpPr>
            <a:cxnSpLocks/>
            <a:stCxn id="14" idx="2"/>
          </p:cNvCxnSpPr>
          <p:nvPr/>
        </p:nvCxnSpPr>
        <p:spPr>
          <a:xfrm>
            <a:off x="3747589" y="4467010"/>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A416048-F80F-19BA-27A0-B6866ADE6DE1}"/>
              </a:ext>
            </a:extLst>
          </p:cNvPr>
          <p:cNvCxnSpPr>
            <a:cxnSpLocks/>
            <a:stCxn id="17" idx="2"/>
          </p:cNvCxnSpPr>
          <p:nvPr/>
        </p:nvCxnSpPr>
        <p:spPr>
          <a:xfrm flipH="1">
            <a:off x="3946457" y="4034674"/>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2382E28-6D9E-F3A9-F226-35023F20169C}"/>
              </a:ext>
            </a:extLst>
          </p:cNvPr>
          <p:cNvSpPr txBox="1"/>
          <p:nvPr/>
        </p:nvSpPr>
        <p:spPr>
          <a:xfrm>
            <a:off x="4912668" y="4148657"/>
            <a:ext cx="1077474" cy="338554"/>
          </a:xfrm>
          <a:prstGeom prst="rect">
            <a:avLst/>
          </a:prstGeom>
          <a:noFill/>
        </p:spPr>
        <p:txBody>
          <a:bodyPr wrap="none" rtlCol="0">
            <a:spAutoFit/>
          </a:bodyPr>
          <a:lstStyle/>
          <a:p>
            <a:r>
              <a:rPr lang="en-US" sz="1600" dirty="0"/>
              <a:t>NEGATION</a:t>
            </a:r>
          </a:p>
        </p:txBody>
      </p:sp>
      <p:cxnSp>
        <p:nvCxnSpPr>
          <p:cNvPr id="24" name="Straight Arrow Connector 23">
            <a:extLst>
              <a:ext uri="{FF2B5EF4-FFF2-40B4-BE49-F238E27FC236}">
                <a16:creationId xmlns:a16="http://schemas.microsoft.com/office/drawing/2014/main" id="{58426052-4CCB-7FA7-0AFF-52D133BA054E}"/>
              </a:ext>
            </a:extLst>
          </p:cNvPr>
          <p:cNvCxnSpPr>
            <a:cxnSpLocks/>
            <a:stCxn id="23" idx="2"/>
          </p:cNvCxnSpPr>
          <p:nvPr/>
        </p:nvCxnSpPr>
        <p:spPr>
          <a:xfrm flipH="1">
            <a:off x="4077339" y="4487211"/>
            <a:ext cx="1374066" cy="1341639"/>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3015B9A-2338-B7DF-2FF7-A6404C6E2963}"/>
              </a:ext>
            </a:extLst>
          </p:cNvPr>
          <p:cNvSpPr txBox="1"/>
          <p:nvPr/>
        </p:nvSpPr>
        <p:spPr>
          <a:xfrm>
            <a:off x="8850049" y="2346397"/>
            <a:ext cx="1010918" cy="400110"/>
          </a:xfrm>
          <a:prstGeom prst="rect">
            <a:avLst/>
          </a:prstGeom>
          <a:noFill/>
        </p:spPr>
        <p:txBody>
          <a:bodyPr wrap="none" rtlCol="0">
            <a:spAutoFit/>
          </a:bodyPr>
          <a:lstStyle/>
          <a:p>
            <a:r>
              <a:rPr lang="en-US" sz="2000" u="sng" dirty="0"/>
              <a:t>Tagalog</a:t>
            </a:r>
          </a:p>
        </p:txBody>
      </p:sp>
      <p:sp>
        <p:nvSpPr>
          <p:cNvPr id="26" name="Oval Callout 25">
            <a:extLst>
              <a:ext uri="{FF2B5EF4-FFF2-40B4-BE49-F238E27FC236}">
                <a16:creationId xmlns:a16="http://schemas.microsoft.com/office/drawing/2014/main" id="{25A68B95-10F6-78D4-DD24-4327A287D905}"/>
              </a:ext>
            </a:extLst>
          </p:cNvPr>
          <p:cNvSpPr/>
          <p:nvPr/>
        </p:nvSpPr>
        <p:spPr>
          <a:xfrm>
            <a:off x="7437797" y="5558979"/>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Cloud Callout 26">
            <a:extLst>
              <a:ext uri="{FF2B5EF4-FFF2-40B4-BE49-F238E27FC236}">
                <a16:creationId xmlns:a16="http://schemas.microsoft.com/office/drawing/2014/main" id="{A039CCF2-A32D-BABD-D6B3-67933E9A09B7}"/>
              </a:ext>
            </a:extLst>
          </p:cNvPr>
          <p:cNvSpPr/>
          <p:nvPr/>
        </p:nvSpPr>
        <p:spPr>
          <a:xfrm>
            <a:off x="716020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8" name="TextBox 27">
            <a:extLst>
              <a:ext uri="{FF2B5EF4-FFF2-40B4-BE49-F238E27FC236}">
                <a16:creationId xmlns:a16="http://schemas.microsoft.com/office/drawing/2014/main" id="{256F936F-2F1C-C22B-327E-2B398DE91426}"/>
              </a:ext>
            </a:extLst>
          </p:cNvPr>
          <p:cNvSpPr txBox="1"/>
          <p:nvPr/>
        </p:nvSpPr>
        <p:spPr>
          <a:xfrm>
            <a:off x="7489040" y="3825427"/>
            <a:ext cx="1144865" cy="338554"/>
          </a:xfrm>
          <a:prstGeom prst="rect">
            <a:avLst/>
          </a:prstGeom>
          <a:noFill/>
        </p:spPr>
        <p:txBody>
          <a:bodyPr wrap="none" rtlCol="0">
            <a:spAutoFit/>
          </a:bodyPr>
          <a:lstStyle/>
          <a:p>
            <a:r>
              <a:rPr lang="en-US" sz="1600" dirty="0"/>
              <a:t>REJECTION</a:t>
            </a:r>
          </a:p>
        </p:txBody>
      </p:sp>
      <p:sp>
        <p:nvSpPr>
          <p:cNvPr id="29" name="TextBox 28">
            <a:extLst>
              <a:ext uri="{FF2B5EF4-FFF2-40B4-BE49-F238E27FC236}">
                <a16:creationId xmlns:a16="http://schemas.microsoft.com/office/drawing/2014/main" id="{F5BFDDB4-7D09-2B76-16C2-6AE12D711A63}"/>
              </a:ext>
            </a:extLst>
          </p:cNvPr>
          <p:cNvSpPr txBox="1"/>
          <p:nvPr/>
        </p:nvSpPr>
        <p:spPr>
          <a:xfrm>
            <a:off x="8187592" y="4128456"/>
            <a:ext cx="1324914" cy="338554"/>
          </a:xfrm>
          <a:prstGeom prst="rect">
            <a:avLst/>
          </a:prstGeom>
          <a:noFill/>
        </p:spPr>
        <p:txBody>
          <a:bodyPr wrap="none" rtlCol="0">
            <a:spAutoFit/>
          </a:bodyPr>
          <a:lstStyle/>
          <a:p>
            <a:r>
              <a:rPr lang="en-US" sz="1600" dirty="0"/>
              <a:t>PROHIBITION</a:t>
            </a:r>
          </a:p>
        </p:txBody>
      </p:sp>
      <p:sp>
        <p:nvSpPr>
          <p:cNvPr id="31" name="TextBox 30">
            <a:extLst>
              <a:ext uri="{FF2B5EF4-FFF2-40B4-BE49-F238E27FC236}">
                <a16:creationId xmlns:a16="http://schemas.microsoft.com/office/drawing/2014/main" id="{A51F3C85-3A62-FBE8-681A-3971E73B4F8C}"/>
              </a:ext>
            </a:extLst>
          </p:cNvPr>
          <p:cNvSpPr txBox="1"/>
          <p:nvPr/>
        </p:nvSpPr>
        <p:spPr>
          <a:xfrm>
            <a:off x="9071906" y="3696120"/>
            <a:ext cx="1544718" cy="338554"/>
          </a:xfrm>
          <a:prstGeom prst="rect">
            <a:avLst/>
          </a:prstGeom>
          <a:noFill/>
        </p:spPr>
        <p:txBody>
          <a:bodyPr wrap="none" rtlCol="0">
            <a:spAutoFit/>
          </a:bodyPr>
          <a:lstStyle/>
          <a:p>
            <a:r>
              <a:rPr lang="en-US" sz="1600" dirty="0"/>
              <a:t>NONEXISTENCE</a:t>
            </a:r>
          </a:p>
        </p:txBody>
      </p:sp>
      <p:sp>
        <p:nvSpPr>
          <p:cNvPr id="32" name="TextBox 31">
            <a:extLst>
              <a:ext uri="{FF2B5EF4-FFF2-40B4-BE49-F238E27FC236}">
                <a16:creationId xmlns:a16="http://schemas.microsoft.com/office/drawing/2014/main" id="{2D286D7A-9DE2-799C-45CF-A1ECE01F4204}"/>
              </a:ext>
            </a:extLst>
          </p:cNvPr>
          <p:cNvSpPr txBox="1"/>
          <p:nvPr/>
        </p:nvSpPr>
        <p:spPr>
          <a:xfrm>
            <a:off x="10015128" y="4148657"/>
            <a:ext cx="1077474" cy="338554"/>
          </a:xfrm>
          <a:prstGeom prst="rect">
            <a:avLst/>
          </a:prstGeom>
          <a:noFill/>
        </p:spPr>
        <p:txBody>
          <a:bodyPr wrap="none" rtlCol="0">
            <a:spAutoFit/>
          </a:bodyPr>
          <a:lstStyle/>
          <a:p>
            <a:r>
              <a:rPr lang="en-US" sz="1600" dirty="0"/>
              <a:t>NEGATION</a:t>
            </a:r>
          </a:p>
        </p:txBody>
      </p:sp>
      <p:sp>
        <p:nvSpPr>
          <p:cNvPr id="33" name="TextBox 32">
            <a:extLst>
              <a:ext uri="{FF2B5EF4-FFF2-40B4-BE49-F238E27FC236}">
                <a16:creationId xmlns:a16="http://schemas.microsoft.com/office/drawing/2014/main" id="{80D4E548-A0A9-E0E4-F6B2-FE68B1A8E521}"/>
              </a:ext>
            </a:extLst>
          </p:cNvPr>
          <p:cNvSpPr txBox="1"/>
          <p:nvPr/>
        </p:nvSpPr>
        <p:spPr>
          <a:xfrm>
            <a:off x="7712173" y="5862008"/>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34" name="Straight Arrow Connector 33">
            <a:extLst>
              <a:ext uri="{FF2B5EF4-FFF2-40B4-BE49-F238E27FC236}">
                <a16:creationId xmlns:a16="http://schemas.microsoft.com/office/drawing/2014/main" id="{B58A3310-374D-D244-0E99-EEE93BC41594}"/>
              </a:ext>
            </a:extLst>
          </p:cNvPr>
          <p:cNvCxnSpPr>
            <a:cxnSpLocks/>
          </p:cNvCxnSpPr>
          <p:nvPr/>
        </p:nvCxnSpPr>
        <p:spPr>
          <a:xfrm>
            <a:off x="8031642" y="4197139"/>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5B4DF4-08AB-C6CD-E44E-AF6EE5103AB3}"/>
              </a:ext>
            </a:extLst>
          </p:cNvPr>
          <p:cNvCxnSpPr>
            <a:cxnSpLocks/>
          </p:cNvCxnSpPr>
          <p:nvPr/>
        </p:nvCxnSpPr>
        <p:spPr>
          <a:xfrm>
            <a:off x="8850049" y="4408701"/>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5DCE627-52FF-26B7-7EF1-39A190F7FBE1}"/>
              </a:ext>
            </a:extLst>
          </p:cNvPr>
          <p:cNvCxnSpPr>
            <a:cxnSpLocks/>
          </p:cNvCxnSpPr>
          <p:nvPr/>
        </p:nvCxnSpPr>
        <p:spPr>
          <a:xfrm>
            <a:off x="9834185" y="4041096"/>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48C4FED-AB7E-A721-EF06-53317E6B245D}"/>
              </a:ext>
            </a:extLst>
          </p:cNvPr>
          <p:cNvCxnSpPr>
            <a:cxnSpLocks/>
          </p:cNvCxnSpPr>
          <p:nvPr/>
        </p:nvCxnSpPr>
        <p:spPr>
          <a:xfrm>
            <a:off x="10583665" y="4467010"/>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Arc 2">
            <a:extLst>
              <a:ext uri="{FF2B5EF4-FFF2-40B4-BE49-F238E27FC236}">
                <a16:creationId xmlns:a16="http://schemas.microsoft.com/office/drawing/2014/main" id="{2D7D589E-93C8-1E77-F534-D6B7602E0468}"/>
              </a:ext>
            </a:extLst>
          </p:cNvPr>
          <p:cNvSpPr/>
          <p:nvPr/>
        </p:nvSpPr>
        <p:spPr>
          <a:xfrm>
            <a:off x="2913800" y="3382093"/>
            <a:ext cx="2742413" cy="1200711"/>
          </a:xfrm>
          <a:prstGeom prst="arc">
            <a:avLst>
              <a:gd name="adj1" fmla="val 11309548"/>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5" name="Arc 4">
            <a:extLst>
              <a:ext uri="{FF2B5EF4-FFF2-40B4-BE49-F238E27FC236}">
                <a16:creationId xmlns:a16="http://schemas.microsoft.com/office/drawing/2014/main" id="{C76E98E7-33CC-3D37-113A-CC7EDD7CDCD5}"/>
              </a:ext>
            </a:extLst>
          </p:cNvPr>
          <p:cNvSpPr/>
          <p:nvPr/>
        </p:nvSpPr>
        <p:spPr>
          <a:xfrm>
            <a:off x="3634097" y="3326079"/>
            <a:ext cx="2174516" cy="1409126"/>
          </a:xfrm>
          <a:prstGeom prst="arc">
            <a:avLst>
              <a:gd name="adj1" fmla="val 11269841"/>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6" name="Arc 5">
            <a:extLst>
              <a:ext uri="{FF2B5EF4-FFF2-40B4-BE49-F238E27FC236}">
                <a16:creationId xmlns:a16="http://schemas.microsoft.com/office/drawing/2014/main" id="{A6EE3A0F-90BD-9F72-CB46-C0F926DB4703}"/>
              </a:ext>
            </a:extLst>
          </p:cNvPr>
          <p:cNvSpPr/>
          <p:nvPr/>
        </p:nvSpPr>
        <p:spPr>
          <a:xfrm>
            <a:off x="4641440" y="3326078"/>
            <a:ext cx="1153078" cy="1020507"/>
          </a:xfrm>
          <a:prstGeom prst="arc">
            <a:avLst>
              <a:gd name="adj1" fmla="val 11269841"/>
              <a:gd name="adj2" fmla="val 1908015"/>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21" name="Title 1">
            <a:extLst>
              <a:ext uri="{FF2B5EF4-FFF2-40B4-BE49-F238E27FC236}">
                <a16:creationId xmlns:a16="http://schemas.microsoft.com/office/drawing/2014/main" id="{D2A2F507-17C8-A446-AB6D-F1B080E422E0}"/>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417579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CA7F7E-F563-8B74-BAF0-9F1B2F12DB35}"/>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CB7C5E63-0EFA-2AB1-7813-DDED52F29D61}"/>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2CEFE8-C232-3AD1-F35C-0EA5401C361A}"/>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11" name="TextBox 10">
            <a:extLst>
              <a:ext uri="{FF2B5EF4-FFF2-40B4-BE49-F238E27FC236}">
                <a16:creationId xmlns:a16="http://schemas.microsoft.com/office/drawing/2014/main" id="{9680AB19-74E8-260A-A82F-1439030E4AD5}"/>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12" name="TextBox 11">
            <a:extLst>
              <a:ext uri="{FF2B5EF4-FFF2-40B4-BE49-F238E27FC236}">
                <a16:creationId xmlns:a16="http://schemas.microsoft.com/office/drawing/2014/main" id="{75EC1462-0C86-A3CC-D940-DD4FE5A8732C}"/>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 name="Right Arrow 2">
            <a:extLst>
              <a:ext uri="{FF2B5EF4-FFF2-40B4-BE49-F238E27FC236}">
                <a16:creationId xmlns:a16="http://schemas.microsoft.com/office/drawing/2014/main" id="{864A9FDF-DB0A-A9D8-CF59-378D92EFC206}"/>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3" name="TextBox 12">
            <a:extLst>
              <a:ext uri="{FF2B5EF4-FFF2-40B4-BE49-F238E27FC236}">
                <a16:creationId xmlns:a16="http://schemas.microsoft.com/office/drawing/2014/main" id="{EFB679CB-3FFB-6DCA-D6E1-E350BAC4696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6" name="TextBox 5">
            <a:extLst>
              <a:ext uri="{FF2B5EF4-FFF2-40B4-BE49-F238E27FC236}">
                <a16:creationId xmlns:a16="http://schemas.microsoft.com/office/drawing/2014/main" id="{C07A721D-C209-8638-9358-62B84D48553A}"/>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7" name="TextBox 6">
            <a:extLst>
              <a:ext uri="{FF2B5EF4-FFF2-40B4-BE49-F238E27FC236}">
                <a16:creationId xmlns:a16="http://schemas.microsoft.com/office/drawing/2014/main" id="{86A27D7A-0A71-4BA0-E9B8-B1B11F905C67}"/>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17" name="Picture 16">
            <a:extLst>
              <a:ext uri="{FF2B5EF4-FFF2-40B4-BE49-F238E27FC236}">
                <a16:creationId xmlns:a16="http://schemas.microsoft.com/office/drawing/2014/main" id="{ED15BDBD-CBCC-0BAF-23AD-D3C0EC280F65}"/>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18" name="Rectangle 17">
            <a:extLst>
              <a:ext uri="{FF2B5EF4-FFF2-40B4-BE49-F238E27FC236}">
                <a16:creationId xmlns:a16="http://schemas.microsoft.com/office/drawing/2014/main" id="{99B39540-3D2B-B5B9-ED08-7F8E5F7EC9B1}"/>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0" name="Rectangle 19">
            <a:extLst>
              <a:ext uri="{FF2B5EF4-FFF2-40B4-BE49-F238E27FC236}">
                <a16:creationId xmlns:a16="http://schemas.microsoft.com/office/drawing/2014/main" id="{BB8A5E8A-8AF7-0E4E-3839-454BEFCD2F19}"/>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1" name="Rectangle 20">
            <a:extLst>
              <a:ext uri="{FF2B5EF4-FFF2-40B4-BE49-F238E27FC236}">
                <a16:creationId xmlns:a16="http://schemas.microsoft.com/office/drawing/2014/main" id="{9254211F-2B6A-3249-73E0-6AFAA3E5921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5" name="Rectangle 24">
            <a:extLst>
              <a:ext uri="{FF2B5EF4-FFF2-40B4-BE49-F238E27FC236}">
                <a16:creationId xmlns:a16="http://schemas.microsoft.com/office/drawing/2014/main" id="{16763E0A-3AD7-4036-BE93-929906701A68}"/>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7" name="Rectangle 26">
            <a:extLst>
              <a:ext uri="{FF2B5EF4-FFF2-40B4-BE49-F238E27FC236}">
                <a16:creationId xmlns:a16="http://schemas.microsoft.com/office/drawing/2014/main" id="{92495DBC-838E-8C82-18B6-2306B2E97C4C}"/>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8" name="Rectangle 27">
            <a:extLst>
              <a:ext uri="{FF2B5EF4-FFF2-40B4-BE49-F238E27FC236}">
                <a16:creationId xmlns:a16="http://schemas.microsoft.com/office/drawing/2014/main" id="{1D43FE4F-47D8-1212-69B5-638AC61DE4A1}"/>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4" name="Content Placeholder 4">
            <a:extLst>
              <a:ext uri="{FF2B5EF4-FFF2-40B4-BE49-F238E27FC236}">
                <a16:creationId xmlns:a16="http://schemas.microsoft.com/office/drawing/2014/main" id="{70A5027F-A7E7-F1E0-2CDA-1D9E17FCE9DA}"/>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26" name="TextBox 25">
            <a:extLst>
              <a:ext uri="{FF2B5EF4-FFF2-40B4-BE49-F238E27FC236}">
                <a16:creationId xmlns:a16="http://schemas.microsoft.com/office/drawing/2014/main" id="{AC0D51F5-3CCB-3ECE-8506-50E92CF7D5D6}"/>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Tree>
    <p:extLst>
      <p:ext uri="{BB962C8B-B14F-4D97-AF65-F5344CB8AC3E}">
        <p14:creationId xmlns:p14="http://schemas.microsoft.com/office/powerpoint/2010/main" val="244004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13" grpId="0"/>
      <p:bldP spid="24" grpId="0" animBg="1"/>
      <p:bldP spid="26" grpId="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003890-673A-F7CE-4A52-94C7E368E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8D3C3-3404-3DE1-F56D-6E3E5114CDA2}"/>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BCCE942F-5761-1291-499E-2218302D2952}"/>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92A2DEFE-6F35-522C-364B-C1FEA71D7D88}"/>
              </a:ext>
            </a:extLst>
          </p:cNvPr>
          <p:cNvSpPr txBox="1"/>
          <p:nvPr/>
        </p:nvSpPr>
        <p:spPr>
          <a:xfrm>
            <a:off x="8019738" y="5126636"/>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7" name="TextBox 6">
            <a:extLst>
              <a:ext uri="{FF2B5EF4-FFF2-40B4-BE49-F238E27FC236}">
                <a16:creationId xmlns:a16="http://schemas.microsoft.com/office/drawing/2014/main" id="{C50B4309-2C85-E152-7191-5C58936EF0F2}"/>
              </a:ext>
            </a:extLst>
          </p:cNvPr>
          <p:cNvSpPr txBox="1"/>
          <p:nvPr/>
        </p:nvSpPr>
        <p:spPr>
          <a:xfrm>
            <a:off x="6846838" y="2340941"/>
            <a:ext cx="4581177" cy="34778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resist mapping new meanings to a word they have a meaning for (</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Casenheiser</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2005; Mazzocco, 1997)</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have an easier time learning homophonous mappings when the meanings are syntactically or semantically distinct (</a:t>
            </a:r>
            <a:r>
              <a:rPr lang="en-US" sz="2000" dirty="0">
                <a:solidFill>
                  <a:prstClr val="black"/>
                </a:solidFill>
                <a:latin typeface="Franklin Gothic Book" panose="020B0503020102020204"/>
              </a:rPr>
              <a:t>D</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autriche</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et al., 2018)</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p:txBody>
      </p:sp>
      <p:sp>
        <p:nvSpPr>
          <p:cNvPr id="32" name="Oval Callout 31">
            <a:extLst>
              <a:ext uri="{FF2B5EF4-FFF2-40B4-BE49-F238E27FC236}">
                <a16:creationId xmlns:a16="http://schemas.microsoft.com/office/drawing/2014/main" id="{271783A5-808E-855D-2594-1D6FD3B8EB4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85A1AB29-D90A-3F4E-44DC-16590F1D5EF0}"/>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E871BE7B-0A2D-0526-4C93-0C707A675CC0}"/>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C9982A57-7B24-2BF1-70B0-F07C47E2DBF6}"/>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E4B19A1-6DD8-1461-0711-F946F0F263B2}"/>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BD2FD2F0-E899-019E-8A38-6182338A14FC}"/>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A8F057CF-2E65-6645-1F63-0F1BE4EDE09E}"/>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32F2342-57DD-253C-6CB2-088E5D525F59}"/>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E174BAD-9EA9-5859-2FB4-08C636322681}"/>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3905081A-E5E8-BA4B-577B-198D7F588963}"/>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BC64B671-BF78-485F-AED3-4717FDBC0F36}"/>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60CCA876-AB10-753F-38B1-C2ED177D8E91}"/>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CD1BECE1-7220-4807-3D75-D4A14C6B8BDE}"/>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09898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2" grpId="0" animBg="1"/>
      <p:bldP spid="33" grpId="0" animBg="1"/>
      <p:bldP spid="34" grpId="0"/>
      <p:bldP spid="36" grpId="0"/>
      <p:bldP spid="37" grpId="0"/>
      <p:bldP spid="40" grpId="0"/>
      <p:bldP spid="43" grpId="0" animBg="1"/>
      <p:bldP spid="44" grpId="0" animBg="1"/>
      <p:bldP spid="45"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890CE5-0F95-B932-B30A-B958569CF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644C3-1935-5F6B-DF39-43CF56B074CE}"/>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381F4B2B-CD6D-54CF-8951-259FE109668C}"/>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6578BA8B-AA4F-334C-294A-047171D5825F}"/>
              </a:ext>
            </a:extLst>
          </p:cNvPr>
          <p:cNvSpPr txBox="1"/>
          <p:nvPr/>
        </p:nvSpPr>
        <p:spPr>
          <a:xfrm>
            <a:off x="8125396" y="516278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2" name="Oval Callout 31">
            <a:extLst>
              <a:ext uri="{FF2B5EF4-FFF2-40B4-BE49-F238E27FC236}">
                <a16:creationId xmlns:a16="http://schemas.microsoft.com/office/drawing/2014/main" id="{714BD0E6-F9CF-6C59-D9D2-E08A066D996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6984B69E-0166-5E54-F2E2-695DCB32D3CC}"/>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987491E9-BD9F-4012-71B9-24F814D44C17}"/>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63726C57-CC0D-DF03-1A65-AF9D135692F7}"/>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48555B8-04E5-E783-8434-5B7485FDF79D}"/>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FACE2CA5-CB48-2448-E658-25402D6A167F}"/>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1B3C2C5B-0AF9-9719-2DCF-4979D9970016}"/>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EFE71E2-4C02-7349-8FBE-7D7E9E07BAB8}"/>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15C21A4-FE3B-9BFE-FB8F-86F9000FA6FD}"/>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86777DEC-E9BF-B679-986E-C6DBD9CAE687}"/>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5AA95CB1-7F6E-CBCA-91DA-8542BDAA4727}"/>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EEFB7E26-9E6B-177A-8B36-26F4436147FD}"/>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7B447E7A-6E39-6358-8649-5BE1C9465B60}"/>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5" name="Oval Callout 4">
            <a:extLst>
              <a:ext uri="{FF2B5EF4-FFF2-40B4-BE49-F238E27FC236}">
                <a16:creationId xmlns:a16="http://schemas.microsoft.com/office/drawing/2014/main" id="{F44D7406-67E5-441D-FC42-2820B1FEE1A7}"/>
              </a:ext>
            </a:extLst>
          </p:cNvPr>
          <p:cNvSpPr/>
          <p:nvPr/>
        </p:nvSpPr>
        <p:spPr>
          <a:xfrm>
            <a:off x="7543455" y="4967610"/>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Cloud Callout 7">
            <a:extLst>
              <a:ext uri="{FF2B5EF4-FFF2-40B4-BE49-F238E27FC236}">
                <a16:creationId xmlns:a16="http://schemas.microsoft.com/office/drawing/2014/main" id="{830B0D28-A91F-443D-59F9-2C67321C04DA}"/>
              </a:ext>
            </a:extLst>
          </p:cNvPr>
          <p:cNvSpPr/>
          <p:nvPr/>
        </p:nvSpPr>
        <p:spPr>
          <a:xfrm>
            <a:off x="7265859" y="2598370"/>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 name="TextBox 8">
            <a:extLst>
              <a:ext uri="{FF2B5EF4-FFF2-40B4-BE49-F238E27FC236}">
                <a16:creationId xmlns:a16="http://schemas.microsoft.com/office/drawing/2014/main" id="{5A0DFBBE-07AB-3A92-5267-C87F5B37DC5E}"/>
              </a:ext>
            </a:extLst>
          </p:cNvPr>
          <p:cNvSpPr txBox="1"/>
          <p:nvPr/>
        </p:nvSpPr>
        <p:spPr>
          <a:xfrm>
            <a:off x="7594698" y="3234058"/>
            <a:ext cx="1144865" cy="338554"/>
          </a:xfrm>
          <a:prstGeom prst="rect">
            <a:avLst/>
          </a:prstGeom>
          <a:noFill/>
        </p:spPr>
        <p:txBody>
          <a:bodyPr wrap="none" rtlCol="0">
            <a:spAutoFit/>
          </a:bodyPr>
          <a:lstStyle/>
          <a:p>
            <a:r>
              <a:rPr lang="en-US" sz="1600" dirty="0"/>
              <a:t>REJECTION</a:t>
            </a:r>
          </a:p>
        </p:txBody>
      </p:sp>
      <p:sp>
        <p:nvSpPr>
          <p:cNvPr id="10" name="TextBox 9">
            <a:extLst>
              <a:ext uri="{FF2B5EF4-FFF2-40B4-BE49-F238E27FC236}">
                <a16:creationId xmlns:a16="http://schemas.microsoft.com/office/drawing/2014/main" id="{DCF9F0B9-95A2-6F7A-2929-C41D06A7DBE5}"/>
              </a:ext>
            </a:extLst>
          </p:cNvPr>
          <p:cNvSpPr txBox="1"/>
          <p:nvPr/>
        </p:nvSpPr>
        <p:spPr>
          <a:xfrm>
            <a:off x="8293250" y="353708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622A742B-9A22-DA0E-0089-640FA8B9CB02}"/>
              </a:ext>
            </a:extLst>
          </p:cNvPr>
          <p:cNvSpPr txBox="1"/>
          <p:nvPr/>
        </p:nvSpPr>
        <p:spPr>
          <a:xfrm>
            <a:off x="9177564" y="3104751"/>
            <a:ext cx="1544718" cy="338554"/>
          </a:xfrm>
          <a:prstGeom prst="rect">
            <a:avLst/>
          </a:prstGeom>
          <a:noFill/>
        </p:spPr>
        <p:txBody>
          <a:bodyPr wrap="none" rtlCol="0">
            <a:spAutoFit/>
          </a:bodyPr>
          <a:lstStyle/>
          <a:p>
            <a:r>
              <a:rPr lang="en-US" sz="1600" dirty="0"/>
              <a:t>NONEXISTENCE</a:t>
            </a:r>
          </a:p>
        </p:txBody>
      </p:sp>
      <p:sp>
        <p:nvSpPr>
          <p:cNvPr id="12" name="TextBox 11">
            <a:extLst>
              <a:ext uri="{FF2B5EF4-FFF2-40B4-BE49-F238E27FC236}">
                <a16:creationId xmlns:a16="http://schemas.microsoft.com/office/drawing/2014/main" id="{8CBE5D48-65FD-703B-55B3-7EF615F7ECA5}"/>
              </a:ext>
            </a:extLst>
          </p:cNvPr>
          <p:cNvSpPr txBox="1"/>
          <p:nvPr/>
        </p:nvSpPr>
        <p:spPr>
          <a:xfrm>
            <a:off x="10120786" y="3557288"/>
            <a:ext cx="1077474" cy="338554"/>
          </a:xfrm>
          <a:prstGeom prst="rect">
            <a:avLst/>
          </a:prstGeom>
          <a:noFill/>
        </p:spPr>
        <p:txBody>
          <a:bodyPr wrap="none" rtlCol="0">
            <a:spAutoFit/>
          </a:bodyPr>
          <a:lstStyle/>
          <a:p>
            <a:r>
              <a:rPr lang="en-US" sz="1600" dirty="0"/>
              <a:t>NEGATION</a:t>
            </a:r>
          </a:p>
        </p:txBody>
      </p:sp>
      <p:sp>
        <p:nvSpPr>
          <p:cNvPr id="13" name="TextBox 12">
            <a:extLst>
              <a:ext uri="{FF2B5EF4-FFF2-40B4-BE49-F238E27FC236}">
                <a16:creationId xmlns:a16="http://schemas.microsoft.com/office/drawing/2014/main" id="{D8B43EDF-5EE6-08F4-0054-7CE2ACD179B9}"/>
              </a:ext>
            </a:extLst>
          </p:cNvPr>
          <p:cNvSpPr txBox="1"/>
          <p:nvPr/>
        </p:nvSpPr>
        <p:spPr>
          <a:xfrm>
            <a:off x="7817831" y="5270639"/>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14" name="Straight Arrow Connector 13">
            <a:extLst>
              <a:ext uri="{FF2B5EF4-FFF2-40B4-BE49-F238E27FC236}">
                <a16:creationId xmlns:a16="http://schemas.microsoft.com/office/drawing/2014/main" id="{0DFD184C-133D-2876-7D83-C5EEE31D3CF0}"/>
              </a:ext>
            </a:extLst>
          </p:cNvPr>
          <p:cNvCxnSpPr>
            <a:cxnSpLocks/>
          </p:cNvCxnSpPr>
          <p:nvPr/>
        </p:nvCxnSpPr>
        <p:spPr>
          <a:xfrm>
            <a:off x="8137300" y="3605770"/>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BADB42-B71F-EA05-5597-51A78B9BF1CD}"/>
              </a:ext>
            </a:extLst>
          </p:cNvPr>
          <p:cNvCxnSpPr>
            <a:cxnSpLocks/>
          </p:cNvCxnSpPr>
          <p:nvPr/>
        </p:nvCxnSpPr>
        <p:spPr>
          <a:xfrm>
            <a:off x="8955707" y="3817332"/>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68458D9-1278-4A83-724B-164FF9E3C310}"/>
              </a:ext>
            </a:extLst>
          </p:cNvPr>
          <p:cNvCxnSpPr>
            <a:cxnSpLocks/>
          </p:cNvCxnSpPr>
          <p:nvPr/>
        </p:nvCxnSpPr>
        <p:spPr>
          <a:xfrm>
            <a:off x="9939843" y="3449727"/>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3AD5A26-CC65-F168-40E2-8B625128D71A}"/>
              </a:ext>
            </a:extLst>
          </p:cNvPr>
          <p:cNvCxnSpPr>
            <a:cxnSpLocks/>
          </p:cNvCxnSpPr>
          <p:nvPr/>
        </p:nvCxnSpPr>
        <p:spPr>
          <a:xfrm>
            <a:off x="10689323" y="3875641"/>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387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BF9225-5855-2D3B-9ED0-BC1B703B3FE0}"/>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145681B1-8C97-0CB0-6613-BAF3AE98ACF5}"/>
              </a:ext>
            </a:extLst>
          </p:cNvPr>
          <p:cNvSpPr/>
          <p:nvPr/>
        </p:nvSpPr>
        <p:spPr>
          <a:xfrm rot="16200000">
            <a:off x="8547298"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1C0CCEFB-F79A-59D7-FE85-5E54E69A8512}"/>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C664D099-0719-A547-E207-5AA3C516ACD3}"/>
              </a:ext>
            </a:extLst>
          </p:cNvPr>
          <p:cNvSpPr txBox="1">
            <a:spLocks/>
          </p:cNvSpPr>
          <p:nvPr/>
        </p:nvSpPr>
        <p:spPr>
          <a:xfrm>
            <a:off x="6688755" y="5666235"/>
            <a:ext cx="5052898" cy="923331"/>
          </a:xfrm>
          <a:prstGeom prst="rect">
            <a:avLst/>
          </a:prstGeom>
          <a:solidFill>
            <a:schemeClr val="accent2">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Learning the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NEGATION </a:t>
            </a:r>
            <a:r>
              <a:rPr kumimoji="0" lang="en-US" i="0" u="none" strike="noStrike" kern="1200" cap="none" spc="0" normalizeH="0" baseline="0" noProof="0" dirty="0">
                <a:ln>
                  <a:noFill/>
                </a:ln>
                <a:solidFill>
                  <a:srgbClr val="0E2841"/>
                </a:solidFill>
                <a:effectLst/>
                <a:uLnTx/>
                <a:uFillTx/>
                <a:latin typeface="Franklin Gothic Book" panose="020B0503020102020204"/>
                <a:ea typeface="+mn-ea"/>
                <a:cs typeface="+mn-cs"/>
              </a:rPr>
              <a:t>meaning of </a:t>
            </a:r>
            <a:r>
              <a:rPr kumimoji="0" lang="en-US" b="1" i="0" u="none" strike="noStrike" kern="1200" cap="none" spc="0" normalizeH="0" baseline="0" noProof="0" dirty="0">
                <a:ln>
                  <a:noFill/>
                </a:ln>
                <a:solidFill>
                  <a:srgbClr val="0E2841"/>
                </a:solidFill>
                <a:effectLst/>
                <a:uLnTx/>
                <a:uFillTx/>
                <a:latin typeface="Franklin Gothic Book" panose="020B0503020102020204"/>
                <a:ea typeface="+mn-ea"/>
                <a:cs typeface="+mn-cs"/>
              </a:rPr>
              <a:t>words</a:t>
            </a:r>
            <a:r>
              <a:rPr kumimoji="0" lang="en-US" b="0" i="0" u="none" strike="noStrike" kern="1200" cap="none" spc="0" normalizeH="0" baseline="0" noProof="0" dirty="0">
                <a:ln>
                  <a:noFill/>
                </a:ln>
                <a:solidFill>
                  <a:srgbClr val="0E2841"/>
                </a:solidFill>
                <a:effectLst/>
                <a:uLnTx/>
                <a:uFillTx/>
                <a:latin typeface="Franklin Gothic Book" panose="020B0503020102020204"/>
                <a:ea typeface="+mn-ea"/>
                <a:cs typeface="+mn-cs"/>
              </a:rPr>
              <a:t> is</a:t>
            </a:r>
            <a:r>
              <a:rPr kumimoji="0" lang="en-US" b="0" i="0" u="none" strike="noStrike" kern="1200" cap="none" spc="0" normalizeH="0" baseline="0" noProof="0" dirty="0">
                <a:ln>
                  <a:noFill/>
                </a:ln>
                <a:solidFill>
                  <a:srgbClr val="FF0000"/>
                </a:solidFill>
                <a:effectLst/>
                <a:uLnTx/>
                <a:uFillTx/>
                <a:latin typeface="Franklin Gothic Book" panose="020B0503020102020204"/>
                <a:ea typeface="+mn-ea"/>
                <a:cs typeface="+mn-cs"/>
              </a:rPr>
              <a:t> </a:t>
            </a:r>
          </a:p>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FF0000"/>
                </a:solidFill>
                <a:effectLst/>
                <a:uLnTx/>
                <a:uFillTx/>
                <a:latin typeface="Franklin Gothic Book" panose="020B0503020102020204"/>
                <a:ea typeface="+mn-ea"/>
                <a:cs typeface="+mn-cs"/>
              </a:rPr>
              <a:t>inhibited </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by mappings to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REJECTION</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NONEXISTENCE</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and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PROHIBITION</a:t>
            </a:r>
          </a:p>
        </p:txBody>
      </p:sp>
      <p:sp>
        <p:nvSpPr>
          <p:cNvPr id="8" name="TextBox 7">
            <a:extLst>
              <a:ext uri="{FF2B5EF4-FFF2-40B4-BE49-F238E27FC236}">
                <a16:creationId xmlns:a16="http://schemas.microsoft.com/office/drawing/2014/main" id="{D74972DF-0619-397B-E876-BDEAB913DEF5}"/>
              </a:ext>
            </a:extLst>
          </p:cNvPr>
          <p:cNvSpPr txBox="1"/>
          <p:nvPr/>
        </p:nvSpPr>
        <p:spPr>
          <a:xfrm>
            <a:off x="8052097" y="5296903"/>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cxnSp>
        <p:nvCxnSpPr>
          <p:cNvPr id="26" name="Straight Arrow Connector 25">
            <a:extLst>
              <a:ext uri="{FF2B5EF4-FFF2-40B4-BE49-F238E27FC236}">
                <a16:creationId xmlns:a16="http://schemas.microsoft.com/office/drawing/2014/main" id="{F9EFF1B7-94EA-BB7C-C10F-5E5FC508C14F}"/>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6418505-A222-E6BC-44E9-0E6B004DD2CC}"/>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D7BBB1E3-726C-5ED8-F67A-5F3614E9AE67}"/>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9982578F-7C30-5A8A-78C3-D30ECEE0E252}"/>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5BCD0290-E7AE-1C78-73AC-E3D491ED5E64}"/>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01096309-DB1D-D6AD-D07E-3D5E80874A0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3B9E6948-25B5-024A-FDAE-2ACC0717A5EE}"/>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0575B9CC-DA93-FE40-2CF2-5284EA1DA464}"/>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28D4FB65-E858-B7CD-838B-6A9BA7C85A39}"/>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2A69E6E3-6F11-AF47-8625-6A9F87A18B0A}"/>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A8F0B647-1226-DE1D-0DE7-F0E4CF89808C}"/>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79C348D0-3CBD-A698-46FA-9F219B41CF12}"/>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A0BE1647-76C7-F542-F652-E31C3E898E2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56F5A4A6-7A13-52B1-F617-815AD56CFEC8}"/>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1F0F3FF9-4544-0945-5F83-5D6C5BB80256}"/>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9B4A3F3C-CC6E-B8E4-CD84-F35671C165EB}"/>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44" name="TextBox 43">
            <a:extLst>
              <a:ext uri="{FF2B5EF4-FFF2-40B4-BE49-F238E27FC236}">
                <a16:creationId xmlns:a16="http://schemas.microsoft.com/office/drawing/2014/main" id="{DF53CFAB-098F-A9CB-EBD2-24BA149B9611}"/>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
        <p:nvSpPr>
          <p:cNvPr id="5" name="Title 4">
            <a:extLst>
              <a:ext uri="{FF2B5EF4-FFF2-40B4-BE49-F238E27FC236}">
                <a16:creationId xmlns:a16="http://schemas.microsoft.com/office/drawing/2014/main" id="{ECF96A69-727D-AC06-8231-75350BF63F0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31531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5" grpId="0" animBg="1"/>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237877-D3F9-5ECE-0D66-7E51243EDADD}"/>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64AB9ED4-104F-7057-D82B-DD3F1D7ABC65}"/>
              </a:ext>
            </a:extLst>
          </p:cNvPr>
          <p:cNvSpPr/>
          <p:nvPr/>
        </p:nvSpPr>
        <p:spPr>
          <a:xfrm rot="16200000">
            <a:off x="8581581"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B70FA205-336E-E5F9-A817-D9A51A17C0CC}"/>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E3B4BC98-480E-3DBB-345B-947FBADA7745}"/>
              </a:ext>
            </a:extLst>
          </p:cNvPr>
          <p:cNvSpPr txBox="1">
            <a:spLocks/>
          </p:cNvSpPr>
          <p:nvPr/>
        </p:nvSpPr>
        <p:spPr>
          <a:xfrm>
            <a:off x="7322106" y="5613985"/>
            <a:ext cx="3904639" cy="646330"/>
          </a:xfrm>
          <a:prstGeom prst="rect">
            <a:avLst/>
          </a:prstGeom>
          <a:solidFill>
            <a:schemeClr val="accent2">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p>
        </p:txBody>
      </p:sp>
      <p:sp>
        <p:nvSpPr>
          <p:cNvPr id="8" name="TextBox 7">
            <a:extLst>
              <a:ext uri="{FF2B5EF4-FFF2-40B4-BE49-F238E27FC236}">
                <a16:creationId xmlns:a16="http://schemas.microsoft.com/office/drawing/2014/main" id="{69499B02-EC4B-4296-6D5C-25CC1F71B5A7}"/>
              </a:ext>
            </a:extLst>
          </p:cNvPr>
          <p:cNvSpPr txBox="1"/>
          <p:nvPr/>
        </p:nvSpPr>
        <p:spPr>
          <a:xfrm>
            <a:off x="7856410" y="5752484"/>
            <a:ext cx="2912913" cy="369332"/>
          </a:xfrm>
          <a:prstGeom prst="rect">
            <a:avLst/>
          </a:prstGeom>
          <a:noFill/>
        </p:spPr>
        <p:txBody>
          <a:bodyPr wrap="none" rtlCol="0">
            <a:spAutoFit/>
          </a:bodyPr>
          <a:lstStyle/>
          <a:p>
            <a:r>
              <a:rPr lang="en-US" dirty="0">
                <a:solidFill>
                  <a:schemeClr val="accent2">
                    <a:lumMod val="75000"/>
                  </a:schemeClr>
                </a:solidFill>
              </a:rPr>
              <a:t>LANGUAGE LEARNING LIMIT</a:t>
            </a:r>
          </a:p>
        </p:txBody>
      </p:sp>
      <p:cxnSp>
        <p:nvCxnSpPr>
          <p:cNvPr id="26" name="Straight Arrow Connector 25">
            <a:extLst>
              <a:ext uri="{FF2B5EF4-FFF2-40B4-BE49-F238E27FC236}">
                <a16:creationId xmlns:a16="http://schemas.microsoft.com/office/drawing/2014/main" id="{17D6805C-3D3A-8881-B1AD-FB8D96152BC4}"/>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AC8CD86-6744-85F4-F7E0-4DE82BAC0CDB}"/>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5122EEC9-5CC9-FCB0-0B88-1E07AAE382AD}"/>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3EA8649A-99ED-79A7-5E51-997E06B861AF}"/>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6291B90A-44CA-A45F-350B-74A074196C5C}"/>
              </a:ext>
            </a:extLst>
          </p:cNvPr>
          <p:cNvSpPr/>
          <p:nvPr/>
        </p:nvSpPr>
        <p:spPr>
          <a:xfrm rot="16200000">
            <a:off x="289738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51C4002D-4547-55E9-3CB9-F386F218513B}"/>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1329AF59-6A66-6A60-869A-9908D78BA03B}"/>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3F965772-61FD-B8B3-54FD-C703B04D2DA8}"/>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3B00BC46-E5C4-06DB-C474-350256C65022}"/>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54E3D0F5-789F-E9A1-2820-D955578D492E}"/>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0DCA582B-06F9-A77E-D58B-0BB53A3386F7}"/>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5A344E11-F130-C097-413C-F0BFF515D0F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115FF2C4-857C-568F-DF50-FAD26C1750B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F999DBF0-4406-A826-820C-9CF0787C1B8F}"/>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B23EDAA5-7C69-3E2B-9E8C-BBCB8A6569C0}"/>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43467297-F2C5-2575-EF34-C18EBF0F2BD1}"/>
              </a:ext>
            </a:extLst>
          </p:cNvPr>
          <p:cNvSpPr txBox="1">
            <a:spLocks/>
          </p:cNvSpPr>
          <p:nvPr/>
        </p:nvSpPr>
        <p:spPr>
          <a:xfrm>
            <a:off x="1637907" y="5613985"/>
            <a:ext cx="3904639" cy="646330"/>
          </a:xfrm>
          <a:prstGeom prst="rect">
            <a:avLst/>
          </a:prstGeom>
          <a:solidFill>
            <a:schemeClr val="accent1">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endParaRPr lang="en-US" dirty="0"/>
          </a:p>
        </p:txBody>
      </p:sp>
      <p:sp>
        <p:nvSpPr>
          <p:cNvPr id="44" name="TextBox 43">
            <a:extLst>
              <a:ext uri="{FF2B5EF4-FFF2-40B4-BE49-F238E27FC236}">
                <a16:creationId xmlns:a16="http://schemas.microsoft.com/office/drawing/2014/main" id="{F2139726-5451-018D-897D-8DC4E755ABF2}"/>
              </a:ext>
            </a:extLst>
          </p:cNvPr>
          <p:cNvSpPr txBox="1"/>
          <p:nvPr/>
        </p:nvSpPr>
        <p:spPr>
          <a:xfrm>
            <a:off x="2214118" y="5752484"/>
            <a:ext cx="2778325" cy="369332"/>
          </a:xfrm>
          <a:prstGeom prst="rect">
            <a:avLst/>
          </a:prstGeom>
          <a:noFill/>
        </p:spPr>
        <p:txBody>
          <a:bodyPr wrap="none" rtlCol="0">
            <a:spAutoFit/>
          </a:bodyPr>
          <a:lstStyle/>
          <a:p>
            <a:r>
              <a:rPr lang="en-US" dirty="0">
                <a:solidFill>
                  <a:srgbClr val="3799C8"/>
                </a:solidFill>
              </a:rPr>
              <a:t>CONCEPT LEARNING LIMIT</a:t>
            </a:r>
          </a:p>
        </p:txBody>
      </p:sp>
      <p:sp>
        <p:nvSpPr>
          <p:cNvPr id="45" name="Rectangle 44">
            <a:extLst>
              <a:ext uri="{FF2B5EF4-FFF2-40B4-BE49-F238E27FC236}">
                <a16:creationId xmlns:a16="http://schemas.microsoft.com/office/drawing/2014/main" id="{7515DBD6-9D5A-155E-2479-B8430EFDAA99}"/>
              </a:ext>
            </a:extLst>
          </p:cNvPr>
          <p:cNvSpPr/>
          <p:nvPr/>
        </p:nvSpPr>
        <p:spPr>
          <a:xfrm>
            <a:off x="8617973" y="1089711"/>
            <a:ext cx="984300" cy="1762649"/>
          </a:xfrm>
          <a:prstGeom prst="rect">
            <a:avLst/>
          </a:prstGeom>
          <a:solidFill>
            <a:schemeClr val="bg2">
              <a:lumMod val="75000"/>
              <a:alpha val="5621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 name="Title 2">
            <a:extLst>
              <a:ext uri="{FF2B5EF4-FFF2-40B4-BE49-F238E27FC236}">
                <a16:creationId xmlns:a16="http://schemas.microsoft.com/office/drawing/2014/main" id="{81E43E23-B7B5-0DB5-CF3A-81CC11443C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2429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8722</TotalTime>
  <Words>3052</Words>
  <Application>Microsoft Macintosh PowerPoint</Application>
  <PresentationFormat>Widescreen</PresentationFormat>
  <Paragraphs>384</Paragraphs>
  <Slides>59</Slides>
  <Notes>18</Notes>
  <HiddenSlides>26</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59</vt:i4>
      </vt:variant>
    </vt:vector>
  </HeadingPairs>
  <TitlesOfParts>
    <vt:vector size="67" baseType="lpstr">
      <vt:lpstr>Aptos</vt:lpstr>
      <vt:lpstr>Aptos Display</vt:lpstr>
      <vt:lpstr>Arial</vt:lpstr>
      <vt:lpstr>Franklin Gothic Book</vt:lpstr>
      <vt:lpstr>Times New Roman</vt:lpstr>
      <vt:lpstr>Wingdings</vt:lpstr>
      <vt:lpstr>Office Theme</vt:lpstr>
      <vt:lpstr>1_Office Theme</vt:lpstr>
      <vt:lpstr>Using LLMs to semantically categorize children’s productions of negation</vt:lpstr>
      <vt:lpstr>Background: Cross-linguistic corpus analysis</vt:lpstr>
      <vt:lpstr>PowerPoint Presentation</vt:lpstr>
      <vt:lpstr>PowerPoint Presentation</vt:lpstr>
      <vt:lpstr>PowerPoint Presentation</vt:lpstr>
      <vt:lpstr>Coding pipeline</vt:lpstr>
      <vt:lpstr>PowerPoint Presentation</vt:lpstr>
      <vt:lpstr>Inter-coder reliability – theoretical ceiling</vt:lpstr>
      <vt:lpstr>Inter-coder reliability – Denial agreement</vt:lpstr>
      <vt:lpstr>Coding pipeline</vt:lpstr>
      <vt:lpstr>PowerPoint Presentation</vt:lpstr>
      <vt:lpstr>PowerPoint Presentation</vt:lpstr>
      <vt:lpstr>Coding pipeline</vt:lpstr>
      <vt:lpstr>Split criteria</vt:lpstr>
      <vt:lpstr>PowerPoint Presentation</vt:lpstr>
      <vt:lpstr>Coding pipeline</vt:lpstr>
      <vt:lpstr>Prompt v3</vt:lpstr>
      <vt:lpstr>Prompt v3</vt:lpstr>
      <vt:lpstr>Prompt v3</vt:lpstr>
      <vt:lpstr>Prompt v3</vt:lpstr>
      <vt:lpstr>Prompt v3</vt:lpstr>
      <vt:lpstr>Examples v3</vt:lpstr>
      <vt:lpstr>Examples v3</vt:lpstr>
      <vt:lpstr>Examples v3</vt:lpstr>
      <vt:lpstr>Example output</vt:lpstr>
      <vt:lpstr>Changes to get to v4</vt:lpstr>
      <vt:lpstr>Changes to get to v4</vt:lpstr>
      <vt:lpstr>LLM–human agreement across versions : English</vt:lpstr>
      <vt:lpstr>LLM–human agreement across versions : English; denial vs. not denial</vt:lpstr>
      <vt:lpstr>PowerPoint Presentation</vt:lpstr>
      <vt:lpstr>PowerPoint Presentation</vt:lpstr>
      <vt:lpstr>PowerPoint Presentation</vt:lpstr>
      <vt:lpstr>PowerPoint Presentation</vt:lpstr>
      <vt:lpstr>Questions</vt:lpstr>
      <vt:lpstr>Prompt v1</vt:lpstr>
      <vt:lpstr>Prompt v1</vt:lpstr>
      <vt:lpstr>Prompt v1</vt:lpstr>
      <vt:lpstr>Examples v1</vt:lpstr>
      <vt:lpstr>LLM–human agreement across versions</vt:lpstr>
      <vt:lpstr>What changed: v1 → v2</vt:lpstr>
      <vt:lpstr>Prompt v2</vt:lpstr>
      <vt:lpstr>Prompt v2</vt:lpstr>
      <vt:lpstr>Prompt v2</vt:lpstr>
      <vt:lpstr>Prompt v2</vt:lpstr>
      <vt:lpstr>Examples v2</vt:lpstr>
      <vt:lpstr>Examples v2</vt:lpstr>
      <vt:lpstr>LLM–human agreement across versions</vt:lpstr>
      <vt:lpstr>What changed: v2 → v3</vt:lpstr>
      <vt:lpstr>Origins of logical thought:  Two opposing views</vt:lpstr>
      <vt:lpstr>Logical negation emerges late</vt:lpstr>
      <vt:lpstr>Specific functions may imply specific meanings</vt:lpstr>
      <vt:lpstr>What makes negation hard?</vt:lpstr>
      <vt:lpstr>PowerPoint Presentation</vt:lpstr>
      <vt:lpstr>PowerPoint Presentation</vt:lpstr>
      <vt:lpstr>PowerPoint Presentation</vt:lpstr>
      <vt:lpstr>Clustered meanings could inhibit mapping NEGATION to language</vt:lpstr>
      <vt:lpstr>Clustered meanings could inhibit mapping NEGATION to language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McDermott-Hinman, Annika</dc:creator>
  <cp:lastModifiedBy>McDermott-Hinman, Annika</cp:lastModifiedBy>
  <cp:revision>21</cp:revision>
  <dcterms:created xsi:type="dcterms:W3CDTF">2026-06-23T20:25:02Z</dcterms:created>
  <dcterms:modified xsi:type="dcterms:W3CDTF">2026-07-07T16:05:42Z</dcterms:modified>
</cp:coreProperties>
</file>